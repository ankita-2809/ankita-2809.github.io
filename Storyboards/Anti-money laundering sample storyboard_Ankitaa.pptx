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handoutMasterIdLst>
    <p:handoutMasterId r:id="rId35"/>
  </p:handoutMasterIdLst>
  <p:sldIdLst>
    <p:sldId id="261" r:id="rId2"/>
    <p:sldId id="262" r:id="rId3"/>
    <p:sldId id="265" r:id="rId4"/>
    <p:sldId id="384" r:id="rId5"/>
    <p:sldId id="408" r:id="rId6"/>
    <p:sldId id="354" r:id="rId7"/>
    <p:sldId id="477" r:id="rId8"/>
    <p:sldId id="478" r:id="rId9"/>
    <p:sldId id="479" r:id="rId10"/>
    <p:sldId id="480" r:id="rId11"/>
    <p:sldId id="481" r:id="rId12"/>
    <p:sldId id="482" r:id="rId13"/>
    <p:sldId id="483" r:id="rId14"/>
    <p:sldId id="500" r:id="rId15"/>
    <p:sldId id="366" r:id="rId16"/>
    <p:sldId id="484" r:id="rId17"/>
    <p:sldId id="485" r:id="rId18"/>
    <p:sldId id="486" r:id="rId19"/>
    <p:sldId id="487" r:id="rId20"/>
    <p:sldId id="488" r:id="rId21"/>
    <p:sldId id="489" r:id="rId22"/>
    <p:sldId id="490" r:id="rId23"/>
    <p:sldId id="491" r:id="rId24"/>
    <p:sldId id="492" r:id="rId25"/>
    <p:sldId id="493" r:id="rId26"/>
    <p:sldId id="494" r:id="rId27"/>
    <p:sldId id="495" r:id="rId28"/>
    <p:sldId id="501" r:id="rId29"/>
    <p:sldId id="503" r:id="rId30"/>
    <p:sldId id="505" r:id="rId31"/>
    <p:sldId id="504" r:id="rId32"/>
    <p:sldId id="49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CEF7A56-C794-4EC1-3501-476657C66BF8}" name="Ankita Mangtani" initials="AM" userId="S::ankita.mangtani@harbingergroup.com::0c08bd8d-e713-4871-8faa-7e2c4a256d39" providerId="AD"/>
  <p188:author id="{3A67846D-1D88-3C78-476B-F66D4563F464}" name="Ankita Mangtani" initials="AM" userId="S::Ankita.Mangtani@harbingergroup.com::0c08bd8d-e713-4871-8faa-7e2c4a256d39" providerId="AD"/>
  <p188:author id="{7B554D89-E371-7283-EA94-5469729EC545}" name="Taruna Gandhi" initials="TG" userId="S::taruna.gandhi@harbingergroup.com::a2c68c45-1789-4560-96e0-10864172b33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F3EE"/>
    <a:srgbClr val="DC2626"/>
    <a:srgbClr val="2563EB"/>
    <a:srgbClr val="16A34A"/>
    <a:srgbClr val="DDEBE7"/>
    <a:srgbClr val="ECF0F3"/>
    <a:srgbClr val="FFFFFF"/>
    <a:srgbClr val="4BC9F1"/>
    <a:srgbClr val="445FEC"/>
    <a:srgbClr val="3F13A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1CC36-5AD0-0FEB-C8B3-0FF7E30AB4B8}" v="606" dt="2024-09-20T10:06:01.810"/>
    <p1510:client id="{D384D3F3-19B0-C35E-AEF1-CB87B554B8D7}" v="135" dt="2024-09-20T10:07:18.3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1652" autoAdjust="0"/>
  </p:normalViewPr>
  <p:slideViewPr>
    <p:cSldViewPr snapToGrid="0">
      <p:cViewPr varScale="1">
        <p:scale>
          <a:sx n="45" d="100"/>
          <a:sy n="45" d="100"/>
        </p:scale>
        <p:origin x="1472" y="36"/>
      </p:cViewPr>
      <p:guideLst/>
    </p:cSldViewPr>
  </p:slideViewPr>
  <p:notesTextViewPr>
    <p:cViewPr>
      <p:scale>
        <a:sx n="1" d="1"/>
        <a:sy n="1" d="1"/>
      </p:scale>
      <p:origin x="0" y="0"/>
    </p:cViewPr>
  </p:notesTextViewPr>
  <p:notesViewPr>
    <p:cSldViewPr snapToGrid="0">
      <p:cViewPr varScale="1">
        <p:scale>
          <a:sx n="63" d="100"/>
          <a:sy n="63" d="100"/>
        </p:scale>
        <p:origin x="2352" y="7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1B7A365-4496-0BCA-E59E-550D95042D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679D5E4E-BEB0-058B-24BF-8558FF9B253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2E754B-EEB8-4DC2-8AE6-81D4399392F0}" type="datetimeFigureOut">
              <a:rPr lang="en-IN" smtClean="0"/>
              <a:t>30-09-2025</a:t>
            </a:fld>
            <a:endParaRPr lang="en-IN"/>
          </a:p>
        </p:txBody>
      </p:sp>
      <p:sp>
        <p:nvSpPr>
          <p:cNvPr id="4" name="Footer Placeholder 3">
            <a:extLst>
              <a:ext uri="{FF2B5EF4-FFF2-40B4-BE49-F238E27FC236}">
                <a16:creationId xmlns:a16="http://schemas.microsoft.com/office/drawing/2014/main" id="{ECA1082D-B76C-803E-2A27-101206A2556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604A42D0-3579-FE5B-3AE5-C5192D116D8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1BA984B-755F-47EB-B232-8C92576E9656}" type="slidenum">
              <a:rPr lang="en-IN" smtClean="0"/>
              <a:t>‹#›</a:t>
            </a:fld>
            <a:endParaRPr lang="en-IN"/>
          </a:p>
        </p:txBody>
      </p:sp>
    </p:spTree>
    <p:extLst>
      <p:ext uri="{BB962C8B-B14F-4D97-AF65-F5344CB8AC3E}">
        <p14:creationId xmlns:p14="http://schemas.microsoft.com/office/powerpoint/2010/main" val="28059024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189AF1-5591-4350-ACA9-6674795616F3}" type="datetimeFigureOut">
              <a:rPr lang="en-US" smtClean="0"/>
              <a:t>9/30/2025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343387-4FD4-4B31-B095-AB04F9B0EB4B}" type="slidenum">
              <a:rPr lang="en-US" smtClean="0"/>
              <a:t>‹#›</a:t>
            </a:fld>
            <a:endParaRPr lang="en-US"/>
          </a:p>
        </p:txBody>
      </p:sp>
    </p:spTree>
    <p:extLst>
      <p:ext uri="{BB962C8B-B14F-4D97-AF65-F5344CB8AC3E}">
        <p14:creationId xmlns:p14="http://schemas.microsoft.com/office/powerpoint/2010/main" val="30992364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G"/>
          </a:p>
        </p:txBody>
      </p:sp>
      <p:sp>
        <p:nvSpPr>
          <p:cNvPr id="3" name="Notes Placeholder 2"/>
          <p:cNvSpPr>
            <a:spLocks noGrp="1"/>
          </p:cNvSpPr>
          <p:nvPr>
            <p:ph type="body" idx="1"/>
          </p:nvPr>
        </p:nvSpPr>
        <p:spPr/>
        <p:txBody>
          <a:bodyPr/>
          <a:lstStyle/>
          <a:p>
            <a:r>
              <a:rPr lang="en-IN">
                <a:solidFill>
                  <a:srgbClr val="214363"/>
                </a:solidFill>
              </a:rPr>
              <a:t>NA</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1E557E-5515-4674-B7CA-4465A7A70215}"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278376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G"/>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solidFill>
                  <a:srgbClr val="214363"/>
                </a:solidFill>
              </a:rPr>
              <a:t>NA</a:t>
            </a:r>
          </a:p>
          <a:p>
            <a:endParaRPr lang="en-IN">
              <a:solidFill>
                <a:srgbClr val="214363"/>
              </a:solidFill>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1E557E-5515-4674-B7CA-4465A7A70215}"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624198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G"/>
          </a:p>
        </p:txBody>
      </p:sp>
      <p:sp>
        <p:nvSpPr>
          <p:cNvPr id="3" name="Notes Placeholder 2"/>
          <p:cNvSpPr>
            <a:spLocks noGrp="1"/>
          </p:cNvSpPr>
          <p:nvPr>
            <p:ph type="body" idx="1"/>
          </p:nvPr>
        </p:nvSpPr>
        <p:spPr/>
        <p:txBody>
          <a:bodyPr/>
          <a:lstStyle/>
          <a:p>
            <a:r>
              <a:rPr lang="en-US" dirty="0"/>
              <a:t>This storyboard shows only one branching scenario from inconsistent profile from core topics of AML.</a:t>
            </a:r>
            <a:endParaRPr lang="en-UG" dirty="0"/>
          </a:p>
        </p:txBody>
      </p:sp>
      <p:sp>
        <p:nvSpPr>
          <p:cNvPr id="4" name="Slide Number Placeholder 3"/>
          <p:cNvSpPr>
            <a:spLocks noGrp="1"/>
          </p:cNvSpPr>
          <p:nvPr>
            <p:ph type="sldNum" sz="quarter" idx="5"/>
          </p:nvPr>
        </p:nvSpPr>
        <p:spPr/>
        <p:txBody>
          <a:bodyPr/>
          <a:lstStyle/>
          <a:p>
            <a:fld id="{0A6B20FB-B7BD-404F-81BA-248EB51C41C4}" type="slidenum">
              <a:rPr lang="en-IN" smtClean="0"/>
              <a:t>3</a:t>
            </a:fld>
            <a:endParaRPr lang="en-IN"/>
          </a:p>
        </p:txBody>
      </p:sp>
    </p:spTree>
    <p:extLst>
      <p:ext uri="{BB962C8B-B14F-4D97-AF65-F5344CB8AC3E}">
        <p14:creationId xmlns:p14="http://schemas.microsoft.com/office/powerpoint/2010/main" val="26541385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G"/>
          </a:p>
        </p:txBody>
      </p:sp>
      <p:sp>
        <p:nvSpPr>
          <p:cNvPr id="3" name="Notes Placeholder 2"/>
          <p:cNvSpPr>
            <a:spLocks noGrp="1"/>
          </p:cNvSpPr>
          <p:nvPr>
            <p:ph type="body" idx="1"/>
          </p:nvPr>
        </p:nvSpPr>
        <p:spPr/>
        <p:txBody>
          <a:bodyPr/>
          <a:lstStyle/>
          <a:p>
            <a:pPr algn="l" rtl="0" fontAlgn="base"/>
            <a:r>
              <a:rPr lang="en-IN" sz="1200" b="1" i="0" u="none" strike="noStrike" dirty="0">
                <a:effectLst/>
                <a:latin typeface="+mn-lt"/>
                <a:cs typeface="Arial" panose="020B0604020202020204" pitchFamily="34" charset="0"/>
              </a:rPr>
              <a:t>Notes to reviewer: </a:t>
            </a:r>
            <a:r>
              <a:rPr lang="en-IN" sz="1200" b="0" i="0" u="none" strike="noStrike" dirty="0">
                <a:effectLst/>
                <a:latin typeface="+mn-lt"/>
                <a:cs typeface="Arial" panose="020B0604020202020204" pitchFamily="34" charset="0"/>
              </a:rPr>
              <a:t>The color theme and branding icons shown in this storyboard will be changed as per the branding guidelines at the development time.</a:t>
            </a:r>
          </a:p>
          <a:p>
            <a:pPr algn="l" rtl="0" fontAlgn="base"/>
            <a:endParaRPr lang="en-IN" sz="1200" b="1" i="0" u="none" strike="noStrike"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Screen Duration: </a:t>
            </a:r>
            <a:r>
              <a:rPr lang="en-IN" sz="1200" b="0" i="0" u="none" strike="noStrike" dirty="0">
                <a:effectLst/>
                <a:latin typeface="+mn-lt"/>
                <a:cs typeface="Arial" panose="020B0604020202020204" pitchFamily="34" charset="0"/>
              </a:rPr>
              <a:t>0.5 min</a:t>
            </a:r>
            <a:r>
              <a:rPr lang="en-IN" sz="1200" b="0" i="0" dirty="0">
                <a:effectLst/>
                <a:latin typeface="+mn-lt"/>
                <a:cs typeface="Arial" panose="020B0604020202020204" pitchFamily="34" charset="0"/>
              </a:rPr>
              <a:t>​</a:t>
            </a:r>
          </a:p>
          <a:p>
            <a:pPr algn="l" rtl="0" fontAlgn="base"/>
            <a:r>
              <a:rPr lang="en-IN" sz="1200" b="0" i="0" dirty="0">
                <a:effectLst/>
                <a:latin typeface="+mn-lt"/>
                <a:cs typeface="Arial" panose="020B0604020202020204" pitchFamily="34" charset="0"/>
              </a:rPr>
              <a:t>​</a:t>
            </a:r>
          </a:p>
          <a:p>
            <a:pPr fontAlgn="base"/>
            <a:r>
              <a:rPr lang="en-IN" sz="1200" b="1" i="0" u="none" strike="noStrike" dirty="0">
                <a:effectLst/>
                <a:latin typeface="+mn-lt"/>
                <a:cs typeface="Calibri"/>
              </a:rPr>
              <a:t>Screen Type: </a:t>
            </a:r>
            <a:r>
              <a:rPr lang="en-IN" dirty="0">
                <a:cs typeface="Calibri"/>
              </a:rPr>
              <a:t>Landing</a:t>
            </a:r>
            <a:r>
              <a:rPr lang="en-IN" sz="1200" b="0" i="0" u="none" strike="noStrike" dirty="0">
                <a:effectLst/>
                <a:latin typeface="+mn-lt"/>
                <a:cs typeface="Calibri"/>
              </a:rPr>
              <a:t> </a:t>
            </a:r>
            <a:r>
              <a:rPr lang="en-IN" dirty="0">
                <a:cs typeface="Calibri"/>
              </a:rPr>
              <a:t>Page with Start button </a:t>
            </a:r>
            <a:endParaRPr lang="en-IN" sz="1200" b="0" i="0" dirty="0">
              <a:effectLst/>
              <a:latin typeface="+mn-lt"/>
              <a:ea typeface="Calibri"/>
              <a:cs typeface="Calibri"/>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Arial" panose="020B0604020202020204" pitchFamily="34" charset="0"/>
              </a:rPr>
              <a:t>Development Notes:</a:t>
            </a:r>
            <a:r>
              <a:rPr lang="en-US" sz="1200" b="0" i="0" dirty="0">
                <a:effectLst/>
                <a:latin typeface="+mn-lt"/>
                <a:cs typeface="Arial" panose="020B0604020202020204" pitchFamily="34" charset="0"/>
              </a:rPr>
              <a:t>​</a:t>
            </a:r>
          </a:p>
          <a:p>
            <a:pPr algn="l" rtl="0" fontAlgn="base">
              <a:buFont typeface="Arial" panose="020B0604020202020204" pitchFamily="34" charset="0"/>
              <a:buNone/>
            </a:pPr>
            <a:r>
              <a:rPr lang="en-US" sz="1200" b="0" i="0" u="none" strike="noStrike" dirty="0">
                <a:effectLst/>
                <a:latin typeface="+mn-lt"/>
                <a:cs typeface="Arial" panose="020B0604020202020204" pitchFamily="34" charset="0"/>
              </a:rPr>
              <a:t>The course is to be developed in Storyline.</a:t>
            </a:r>
          </a:p>
          <a:p>
            <a:pPr algn="l" rtl="0" fontAlgn="base">
              <a:buFont typeface="Arial" panose="020B0604020202020204" pitchFamily="34" charset="0"/>
              <a:buNone/>
            </a:pPr>
            <a:r>
              <a:rPr lang="en-US" sz="1200" b="0" i="0" u="none" strike="noStrike" dirty="0">
                <a:effectLst/>
                <a:latin typeface="+mn-lt"/>
                <a:cs typeface="Arial" panose="020B0604020202020204" pitchFamily="34" charset="0"/>
              </a:rPr>
              <a:t>Use an intro music for this screen.</a:t>
            </a:r>
            <a:endParaRPr lang="en-IN" sz="1200" b="0" i="0" dirty="0">
              <a:effectLst/>
              <a:latin typeface="+mn-lt"/>
              <a:cs typeface="Arial" panose="020B0604020202020204" pitchFamily="34" charset="0"/>
            </a:endParaRPr>
          </a:p>
          <a:p>
            <a:pPr algn="l" rtl="0" fontAlgn="base">
              <a:buFont typeface="Arial" panose="020B0604020202020204" pitchFamily="34" charset="0"/>
              <a:buNone/>
            </a:pPr>
            <a:endParaRPr lang="en-IN" sz="1200" b="0" i="0"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Graphics Notes: </a:t>
            </a:r>
            <a:r>
              <a:rPr lang="en-US" sz="1200" b="0" i="0" dirty="0">
                <a:effectLst/>
                <a:latin typeface="+mn-lt"/>
                <a:cs typeface="Arial" panose="020B0604020202020204" pitchFamily="34" charset="0"/>
              </a:rPr>
              <a:t>​</a:t>
            </a:r>
          </a:p>
          <a:p>
            <a:r>
              <a:rPr lang="en-US" sz="1200" dirty="0">
                <a:latin typeface="+mn-lt"/>
                <a:cs typeface="Arial" panose="020B0604020202020204" pitchFamily="34" charset="0"/>
              </a:rPr>
              <a:t>NA</a:t>
            </a:r>
          </a:p>
          <a:p>
            <a:endParaRPr lang="en-US" sz="1200" dirty="0">
              <a:latin typeface="+mn-lt"/>
              <a:cs typeface="Arial" panose="020B0604020202020204" pitchFamily="34" charset="0"/>
            </a:endParaRPr>
          </a:p>
          <a:p>
            <a:r>
              <a:rPr lang="en-US" sz="1200" b="1" dirty="0">
                <a:latin typeface="+mn-lt"/>
                <a:cs typeface="Arial" panose="020B0604020202020204" pitchFamily="34" charset="0"/>
              </a:rPr>
              <a:t>Image source: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2C2C2C"/>
                </a:solidFill>
                <a:effectLst/>
                <a:latin typeface="adobe-clean"/>
                <a:cs typeface="+mn-lt"/>
              </a:rPr>
              <a:t>2423540909</a:t>
            </a:r>
            <a:endParaRPr lang="en-US" sz="1200" b="1" dirty="0">
              <a:latin typeface="+mn-lt"/>
              <a:cs typeface="Arial" panose="020B0604020202020204" pitchFamily="34" charset="0"/>
            </a:endParaRPr>
          </a:p>
        </p:txBody>
      </p:sp>
      <p:sp>
        <p:nvSpPr>
          <p:cNvPr id="4" name="Slide Number Placeholder 3"/>
          <p:cNvSpPr>
            <a:spLocks noGrp="1"/>
          </p:cNvSpPr>
          <p:nvPr>
            <p:ph type="sldNum" sz="quarter" idx="5"/>
          </p:nvPr>
        </p:nvSpPr>
        <p:spPr/>
        <p:txBody>
          <a:bodyPr/>
          <a:lstStyle/>
          <a:p>
            <a:fld id="{351E557E-5515-4674-B7CA-4465A7A70215}" type="slidenum">
              <a:rPr lang="en-IN" smtClean="0"/>
              <a:t>4</a:t>
            </a:fld>
            <a:endParaRPr lang="en-IN"/>
          </a:p>
        </p:txBody>
      </p:sp>
    </p:spTree>
    <p:extLst>
      <p:ext uri="{BB962C8B-B14F-4D97-AF65-F5344CB8AC3E}">
        <p14:creationId xmlns:p14="http://schemas.microsoft.com/office/powerpoint/2010/main" val="37321526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G"/>
          </a:p>
        </p:txBody>
      </p:sp>
      <p:sp>
        <p:nvSpPr>
          <p:cNvPr id="3" name="Notes Placeholder 2"/>
          <p:cNvSpPr>
            <a:spLocks noGrp="1"/>
          </p:cNvSpPr>
          <p:nvPr>
            <p:ph type="body" idx="1"/>
          </p:nvPr>
        </p:nvSpPr>
        <p:spPr/>
        <p:txBody>
          <a:bodyPr/>
          <a:lstStyle/>
          <a:p>
            <a:pPr algn="l" rtl="0" fontAlgn="base"/>
            <a:r>
              <a:rPr lang="en-IN" sz="1200" b="1" i="0" u="none" strike="noStrike" dirty="0">
                <a:effectLst/>
                <a:latin typeface="+mn-lt"/>
                <a:cs typeface="Calibri"/>
              </a:rPr>
              <a:t>Screen Duration: </a:t>
            </a:r>
            <a:r>
              <a:rPr lang="en-IN" sz="1200" b="0" i="0" u="none" strike="noStrike" dirty="0">
                <a:effectLst/>
                <a:latin typeface="+mn-lt"/>
                <a:cs typeface="Calibri"/>
              </a:rPr>
              <a:t>NA</a:t>
            </a:r>
            <a:endParaRPr lang="en-IN" sz="1200" b="0" i="0" dirty="0">
              <a:effectLst/>
              <a:latin typeface="+mn-lt"/>
              <a:cs typeface="Calibri"/>
            </a:endParaRPr>
          </a:p>
          <a:p>
            <a:pPr algn="l" rtl="0" fontAlgn="base"/>
            <a:r>
              <a:rPr lang="en-IN" sz="1200" b="0" i="0" dirty="0">
                <a:effectLst/>
                <a:latin typeface="+mn-lt"/>
                <a:cs typeface="Calibri"/>
              </a:rPr>
              <a:t>​</a:t>
            </a:r>
            <a:endParaRPr lang="en-IN" sz="1200" b="0" i="0" dirty="0">
              <a:effectLst/>
              <a:latin typeface="+mn-lt"/>
              <a:ea typeface="Calibri"/>
              <a:cs typeface="Calibri"/>
            </a:endParaRPr>
          </a:p>
          <a:p>
            <a:pPr fontAlgn="base"/>
            <a:r>
              <a:rPr lang="en-IN" sz="1200" b="1" i="0" u="none" strike="noStrike" dirty="0">
                <a:effectLst/>
                <a:latin typeface="+mn-lt"/>
                <a:cs typeface="Calibri"/>
              </a:rPr>
              <a:t>Screen Type: </a:t>
            </a:r>
            <a:r>
              <a:rPr lang="en-IN" dirty="0">
                <a:cs typeface="Calibri"/>
              </a:rPr>
              <a:t>Introduction/Index with a button.</a:t>
            </a:r>
            <a:endParaRPr lang="en-IN" sz="1200" b="0" i="0" dirty="0">
              <a:effectLst/>
              <a:latin typeface="+mn-lt"/>
              <a:ea typeface="Calibri"/>
              <a:cs typeface="Calibri"/>
            </a:endParaRPr>
          </a:p>
          <a:p>
            <a:pPr algn="l" rtl="0" fontAlgn="base"/>
            <a:r>
              <a:rPr lang="en-IN" sz="1200" b="0" i="0" dirty="0">
                <a:effectLst/>
                <a:latin typeface="+mn-lt"/>
                <a:cs typeface="Calibri"/>
              </a:rPr>
              <a:t>​</a:t>
            </a:r>
            <a:endParaRPr lang="en-IN" sz="1200" b="0" i="0" dirty="0">
              <a:effectLst/>
              <a:latin typeface="+mn-lt"/>
              <a:ea typeface="Calibri" panose="020F0502020204030204"/>
              <a:cs typeface="Calibri"/>
            </a:endParaRPr>
          </a:p>
          <a:p>
            <a:pPr algn="l" rtl="0" fontAlgn="base"/>
            <a:r>
              <a:rPr lang="en-IN" sz="1200" b="1" i="0" u="none" strike="noStrike" dirty="0">
                <a:effectLst/>
                <a:latin typeface="+mn-lt"/>
                <a:cs typeface="Calibri"/>
              </a:rPr>
              <a:t>Development Notes:</a:t>
            </a:r>
            <a:r>
              <a:rPr lang="en-US" sz="1200" b="0" i="0" dirty="0">
                <a:effectLst/>
                <a:latin typeface="+mn-lt"/>
                <a:cs typeface="Calibri"/>
              </a:rPr>
              <a:t>​</a:t>
            </a:r>
            <a:endParaRPr lang="en-US" sz="1200" b="0" i="0" dirty="0">
              <a:effectLst/>
              <a:latin typeface="+mn-lt"/>
              <a:ea typeface="Calibri"/>
              <a:cs typeface="Calibri"/>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b="0" i="0" dirty="0">
                <a:effectLst/>
                <a:latin typeface="+mn-lt"/>
                <a:cs typeface="Calibri"/>
              </a:rPr>
              <a:t>NA</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IN" sz="1200" b="0" i="0" dirty="0">
              <a:effectLst/>
              <a:latin typeface="+mn-lt"/>
              <a:cs typeface="Arial" panose="020B0604020202020204" pitchFamily="34" charset="0"/>
            </a:endParaRPr>
          </a:p>
          <a:p>
            <a:pPr algn="l" rtl="0" fontAlgn="base"/>
            <a:r>
              <a:rPr lang="en-IN" sz="1200" b="1" i="0" u="none" strike="noStrike" dirty="0">
                <a:effectLst/>
                <a:latin typeface="+mn-lt"/>
                <a:cs typeface="Calibri"/>
              </a:rPr>
              <a:t>Graphics Notes: </a:t>
            </a:r>
            <a:r>
              <a:rPr lang="en-US" sz="1200" b="0" i="0" dirty="0">
                <a:effectLst/>
                <a:latin typeface="+mn-lt"/>
                <a:cs typeface="Calibri"/>
              </a:rPr>
              <a:t>​</a:t>
            </a:r>
            <a:endParaRPr lang="en-US" sz="1200" b="0" i="0" dirty="0">
              <a:effectLst/>
              <a:latin typeface="+mn-lt"/>
              <a:ea typeface="Calibri"/>
              <a:cs typeface="Calibri"/>
            </a:endParaRPr>
          </a:p>
          <a:p>
            <a:r>
              <a:rPr lang="en-US" sz="1200" dirty="0">
                <a:latin typeface="+mn-lt"/>
                <a:cs typeface="Calibri"/>
              </a:rPr>
              <a:t>NA</a:t>
            </a:r>
            <a:endParaRPr lang="en-US" sz="1200" dirty="0">
              <a:latin typeface="+mn-lt"/>
              <a:ea typeface="Calibri"/>
              <a:cs typeface="Calibri"/>
            </a:endParaRPr>
          </a:p>
          <a:p>
            <a:endParaRPr lang="en-US" sz="1200" dirty="0">
              <a:latin typeface="+mn-lt"/>
              <a:cs typeface="Arial" panose="020B0604020202020204" pitchFamily="34" charset="0"/>
            </a:endParaRPr>
          </a:p>
          <a:p>
            <a:r>
              <a:rPr lang="en-US" sz="1200" b="1" dirty="0">
                <a:latin typeface="+mn-lt"/>
                <a:cs typeface="Calibri"/>
              </a:rPr>
              <a:t>Image source:</a:t>
            </a:r>
            <a:endParaRPr lang="en-US" sz="1200" b="1" dirty="0">
              <a:latin typeface="+mn-lt"/>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dirty="0">
                <a:effectLst/>
                <a:latin typeface="+mn-lt"/>
                <a:cs typeface="Arial" panose="020B0604020202020204" pitchFamily="34" charset="0"/>
              </a:rPr>
              <a:t>2498781455</a:t>
            </a:r>
          </a:p>
        </p:txBody>
      </p:sp>
      <p:sp>
        <p:nvSpPr>
          <p:cNvPr id="4" name="Slide Number Placeholder 3"/>
          <p:cNvSpPr>
            <a:spLocks noGrp="1"/>
          </p:cNvSpPr>
          <p:nvPr>
            <p:ph type="sldNum" sz="quarter" idx="5"/>
          </p:nvPr>
        </p:nvSpPr>
        <p:spPr/>
        <p:txBody>
          <a:bodyPr/>
          <a:lstStyle/>
          <a:p>
            <a:fld id="{351E557E-5515-4674-B7CA-4465A7A70215}" type="slidenum">
              <a:rPr lang="en-IN" smtClean="0"/>
              <a:t>5</a:t>
            </a:fld>
            <a:endParaRPr lang="en-IN"/>
          </a:p>
        </p:txBody>
      </p:sp>
    </p:spTree>
    <p:extLst>
      <p:ext uri="{BB962C8B-B14F-4D97-AF65-F5344CB8AC3E}">
        <p14:creationId xmlns:p14="http://schemas.microsoft.com/office/powerpoint/2010/main" val="34810620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G"/>
          </a:p>
        </p:txBody>
      </p:sp>
      <p:sp>
        <p:nvSpPr>
          <p:cNvPr id="3" name="Notes Placeholder 2"/>
          <p:cNvSpPr>
            <a:spLocks noGrp="1"/>
          </p:cNvSpPr>
          <p:nvPr>
            <p:ph type="body" idx="1"/>
          </p:nvPr>
        </p:nvSpPr>
        <p:spPr/>
        <p:txBody>
          <a:bodyPr/>
          <a:lstStyle/>
          <a:p>
            <a:pPr algn="l" rtl="0" fontAlgn="base"/>
            <a:r>
              <a:rPr lang="en-IN" sz="1200" b="1" i="0" u="none" strike="noStrike" dirty="0">
                <a:effectLst/>
                <a:latin typeface="+mn-lt"/>
                <a:cs typeface="Arial" panose="020B0604020202020204" pitchFamily="34" charset="0"/>
              </a:rPr>
              <a:t>Screen Duration: </a:t>
            </a:r>
            <a:r>
              <a:rPr lang="en-IN" sz="1200" b="0" i="0" u="none" strike="noStrike" dirty="0">
                <a:effectLst/>
                <a:latin typeface="+mn-lt"/>
                <a:cs typeface="Arial" panose="020B0604020202020204" pitchFamily="34" charset="0"/>
              </a:rPr>
              <a:t>1 min</a:t>
            </a:r>
            <a:r>
              <a:rPr lang="en-IN" sz="1200" b="0" i="0" dirty="0">
                <a:effectLst/>
                <a:latin typeface="+mn-lt"/>
                <a:cs typeface="Arial" panose="020B0604020202020204" pitchFamily="34" charset="0"/>
              </a:rPr>
              <a:t>​</a:t>
            </a: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Arial" panose="020B0604020202020204" pitchFamily="34" charset="0"/>
              </a:rPr>
              <a:t>Screen Type: </a:t>
            </a:r>
            <a:r>
              <a:rPr lang="en-IN" sz="1200" b="0" i="0" u="none" strike="noStrike" dirty="0">
                <a:effectLst/>
                <a:latin typeface="+mn-lt"/>
                <a:cs typeface="Arial" panose="020B0604020202020204" pitchFamily="34" charset="0"/>
              </a:rPr>
              <a:t>Text and image</a:t>
            </a:r>
          </a:p>
          <a:p>
            <a:pPr algn="l" rtl="0" fontAlgn="base"/>
            <a:r>
              <a:rPr lang="en-IN" sz="1200" b="0" i="0" dirty="0">
                <a:effectLst/>
                <a:latin typeface="+mn-lt"/>
                <a:cs typeface="Arial" panose="020B0604020202020204" pitchFamily="34" charset="0"/>
              </a:rPr>
              <a:t>​</a:t>
            </a:r>
          </a:p>
          <a:p>
            <a:pPr algn="l" rtl="0" fontAlgn="base"/>
            <a:r>
              <a:rPr lang="en-IN" sz="1200" b="1" i="0" dirty="0">
                <a:effectLst/>
                <a:latin typeface="+mn-lt"/>
                <a:cs typeface="Arial" panose="020B0604020202020204" pitchFamily="34" charset="0"/>
              </a:rPr>
              <a:t>Voice Over: </a:t>
            </a:r>
            <a:r>
              <a:rPr lang="en-US" dirty="0"/>
              <a:t>It's Thursday afternoon. Maria Santos approaches your window. She's been a customer for three years and she is always pleasant, never had any issues while doing money transactions.</a:t>
            </a:r>
          </a:p>
          <a:p>
            <a:pPr algn="l" rtl="0" fontAlgn="base"/>
            <a:endParaRPr lang="en-IN" sz="1200" b="0" i="0" dirty="0">
              <a:effectLst/>
              <a:latin typeface="+mn-lt"/>
              <a:cs typeface="Arial" panose="020B0604020202020204" pitchFamily="34" charset="0"/>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i="1" dirty="0">
                <a:solidFill>
                  <a:schemeClr val="accent1"/>
                </a:solidFill>
              </a:rPr>
              <a:t>Select the button to see the transaction request from Maria.</a:t>
            </a:r>
          </a:p>
          <a:p>
            <a:pPr algn="l" rtl="0" fontAlgn="base"/>
            <a:endParaRPr lang="en-IN" sz="1200" b="0" i="0"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Development Notes:</a:t>
            </a:r>
            <a:r>
              <a:rPr lang="en-US" sz="1200" b="0" i="0" dirty="0">
                <a:effectLst/>
                <a:latin typeface="+mn-lt"/>
                <a:cs typeface="Arial" panose="020B0604020202020204" pitchFamily="34" charset="0"/>
              </a:rPr>
              <a:t>​</a:t>
            </a:r>
          </a:p>
          <a:p>
            <a:pPr algn="l" rtl="0" fontAlgn="base">
              <a:buFont typeface="Arial" panose="020B0604020202020204" pitchFamily="34" charset="0"/>
              <a:buNone/>
            </a:pPr>
            <a:r>
              <a:rPr lang="en-US" sz="1200" b="0" i="0" u="none" strike="noStrike" dirty="0">
                <a:effectLst/>
                <a:latin typeface="+mn-lt"/>
                <a:cs typeface="Arial" panose="020B0604020202020204" pitchFamily="34" charset="0"/>
              </a:rPr>
              <a:t>Make the profile items appear one by one with animation.</a:t>
            </a:r>
          </a:p>
          <a:p>
            <a:pPr algn="l" rtl="0" fontAlgn="base">
              <a:buFont typeface="Arial" panose="020B0604020202020204" pitchFamily="34" charset="0"/>
              <a:buNone/>
            </a:pPr>
            <a:r>
              <a:rPr lang="en-US" sz="1200" b="0" i="0" u="none" strike="noStrike" dirty="0">
                <a:effectLst/>
                <a:latin typeface="+mn-lt"/>
                <a:cs typeface="Arial" panose="020B0604020202020204" pitchFamily="34" charset="0"/>
              </a:rPr>
              <a:t>Synch the Voice over with the elements on screen.</a:t>
            </a:r>
            <a:endParaRPr lang="en-IN" sz="1200" b="0" i="0" dirty="0">
              <a:effectLst/>
              <a:latin typeface="+mn-lt"/>
              <a:cs typeface="Arial" panose="020B0604020202020204" pitchFamily="34" charset="0"/>
            </a:endParaRPr>
          </a:p>
          <a:p>
            <a:pPr algn="l" rtl="0" fontAlgn="base">
              <a:buFont typeface="Arial" panose="020B0604020202020204" pitchFamily="34" charset="0"/>
              <a:buNone/>
            </a:pPr>
            <a:endParaRPr lang="en-IN" sz="1200" b="0" i="0"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Graphics Notes: </a:t>
            </a:r>
            <a:r>
              <a:rPr lang="en-US" sz="1200" b="0" i="0" dirty="0">
                <a:effectLst/>
                <a:latin typeface="+mn-lt"/>
                <a:cs typeface="Arial" panose="020B0604020202020204" pitchFamily="34" charset="0"/>
              </a:rPr>
              <a:t>​</a:t>
            </a:r>
          </a:p>
          <a:p>
            <a:r>
              <a:rPr lang="en-US" sz="1200" dirty="0">
                <a:latin typeface="+mn-lt"/>
                <a:cs typeface="Arial" panose="020B0604020202020204" pitchFamily="34" charset="0"/>
              </a:rPr>
              <a:t>NA</a:t>
            </a:r>
          </a:p>
          <a:p>
            <a:endParaRPr lang="en-US" sz="1200" dirty="0">
              <a:latin typeface="+mn-lt"/>
              <a:cs typeface="Arial" panose="020B0604020202020204" pitchFamily="34" charset="0"/>
            </a:endParaRPr>
          </a:p>
          <a:p>
            <a:r>
              <a:rPr lang="en-US" sz="1200" b="1" dirty="0">
                <a:latin typeface="+mn-lt"/>
                <a:cs typeface="Arial" panose="020B0604020202020204" pitchFamily="34" charset="0"/>
              </a:rPr>
              <a:t>Image source: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2C2C2C"/>
                </a:solidFill>
                <a:effectLst/>
                <a:latin typeface="adobe-clean"/>
              </a:rPr>
              <a:t>2491902319</a:t>
            </a:r>
            <a:endParaRPr lang="en-US" sz="1200" b="1" dirty="0">
              <a:latin typeface="+mn-lt"/>
              <a:cs typeface="Arial" panose="020B0604020202020204" pitchFamily="34" charset="0"/>
            </a:endParaRPr>
          </a:p>
        </p:txBody>
      </p:sp>
      <p:sp>
        <p:nvSpPr>
          <p:cNvPr id="4" name="Slide Number Placeholder 3"/>
          <p:cNvSpPr>
            <a:spLocks noGrp="1"/>
          </p:cNvSpPr>
          <p:nvPr>
            <p:ph type="sldNum" sz="quarter" idx="5"/>
          </p:nvPr>
        </p:nvSpPr>
        <p:spPr/>
        <p:txBody>
          <a:bodyPr/>
          <a:lstStyle/>
          <a:p>
            <a:fld id="{351E557E-5515-4674-B7CA-4465A7A70215}" type="slidenum">
              <a:rPr lang="en-IN" smtClean="0"/>
              <a:t>6</a:t>
            </a:fld>
            <a:endParaRPr lang="en-IN"/>
          </a:p>
        </p:txBody>
      </p:sp>
    </p:spTree>
    <p:extLst>
      <p:ext uri="{BB962C8B-B14F-4D97-AF65-F5344CB8AC3E}">
        <p14:creationId xmlns:p14="http://schemas.microsoft.com/office/powerpoint/2010/main" val="41710907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CF2E9-3B55-540F-5823-DC0497EAF1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CA9D2D-0AE4-92B8-D429-6235C54A07D9}"/>
              </a:ext>
            </a:extLst>
          </p:cNvPr>
          <p:cNvSpPr>
            <a:spLocks noGrp="1" noRot="1" noChangeAspect="1"/>
          </p:cNvSpPr>
          <p:nvPr>
            <p:ph type="sldImg"/>
          </p:nvPr>
        </p:nvSpPr>
        <p:spPr/>
        <p:txBody>
          <a:bodyPr/>
          <a:lstStyle/>
          <a:p>
            <a:endParaRPr lang="en-UG"/>
          </a:p>
        </p:txBody>
      </p:sp>
      <p:sp>
        <p:nvSpPr>
          <p:cNvPr id="3" name="Notes Placeholder 2">
            <a:extLst>
              <a:ext uri="{FF2B5EF4-FFF2-40B4-BE49-F238E27FC236}">
                <a16:creationId xmlns:a16="http://schemas.microsoft.com/office/drawing/2014/main" id="{6F464D2B-9F42-B866-BDBF-B023CDCFB11C}"/>
              </a:ext>
            </a:extLst>
          </p:cNvPr>
          <p:cNvSpPr>
            <a:spLocks noGrp="1"/>
          </p:cNvSpPr>
          <p:nvPr>
            <p:ph type="body" idx="1"/>
          </p:nvPr>
        </p:nvSpPr>
        <p:spPr/>
        <p:txBody>
          <a:bodyPr/>
          <a:lstStyle/>
          <a:p>
            <a:pPr algn="l" rtl="0" fontAlgn="base"/>
            <a:r>
              <a:rPr lang="en-IN" sz="1200" b="1" i="0" u="none" strike="noStrike" dirty="0">
                <a:effectLst/>
                <a:latin typeface="+mn-lt"/>
                <a:cs typeface="Arial" panose="020B0604020202020204" pitchFamily="34" charset="0"/>
              </a:rPr>
              <a:t>Screen Duration: </a:t>
            </a:r>
            <a:r>
              <a:rPr lang="en-IN" sz="1200" b="0" i="0" u="none" strike="noStrike" dirty="0">
                <a:effectLst/>
                <a:latin typeface="+mn-lt"/>
                <a:cs typeface="Arial" panose="020B0604020202020204" pitchFamily="34" charset="0"/>
              </a:rPr>
              <a:t>NA</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Arial" panose="020B0604020202020204" pitchFamily="34" charset="0"/>
              </a:rPr>
              <a:t>Screen Type: </a:t>
            </a:r>
            <a:r>
              <a:rPr lang="en-IN" sz="1200" b="0" i="0" u="none" strike="noStrike" dirty="0">
                <a:effectLst/>
                <a:latin typeface="+mn-lt"/>
                <a:cs typeface="Arial" panose="020B0604020202020204" pitchFamily="34" charset="0"/>
              </a:rPr>
              <a:t>Text and image</a:t>
            </a:r>
          </a:p>
          <a:p>
            <a:pPr algn="l" rtl="0" fontAlgn="base"/>
            <a:endParaRPr lang="en-IN" sz="1200" b="0" i="0" u="none" strike="noStrike" dirty="0">
              <a:effectLst/>
              <a:latin typeface="+mn-lt"/>
              <a:cs typeface="Arial" panose="020B0604020202020204" pitchFamily="34" charset="0"/>
            </a:endParaRPr>
          </a:p>
          <a:p>
            <a:pPr algn="l" rtl="0" fontAlgn="base"/>
            <a:r>
              <a:rPr lang="en-US" b="1" dirty="0"/>
              <a:t>Voice over: </a:t>
            </a:r>
            <a:r>
              <a:rPr lang="en-US" dirty="0"/>
              <a:t>Maria hands you a deposit slip of 45,000 dollars in cash and requested you to deposit it immediately.</a:t>
            </a:r>
            <a:endParaRPr lang="en-IN" sz="1200" b="0" i="0" u="none" strike="noStrike"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Arial" panose="020B0604020202020204" pitchFamily="34" charset="0"/>
              </a:rPr>
              <a:t>Development Notes:</a:t>
            </a:r>
            <a:r>
              <a:rPr lang="en-US" sz="1200" b="0" i="0" dirty="0">
                <a:effectLst/>
                <a:latin typeface="+mn-lt"/>
                <a:cs typeface="Arial" panose="020B0604020202020204" pitchFamily="34" charset="0"/>
              </a:rPr>
              <a:t>​</a:t>
            </a:r>
          </a:p>
          <a:p>
            <a:pPr algn="l" rtl="0" fontAlgn="base">
              <a:buFont typeface="Arial" panose="020B0604020202020204" pitchFamily="34" charset="0"/>
              <a:buNone/>
            </a:pPr>
            <a:r>
              <a:rPr lang="en-US" sz="1200" b="0" i="0" u="none" strike="noStrike" dirty="0">
                <a:effectLst/>
                <a:latin typeface="+mn-lt"/>
                <a:cs typeface="Arial" panose="020B0604020202020204" pitchFamily="34" charset="0"/>
              </a:rPr>
              <a:t>This is the continuation from previous screen.</a:t>
            </a:r>
            <a:endParaRPr lang="en-IN" sz="1200" b="0" i="0" dirty="0">
              <a:effectLst/>
              <a:latin typeface="+mn-lt"/>
              <a:cs typeface="Arial" panose="020B0604020202020204" pitchFamily="34" charset="0"/>
            </a:endParaRPr>
          </a:p>
          <a:p>
            <a:pPr algn="l" rtl="0" fontAlgn="base">
              <a:buFont typeface="Arial" panose="020B0604020202020204" pitchFamily="34" charset="0"/>
              <a:buNone/>
            </a:pPr>
            <a:endParaRPr lang="en-IN" sz="1200" b="0" i="0"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Graphics Notes: </a:t>
            </a:r>
            <a:r>
              <a:rPr lang="en-US" sz="1200" b="0" i="0" dirty="0">
                <a:effectLst/>
                <a:latin typeface="+mn-lt"/>
                <a:cs typeface="Arial" panose="020B0604020202020204" pitchFamily="34" charset="0"/>
              </a:rPr>
              <a:t>​</a:t>
            </a:r>
          </a:p>
          <a:p>
            <a:r>
              <a:rPr lang="en-US" sz="1200" dirty="0">
                <a:latin typeface="+mn-lt"/>
                <a:cs typeface="Arial" panose="020B0604020202020204" pitchFamily="34" charset="0"/>
              </a:rPr>
              <a:t>NA</a:t>
            </a:r>
          </a:p>
          <a:p>
            <a:endParaRPr lang="en-US" sz="1200" dirty="0">
              <a:latin typeface="+mn-lt"/>
              <a:cs typeface="Arial" panose="020B0604020202020204" pitchFamily="34" charset="0"/>
            </a:endParaRPr>
          </a:p>
          <a:p>
            <a:r>
              <a:rPr lang="en-US" sz="1200" b="1" dirty="0">
                <a:latin typeface="+mn-lt"/>
                <a:cs typeface="Arial" panose="020B0604020202020204" pitchFamily="34" charset="0"/>
              </a:rPr>
              <a:t>Image source: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2C2C2C"/>
                </a:solidFill>
                <a:effectLst/>
                <a:latin typeface="adobe-clean"/>
              </a:rPr>
              <a:t>2496759935</a:t>
            </a:r>
            <a:endParaRPr lang="en-US" sz="1200" b="1" dirty="0">
              <a:latin typeface="+mn-lt"/>
              <a:cs typeface="Arial" panose="020B0604020202020204" pitchFamily="34" charset="0"/>
            </a:endParaRPr>
          </a:p>
        </p:txBody>
      </p:sp>
      <p:sp>
        <p:nvSpPr>
          <p:cNvPr id="4" name="Slide Number Placeholder 3">
            <a:extLst>
              <a:ext uri="{FF2B5EF4-FFF2-40B4-BE49-F238E27FC236}">
                <a16:creationId xmlns:a16="http://schemas.microsoft.com/office/drawing/2014/main" id="{677DDFA3-BF72-6431-3AC7-933FA8AB880F}"/>
              </a:ext>
            </a:extLst>
          </p:cNvPr>
          <p:cNvSpPr>
            <a:spLocks noGrp="1"/>
          </p:cNvSpPr>
          <p:nvPr>
            <p:ph type="sldNum" sz="quarter" idx="5"/>
          </p:nvPr>
        </p:nvSpPr>
        <p:spPr/>
        <p:txBody>
          <a:bodyPr/>
          <a:lstStyle/>
          <a:p>
            <a:fld id="{351E557E-5515-4674-B7CA-4465A7A70215}" type="slidenum">
              <a:rPr lang="en-IN" smtClean="0"/>
              <a:t>7</a:t>
            </a:fld>
            <a:endParaRPr lang="en-IN"/>
          </a:p>
        </p:txBody>
      </p:sp>
    </p:spTree>
    <p:extLst>
      <p:ext uri="{BB962C8B-B14F-4D97-AF65-F5344CB8AC3E}">
        <p14:creationId xmlns:p14="http://schemas.microsoft.com/office/powerpoint/2010/main" val="157122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237D1-D05E-6F60-05B8-4FA6AF425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20B9E-E5B2-0B56-359C-49B2ACC3C81C}"/>
              </a:ext>
            </a:extLst>
          </p:cNvPr>
          <p:cNvSpPr>
            <a:spLocks noGrp="1" noRot="1" noChangeAspect="1"/>
          </p:cNvSpPr>
          <p:nvPr>
            <p:ph type="sldImg"/>
          </p:nvPr>
        </p:nvSpPr>
        <p:spPr/>
        <p:txBody>
          <a:bodyPr/>
          <a:lstStyle/>
          <a:p>
            <a:endParaRPr lang="en-UG"/>
          </a:p>
        </p:txBody>
      </p:sp>
      <p:sp>
        <p:nvSpPr>
          <p:cNvPr id="3" name="Notes Placeholder 2">
            <a:extLst>
              <a:ext uri="{FF2B5EF4-FFF2-40B4-BE49-F238E27FC236}">
                <a16:creationId xmlns:a16="http://schemas.microsoft.com/office/drawing/2014/main" id="{2F9E8E3E-F0BE-8806-E174-302077A6D7B4}"/>
              </a:ext>
            </a:extLst>
          </p:cNvPr>
          <p:cNvSpPr>
            <a:spLocks noGrp="1"/>
          </p:cNvSpPr>
          <p:nvPr>
            <p:ph type="body" idx="1"/>
          </p:nvPr>
        </p:nvSpPr>
        <p:spPr/>
        <p:txBody>
          <a:bodyPr/>
          <a:lstStyle/>
          <a:p>
            <a:pPr algn="l" rtl="0" fontAlgn="base"/>
            <a:r>
              <a:rPr lang="en-IN" sz="1200" b="1" i="0" u="none" strike="noStrike" dirty="0">
                <a:effectLst/>
                <a:latin typeface="+mn-lt"/>
                <a:cs typeface="Arial" panose="020B0604020202020204" pitchFamily="34" charset="0"/>
              </a:rPr>
              <a:t>Screen Duration: </a:t>
            </a:r>
            <a:r>
              <a:rPr lang="en-IN" sz="1200" b="0" i="0" u="none" strike="noStrike" dirty="0">
                <a:effectLst/>
                <a:latin typeface="+mn-lt"/>
                <a:cs typeface="Arial" panose="020B0604020202020204" pitchFamily="34" charset="0"/>
              </a:rPr>
              <a:t>1 min</a:t>
            </a:r>
            <a:r>
              <a:rPr lang="en-IN" sz="1200" b="0" i="0" dirty="0">
                <a:effectLst/>
                <a:latin typeface="+mn-lt"/>
                <a:cs typeface="Arial" panose="020B0604020202020204" pitchFamily="34" charset="0"/>
              </a:rPr>
              <a:t>​</a:t>
            </a: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Arial" panose="020B0604020202020204" pitchFamily="34" charset="0"/>
              </a:rPr>
              <a:t>Screen Type: </a:t>
            </a:r>
            <a:r>
              <a:rPr lang="en-IN" sz="1200" b="0" i="0" u="none" strike="noStrike" dirty="0">
                <a:effectLst/>
                <a:latin typeface="+mn-lt"/>
                <a:cs typeface="Arial" panose="020B0604020202020204" pitchFamily="34" charset="0"/>
              </a:rPr>
              <a:t>Text and tab interactivity</a:t>
            </a:r>
          </a:p>
          <a:p>
            <a:pPr algn="l" rtl="0" fontAlgn="base"/>
            <a:endParaRPr lang="en-IN" sz="1200" b="0" i="0" u="none" strike="noStrike" dirty="0">
              <a:effectLst/>
              <a:latin typeface="+mn-lt"/>
              <a:cs typeface="Arial" panose="020B0604020202020204" pitchFamily="34" charset="0"/>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b="1" dirty="0"/>
              <a:t>Voice over: </a:t>
            </a:r>
            <a:r>
              <a:rPr lang="en-US" sz="1000" b="0" kern="1200" dirty="0">
                <a:solidFill>
                  <a:schemeClr val="tx1"/>
                </a:solidFill>
                <a:effectLst/>
                <a:latin typeface="+mn-lt"/>
                <a:ea typeface="+mn-ea"/>
                <a:cs typeface="+mn-cs"/>
              </a:rPr>
              <a:t>Before you process the transaction, it’s your duty to review Maria's profile. </a:t>
            </a:r>
            <a:endParaRPr lang="en-UG" sz="1000" kern="1200" dirty="0">
              <a:solidFill>
                <a:schemeClr val="tx1"/>
              </a:solidFill>
              <a:latin typeface="+mn-lt"/>
              <a:ea typeface="+mn-ea"/>
              <a:cs typeface="+mn-cs"/>
            </a:endParaRPr>
          </a:p>
          <a:p>
            <a:pPr algn="l" rtl="0" fontAlgn="base"/>
            <a:endParaRPr lang="en-IN" sz="1200" b="0" i="0" u="none" strike="noStrike" dirty="0">
              <a:effectLst/>
              <a:latin typeface="+mn-lt"/>
              <a:cs typeface="Arial" panose="020B0604020202020204" pitchFamily="34" charset="0"/>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i="1" dirty="0">
                <a:solidFill>
                  <a:schemeClr val="accent1"/>
                </a:solidFill>
              </a:rPr>
              <a:t>Select each tab to review information before making your decision.</a:t>
            </a:r>
            <a:endParaRPr lang="en-IN" sz="1200" b="0" i="0" u="none" strike="noStrike"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Arial" panose="020B0604020202020204" pitchFamily="34" charset="0"/>
              </a:rPr>
              <a:t>Development Notes:</a:t>
            </a:r>
            <a:r>
              <a:rPr lang="en-US" sz="1200" b="0" i="0" dirty="0">
                <a:effectLst/>
                <a:latin typeface="+mn-lt"/>
                <a:cs typeface="Arial" panose="020B0604020202020204" pitchFamily="34" charset="0"/>
              </a:rPr>
              <a:t>​</a:t>
            </a:r>
          </a:p>
          <a:p>
            <a:pPr algn="l" rtl="0" fontAlgn="base">
              <a:buFont typeface="Arial" panose="020B0604020202020204" pitchFamily="34" charset="0"/>
              <a:buNone/>
            </a:pPr>
            <a:r>
              <a:rPr lang="en-US" sz="1200" b="0" i="0" u="none" strike="noStrike" dirty="0">
                <a:effectLst/>
                <a:latin typeface="+mn-lt"/>
                <a:cs typeface="Arial" panose="020B0604020202020204" pitchFamily="34" charset="0"/>
              </a:rPr>
              <a:t>Tab interactivity</a:t>
            </a:r>
            <a:endParaRPr lang="en-IN" sz="1200" b="0" i="0" dirty="0">
              <a:effectLst/>
              <a:latin typeface="+mn-lt"/>
              <a:cs typeface="Arial" panose="020B0604020202020204" pitchFamily="34" charset="0"/>
            </a:endParaRPr>
          </a:p>
          <a:p>
            <a:pPr algn="l" rtl="0" fontAlgn="base">
              <a:buFont typeface="Arial" panose="020B0604020202020204" pitchFamily="34" charset="0"/>
              <a:buNone/>
            </a:pPr>
            <a:endParaRPr lang="en-IN" sz="1200" b="0" i="0"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Graphics Notes: </a:t>
            </a:r>
            <a:r>
              <a:rPr lang="en-US" sz="1200" b="0" i="0" dirty="0">
                <a:effectLst/>
                <a:latin typeface="+mn-lt"/>
                <a:cs typeface="Arial" panose="020B0604020202020204" pitchFamily="34" charset="0"/>
              </a:rPr>
              <a:t>​</a:t>
            </a:r>
          </a:p>
          <a:p>
            <a:pPr algn="l" rtl="0" fontAlgn="base"/>
            <a:r>
              <a:rPr lang="en-US" sz="1200" b="0" i="0" dirty="0">
                <a:effectLst/>
                <a:latin typeface="+mn-lt"/>
                <a:cs typeface="Arial" panose="020B0604020202020204" pitchFamily="34" charset="0"/>
              </a:rPr>
              <a:t>The reference icons are added for each tab.</a:t>
            </a:r>
            <a:endParaRPr lang="en-US" sz="1200" dirty="0">
              <a:latin typeface="+mn-lt"/>
              <a:cs typeface="Arial" panose="020B0604020202020204" pitchFamily="34" charset="0"/>
            </a:endParaRPr>
          </a:p>
          <a:p>
            <a:endParaRPr lang="en-US" sz="1200" dirty="0">
              <a:latin typeface="+mn-lt"/>
              <a:cs typeface="Arial" panose="020B0604020202020204" pitchFamily="34" charset="0"/>
            </a:endParaRPr>
          </a:p>
          <a:p>
            <a:r>
              <a:rPr lang="en-US" sz="1200" b="1" dirty="0">
                <a:latin typeface="+mn-lt"/>
                <a:cs typeface="Arial" panose="020B0604020202020204" pitchFamily="34" charset="0"/>
              </a:rPr>
              <a:t>Image source: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2C2C2C"/>
                </a:solidFill>
                <a:effectLst/>
                <a:latin typeface="adobe-clean"/>
              </a:rPr>
              <a:t>2496759935</a:t>
            </a:r>
            <a:endParaRPr lang="en-US" sz="1200" b="1" dirty="0">
              <a:latin typeface="+mn-lt"/>
              <a:cs typeface="Arial" panose="020B0604020202020204" pitchFamily="34" charset="0"/>
            </a:endParaRPr>
          </a:p>
        </p:txBody>
      </p:sp>
      <p:sp>
        <p:nvSpPr>
          <p:cNvPr id="4" name="Slide Number Placeholder 3">
            <a:extLst>
              <a:ext uri="{FF2B5EF4-FFF2-40B4-BE49-F238E27FC236}">
                <a16:creationId xmlns:a16="http://schemas.microsoft.com/office/drawing/2014/main" id="{E33E0645-7A88-511F-8822-588423FAE35B}"/>
              </a:ext>
            </a:extLst>
          </p:cNvPr>
          <p:cNvSpPr>
            <a:spLocks noGrp="1"/>
          </p:cNvSpPr>
          <p:nvPr>
            <p:ph type="sldNum" sz="quarter" idx="5"/>
          </p:nvPr>
        </p:nvSpPr>
        <p:spPr/>
        <p:txBody>
          <a:bodyPr/>
          <a:lstStyle/>
          <a:p>
            <a:fld id="{351E557E-5515-4674-B7CA-4465A7A70215}" type="slidenum">
              <a:rPr lang="en-IN" smtClean="0"/>
              <a:t>8</a:t>
            </a:fld>
            <a:endParaRPr lang="en-IN"/>
          </a:p>
        </p:txBody>
      </p:sp>
    </p:spTree>
    <p:extLst>
      <p:ext uri="{BB962C8B-B14F-4D97-AF65-F5344CB8AC3E}">
        <p14:creationId xmlns:p14="http://schemas.microsoft.com/office/powerpoint/2010/main" val="29379372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F79C9-0DEF-1694-095A-99575AB7BF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B79EA7-FBE8-DC0E-0476-F09FBD2A7B22}"/>
              </a:ext>
            </a:extLst>
          </p:cNvPr>
          <p:cNvSpPr>
            <a:spLocks noGrp="1" noRot="1" noChangeAspect="1"/>
          </p:cNvSpPr>
          <p:nvPr>
            <p:ph type="sldImg"/>
          </p:nvPr>
        </p:nvSpPr>
        <p:spPr/>
        <p:txBody>
          <a:bodyPr/>
          <a:lstStyle/>
          <a:p>
            <a:endParaRPr lang="en-UG"/>
          </a:p>
        </p:txBody>
      </p:sp>
      <p:sp>
        <p:nvSpPr>
          <p:cNvPr id="3" name="Notes Placeholder 2">
            <a:extLst>
              <a:ext uri="{FF2B5EF4-FFF2-40B4-BE49-F238E27FC236}">
                <a16:creationId xmlns:a16="http://schemas.microsoft.com/office/drawing/2014/main" id="{196F3C7D-C839-CB6A-E1F7-51F9877B208B}"/>
              </a:ext>
            </a:extLst>
          </p:cNvPr>
          <p:cNvSpPr>
            <a:spLocks noGrp="1"/>
          </p:cNvSpPr>
          <p:nvPr>
            <p:ph type="body" idx="1"/>
          </p:nvPr>
        </p:nvSpPr>
        <p:spPr/>
        <p:txBody>
          <a:bodyPr/>
          <a:lstStyle/>
          <a:p>
            <a:pPr algn="l" rtl="0" fontAlgn="base"/>
            <a:r>
              <a:rPr lang="en-IN" sz="1200" b="1" i="0" u="none" strike="noStrike" dirty="0">
                <a:effectLst/>
                <a:latin typeface="+mn-lt"/>
                <a:cs typeface="Arial" panose="020B0604020202020204" pitchFamily="34" charset="0"/>
              </a:rPr>
              <a:t>Screen Duration: </a:t>
            </a:r>
            <a:r>
              <a:rPr lang="en-IN" sz="1200" b="0" i="0" u="none" strike="noStrike" dirty="0">
                <a:effectLst/>
                <a:latin typeface="+mn-lt"/>
                <a:cs typeface="Arial" panose="020B0604020202020204" pitchFamily="34" charset="0"/>
              </a:rPr>
              <a:t>NA</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marL="0" marR="0" lvl="0" indent="0" algn="l" defTabSz="914400" rtl="0" eaLnBrk="1" fontAlgn="base" latinLnBrk="0" hangingPunct="1">
              <a:lnSpc>
                <a:spcPct val="100000"/>
              </a:lnSpc>
              <a:spcBef>
                <a:spcPts val="0"/>
              </a:spcBef>
              <a:spcAft>
                <a:spcPts val="0"/>
              </a:spcAft>
              <a:buClrTx/>
              <a:buSzTx/>
              <a:buFontTx/>
              <a:buNone/>
              <a:tabLst/>
              <a:defRPr/>
            </a:pPr>
            <a:r>
              <a:rPr lang="en-IN" sz="1200" b="1" i="0" u="none" strike="noStrike" dirty="0">
                <a:effectLst/>
                <a:latin typeface="+mn-lt"/>
                <a:cs typeface="Arial" panose="020B0604020202020204" pitchFamily="34" charset="0"/>
              </a:rPr>
              <a:t>Screen Type: </a:t>
            </a:r>
            <a:r>
              <a:rPr lang="en-IN" sz="1200" b="0" i="0" u="none" strike="noStrike" dirty="0">
                <a:effectLst/>
                <a:latin typeface="+mn-lt"/>
                <a:cs typeface="Arial" panose="020B0604020202020204" pitchFamily="34" charset="0"/>
              </a:rPr>
              <a:t>Text and tab interactivity</a:t>
            </a:r>
          </a:p>
          <a:p>
            <a:pPr algn="l" rtl="0" fontAlgn="base"/>
            <a:endParaRPr lang="en-IN" sz="1200" b="0" i="0" u="none" strike="noStrike" dirty="0">
              <a:effectLst/>
              <a:latin typeface="+mn-lt"/>
              <a:cs typeface="Arial" panose="020B0604020202020204" pitchFamily="34" charset="0"/>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b="1" dirty="0"/>
              <a:t>Voice over: </a:t>
            </a:r>
            <a:r>
              <a:rPr lang="en-US" b="0" dirty="0"/>
              <a:t>NA</a:t>
            </a:r>
          </a:p>
          <a:p>
            <a:pPr marL="0" marR="0" lvl="0" indent="0" algn="l" defTabSz="914400" rtl="0" eaLnBrk="1" fontAlgn="base" latinLnBrk="0" hangingPunct="1">
              <a:lnSpc>
                <a:spcPct val="100000"/>
              </a:lnSpc>
              <a:spcBef>
                <a:spcPts val="0"/>
              </a:spcBef>
              <a:spcAft>
                <a:spcPts val="0"/>
              </a:spcAft>
              <a:buClrTx/>
              <a:buSzTx/>
              <a:buFontTx/>
              <a:buNone/>
              <a:tabLst/>
              <a:defRPr/>
            </a:pPr>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Arial" panose="020B0604020202020204" pitchFamily="34" charset="0"/>
              </a:rPr>
              <a:t>Development Notes:</a:t>
            </a:r>
            <a:r>
              <a:rPr lang="en-US" sz="1200" b="0" i="0" dirty="0">
                <a:effectLst/>
                <a:latin typeface="+mn-lt"/>
                <a:cs typeface="Arial" panose="020B0604020202020204" pitchFamily="34" charset="0"/>
              </a:rPr>
              <a:t>​</a:t>
            </a:r>
          </a:p>
          <a:p>
            <a:pPr algn="l" rtl="0" fontAlgn="base">
              <a:buFont typeface="Arial" panose="020B0604020202020204" pitchFamily="34" charset="0"/>
              <a:buNone/>
            </a:pPr>
            <a:r>
              <a:rPr lang="en-US" sz="1200" b="0" i="0" u="none" strike="noStrike" dirty="0">
                <a:effectLst/>
                <a:latin typeface="+mn-lt"/>
                <a:cs typeface="Arial" panose="020B0604020202020204" pitchFamily="34" charset="0"/>
              </a:rPr>
              <a:t>This is the continuation from previous screen.</a:t>
            </a:r>
            <a:endParaRPr lang="en-IN" sz="1200" b="0" i="0" dirty="0">
              <a:effectLst/>
              <a:latin typeface="+mn-lt"/>
              <a:cs typeface="Arial" panose="020B0604020202020204" pitchFamily="34" charset="0"/>
            </a:endParaRPr>
          </a:p>
          <a:p>
            <a:pPr algn="l" rtl="0" fontAlgn="base">
              <a:buFont typeface="Arial" panose="020B0604020202020204" pitchFamily="34" charset="0"/>
              <a:buNone/>
            </a:pPr>
            <a:endParaRPr lang="en-IN" sz="1200" b="0" i="0"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Graphics Notes: </a:t>
            </a:r>
            <a:r>
              <a:rPr lang="en-US" sz="1200" b="0" i="0" dirty="0">
                <a:effectLst/>
                <a:latin typeface="+mn-lt"/>
                <a:cs typeface="Arial" panose="020B0604020202020204" pitchFamily="34" charset="0"/>
              </a:rPr>
              <a:t>​</a:t>
            </a:r>
          </a:p>
          <a:p>
            <a:pPr algn="l" rtl="0" fontAlgn="base"/>
            <a:r>
              <a:rPr lang="en-US" sz="1200" b="0" i="0" dirty="0">
                <a:effectLst/>
                <a:latin typeface="+mn-lt"/>
                <a:cs typeface="Arial" panose="020B0604020202020204" pitchFamily="34" charset="0"/>
              </a:rPr>
              <a:t>NA</a:t>
            </a:r>
            <a:endParaRPr lang="en-US" sz="1200" dirty="0">
              <a:latin typeface="+mn-lt"/>
              <a:cs typeface="Arial" panose="020B0604020202020204" pitchFamily="34" charset="0"/>
            </a:endParaRPr>
          </a:p>
          <a:p>
            <a:endParaRPr lang="en-US" sz="1200" dirty="0">
              <a:latin typeface="+mn-lt"/>
              <a:cs typeface="Arial" panose="020B0604020202020204" pitchFamily="34" charset="0"/>
            </a:endParaRPr>
          </a:p>
          <a:p>
            <a:r>
              <a:rPr lang="en-US" sz="1200" b="1" dirty="0">
                <a:latin typeface="+mn-lt"/>
                <a:cs typeface="Arial" panose="020B0604020202020204" pitchFamily="34" charset="0"/>
              </a:rPr>
              <a:t>Image source: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2C2C2C"/>
                </a:solidFill>
                <a:effectLst/>
                <a:latin typeface="adobe-clean"/>
              </a:rPr>
              <a:t>2496759935</a:t>
            </a:r>
            <a:endParaRPr lang="en-US" sz="1200" b="1" dirty="0">
              <a:latin typeface="+mn-lt"/>
              <a:cs typeface="Arial" panose="020B0604020202020204" pitchFamily="34" charset="0"/>
            </a:endParaRPr>
          </a:p>
        </p:txBody>
      </p:sp>
      <p:sp>
        <p:nvSpPr>
          <p:cNvPr id="4" name="Slide Number Placeholder 3">
            <a:extLst>
              <a:ext uri="{FF2B5EF4-FFF2-40B4-BE49-F238E27FC236}">
                <a16:creationId xmlns:a16="http://schemas.microsoft.com/office/drawing/2014/main" id="{F02A4B30-D9B6-ABEC-32FE-FE29A1731FB3}"/>
              </a:ext>
            </a:extLst>
          </p:cNvPr>
          <p:cNvSpPr>
            <a:spLocks noGrp="1"/>
          </p:cNvSpPr>
          <p:nvPr>
            <p:ph type="sldNum" sz="quarter" idx="5"/>
          </p:nvPr>
        </p:nvSpPr>
        <p:spPr/>
        <p:txBody>
          <a:bodyPr/>
          <a:lstStyle/>
          <a:p>
            <a:fld id="{351E557E-5515-4674-B7CA-4465A7A70215}" type="slidenum">
              <a:rPr lang="en-IN" smtClean="0"/>
              <a:t>9</a:t>
            </a:fld>
            <a:endParaRPr lang="en-IN"/>
          </a:p>
        </p:txBody>
      </p:sp>
    </p:spTree>
    <p:extLst>
      <p:ext uri="{BB962C8B-B14F-4D97-AF65-F5344CB8AC3E}">
        <p14:creationId xmlns:p14="http://schemas.microsoft.com/office/powerpoint/2010/main" val="32738188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32703-9F56-6633-9102-D84762968A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5CD595-7ABE-254F-DDBC-5CCE5D763735}"/>
              </a:ext>
            </a:extLst>
          </p:cNvPr>
          <p:cNvSpPr>
            <a:spLocks noGrp="1" noRot="1" noChangeAspect="1"/>
          </p:cNvSpPr>
          <p:nvPr>
            <p:ph type="sldImg"/>
          </p:nvPr>
        </p:nvSpPr>
        <p:spPr/>
        <p:txBody>
          <a:bodyPr/>
          <a:lstStyle/>
          <a:p>
            <a:endParaRPr lang="en-UG"/>
          </a:p>
        </p:txBody>
      </p:sp>
      <p:sp>
        <p:nvSpPr>
          <p:cNvPr id="3" name="Notes Placeholder 2">
            <a:extLst>
              <a:ext uri="{FF2B5EF4-FFF2-40B4-BE49-F238E27FC236}">
                <a16:creationId xmlns:a16="http://schemas.microsoft.com/office/drawing/2014/main" id="{24E11847-5230-3F3F-F4BD-05D350D0BB2E}"/>
              </a:ext>
            </a:extLst>
          </p:cNvPr>
          <p:cNvSpPr>
            <a:spLocks noGrp="1"/>
          </p:cNvSpPr>
          <p:nvPr>
            <p:ph type="body" idx="1"/>
          </p:nvPr>
        </p:nvSpPr>
        <p:spPr/>
        <p:txBody>
          <a:bodyPr/>
          <a:lstStyle/>
          <a:p>
            <a:pPr algn="l" rtl="0" fontAlgn="base"/>
            <a:r>
              <a:rPr lang="en-IN" sz="1200" b="1" i="0" u="none" strike="noStrike" dirty="0">
                <a:effectLst/>
                <a:latin typeface="+mn-lt"/>
                <a:cs typeface="Arial" panose="020B0604020202020204" pitchFamily="34" charset="0"/>
              </a:rPr>
              <a:t>Screen Duration: </a:t>
            </a:r>
            <a:r>
              <a:rPr lang="en-IN" sz="1200" b="0" i="0" u="none" strike="noStrike" dirty="0">
                <a:effectLst/>
                <a:latin typeface="+mn-lt"/>
                <a:cs typeface="Arial" panose="020B0604020202020204" pitchFamily="34" charset="0"/>
              </a:rPr>
              <a:t>NA</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Arial" panose="020B0604020202020204" pitchFamily="34" charset="0"/>
              </a:rPr>
              <a:t>Screen Type: </a:t>
            </a:r>
            <a:r>
              <a:rPr lang="en-IN" sz="1200" b="0" i="0" u="none" strike="noStrike" dirty="0">
                <a:effectLst/>
                <a:latin typeface="+mn-lt"/>
                <a:cs typeface="Arial" panose="020B0604020202020204" pitchFamily="34" charset="0"/>
              </a:rPr>
              <a:t>Text and tab interactivity</a:t>
            </a:r>
          </a:p>
          <a:p>
            <a:pPr algn="l" rtl="0" fontAlgn="base"/>
            <a:endParaRPr lang="en-IN" sz="1200" b="0" i="0" u="none" strike="noStrike" dirty="0">
              <a:effectLst/>
              <a:latin typeface="+mn-lt"/>
              <a:cs typeface="Arial" panose="020B0604020202020204" pitchFamily="34" charset="0"/>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b="1" dirty="0"/>
              <a:t>Voice over: </a:t>
            </a:r>
            <a:r>
              <a:rPr lang="en-US" b="0" dirty="0"/>
              <a:t>NA</a:t>
            </a:r>
          </a:p>
          <a:p>
            <a:pPr marL="0" marR="0" lvl="0" indent="0" algn="l" defTabSz="914400" rtl="0" eaLnBrk="1" fontAlgn="base" latinLnBrk="0" hangingPunct="1">
              <a:lnSpc>
                <a:spcPct val="100000"/>
              </a:lnSpc>
              <a:spcBef>
                <a:spcPts val="0"/>
              </a:spcBef>
              <a:spcAft>
                <a:spcPts val="0"/>
              </a:spcAft>
              <a:buClrTx/>
              <a:buSzTx/>
              <a:buFontTx/>
              <a:buNone/>
              <a:tabLst/>
              <a:defRPr/>
            </a:pPr>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Arial" panose="020B0604020202020204" pitchFamily="34" charset="0"/>
              </a:rPr>
              <a:t>Development Notes:</a:t>
            </a:r>
            <a:r>
              <a:rPr lang="en-US" sz="1200" b="0" i="0" dirty="0">
                <a:effectLst/>
                <a:latin typeface="+mn-lt"/>
                <a:cs typeface="Arial" panose="020B0604020202020204" pitchFamily="34" charset="0"/>
              </a:rPr>
              <a:t>​</a:t>
            </a:r>
          </a:p>
          <a:p>
            <a:pPr algn="l" rtl="0" fontAlgn="base">
              <a:buFont typeface="Arial" panose="020B0604020202020204" pitchFamily="34" charset="0"/>
              <a:buNone/>
            </a:pPr>
            <a:r>
              <a:rPr lang="en-US" sz="1200" b="0" i="0" u="none" strike="noStrike" dirty="0">
                <a:effectLst/>
                <a:latin typeface="+mn-lt"/>
                <a:cs typeface="Arial" panose="020B0604020202020204" pitchFamily="34" charset="0"/>
              </a:rPr>
              <a:t>This is the continuation from previous screen.</a:t>
            </a:r>
            <a:endParaRPr lang="en-IN" sz="1200" b="0" i="0" dirty="0">
              <a:effectLst/>
              <a:latin typeface="+mn-lt"/>
              <a:cs typeface="Arial" panose="020B0604020202020204" pitchFamily="34" charset="0"/>
            </a:endParaRPr>
          </a:p>
          <a:p>
            <a:pPr algn="l" rtl="0" fontAlgn="base">
              <a:buFont typeface="Arial" panose="020B0604020202020204" pitchFamily="34" charset="0"/>
              <a:buNone/>
            </a:pPr>
            <a:endParaRPr lang="en-IN" sz="1200" b="0" i="0"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Graphics Notes: </a:t>
            </a:r>
            <a:r>
              <a:rPr lang="en-US" sz="1200" b="0" i="0" dirty="0">
                <a:effectLst/>
                <a:latin typeface="+mn-lt"/>
                <a:cs typeface="Arial" panose="020B0604020202020204" pitchFamily="34" charset="0"/>
              </a:rPr>
              <a:t>​</a:t>
            </a:r>
          </a:p>
          <a:p>
            <a:pPr algn="l" rtl="0" fontAlgn="base"/>
            <a:r>
              <a:rPr lang="en-US" sz="1200" b="0" i="0" dirty="0">
                <a:effectLst/>
                <a:latin typeface="+mn-lt"/>
                <a:cs typeface="Arial" panose="020B0604020202020204" pitchFamily="34" charset="0"/>
              </a:rPr>
              <a:t>NA</a:t>
            </a:r>
            <a:endParaRPr lang="en-US" sz="1200" dirty="0">
              <a:latin typeface="+mn-lt"/>
              <a:cs typeface="Arial" panose="020B0604020202020204" pitchFamily="34" charset="0"/>
            </a:endParaRPr>
          </a:p>
          <a:p>
            <a:endParaRPr lang="en-US" sz="1200" dirty="0">
              <a:latin typeface="+mn-lt"/>
              <a:cs typeface="Arial" panose="020B0604020202020204" pitchFamily="34" charset="0"/>
            </a:endParaRPr>
          </a:p>
          <a:p>
            <a:r>
              <a:rPr lang="en-US" sz="1200" b="1" dirty="0">
                <a:latin typeface="+mn-lt"/>
                <a:cs typeface="Arial" panose="020B0604020202020204" pitchFamily="34" charset="0"/>
              </a:rPr>
              <a:t>Image source: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2C2C2C"/>
                </a:solidFill>
                <a:effectLst/>
                <a:latin typeface="adobe-clean"/>
              </a:rPr>
              <a:t>2496759935</a:t>
            </a:r>
            <a:endParaRPr lang="en-US" sz="1200" b="1" dirty="0">
              <a:latin typeface="+mn-lt"/>
              <a:cs typeface="Arial" panose="020B0604020202020204" pitchFamily="34" charset="0"/>
            </a:endParaRPr>
          </a:p>
        </p:txBody>
      </p:sp>
      <p:sp>
        <p:nvSpPr>
          <p:cNvPr id="4" name="Slide Number Placeholder 3">
            <a:extLst>
              <a:ext uri="{FF2B5EF4-FFF2-40B4-BE49-F238E27FC236}">
                <a16:creationId xmlns:a16="http://schemas.microsoft.com/office/drawing/2014/main" id="{3F906AE0-8A03-43FB-D095-958ED02FD15E}"/>
              </a:ext>
            </a:extLst>
          </p:cNvPr>
          <p:cNvSpPr>
            <a:spLocks noGrp="1"/>
          </p:cNvSpPr>
          <p:nvPr>
            <p:ph type="sldNum" sz="quarter" idx="5"/>
          </p:nvPr>
        </p:nvSpPr>
        <p:spPr/>
        <p:txBody>
          <a:bodyPr/>
          <a:lstStyle/>
          <a:p>
            <a:fld id="{351E557E-5515-4674-B7CA-4465A7A70215}" type="slidenum">
              <a:rPr lang="en-IN" smtClean="0"/>
              <a:t>10</a:t>
            </a:fld>
            <a:endParaRPr lang="en-IN"/>
          </a:p>
        </p:txBody>
      </p:sp>
    </p:spTree>
    <p:extLst>
      <p:ext uri="{BB962C8B-B14F-4D97-AF65-F5344CB8AC3E}">
        <p14:creationId xmlns:p14="http://schemas.microsoft.com/office/powerpoint/2010/main" val="2255348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30464-2A68-CBE4-3549-8C86D873EC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01AEAE-CA0A-74A0-F570-E0EF20FF244C}"/>
              </a:ext>
            </a:extLst>
          </p:cNvPr>
          <p:cNvSpPr>
            <a:spLocks noGrp="1" noRot="1" noChangeAspect="1"/>
          </p:cNvSpPr>
          <p:nvPr>
            <p:ph type="sldImg"/>
          </p:nvPr>
        </p:nvSpPr>
        <p:spPr/>
        <p:txBody>
          <a:bodyPr/>
          <a:lstStyle/>
          <a:p>
            <a:endParaRPr lang="en-UG"/>
          </a:p>
        </p:txBody>
      </p:sp>
      <p:sp>
        <p:nvSpPr>
          <p:cNvPr id="3" name="Notes Placeholder 2">
            <a:extLst>
              <a:ext uri="{FF2B5EF4-FFF2-40B4-BE49-F238E27FC236}">
                <a16:creationId xmlns:a16="http://schemas.microsoft.com/office/drawing/2014/main" id="{F990B7F5-5B01-BAF3-7DBE-E86AEAE1C3D8}"/>
              </a:ext>
            </a:extLst>
          </p:cNvPr>
          <p:cNvSpPr>
            <a:spLocks noGrp="1"/>
          </p:cNvSpPr>
          <p:nvPr>
            <p:ph type="body" idx="1"/>
          </p:nvPr>
        </p:nvSpPr>
        <p:spPr/>
        <p:txBody>
          <a:bodyPr/>
          <a:lstStyle/>
          <a:p>
            <a:pPr algn="l" rtl="0" fontAlgn="base"/>
            <a:r>
              <a:rPr lang="en-IN" sz="1200" b="1" i="0" u="none" strike="noStrike" dirty="0">
                <a:effectLst/>
                <a:latin typeface="+mn-lt"/>
                <a:cs typeface="Arial" panose="020B0604020202020204" pitchFamily="34" charset="0"/>
              </a:rPr>
              <a:t>Screen Duration: </a:t>
            </a:r>
            <a:r>
              <a:rPr lang="en-IN" sz="1200" b="0" i="0" u="none" strike="noStrike" dirty="0">
                <a:effectLst/>
                <a:latin typeface="+mn-lt"/>
                <a:cs typeface="Arial" panose="020B0604020202020204" pitchFamily="34" charset="0"/>
              </a:rPr>
              <a:t>NA</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Arial" panose="020B0604020202020204" pitchFamily="34" charset="0"/>
              </a:rPr>
              <a:t>Screen Type: </a:t>
            </a:r>
            <a:r>
              <a:rPr lang="en-IN" sz="1200" b="0" i="0" u="none" strike="noStrike" dirty="0">
                <a:effectLst/>
                <a:latin typeface="+mn-lt"/>
                <a:cs typeface="Arial" panose="020B0604020202020204" pitchFamily="34" charset="0"/>
              </a:rPr>
              <a:t>Text and tab interactivity</a:t>
            </a:r>
          </a:p>
          <a:p>
            <a:pPr algn="l" rtl="0" fontAlgn="base"/>
            <a:endParaRPr lang="en-IN" sz="1200" b="0" i="0" u="none" strike="noStrike" dirty="0">
              <a:effectLst/>
              <a:latin typeface="+mn-lt"/>
              <a:cs typeface="Arial" panose="020B0604020202020204" pitchFamily="34" charset="0"/>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b="1" dirty="0"/>
              <a:t>Voice over: </a:t>
            </a:r>
            <a:r>
              <a:rPr lang="en-US" b="0" dirty="0"/>
              <a:t>NA</a:t>
            </a:r>
          </a:p>
          <a:p>
            <a:pPr marL="0" marR="0" lvl="0" indent="0" algn="l" defTabSz="914400" rtl="0" eaLnBrk="1" fontAlgn="base" latinLnBrk="0" hangingPunct="1">
              <a:lnSpc>
                <a:spcPct val="100000"/>
              </a:lnSpc>
              <a:spcBef>
                <a:spcPts val="0"/>
              </a:spcBef>
              <a:spcAft>
                <a:spcPts val="0"/>
              </a:spcAft>
              <a:buClrTx/>
              <a:buSzTx/>
              <a:buFontTx/>
              <a:buNone/>
              <a:tabLst/>
              <a:defRPr/>
            </a:pPr>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Arial" panose="020B0604020202020204" pitchFamily="34" charset="0"/>
              </a:rPr>
              <a:t>Development Notes:</a:t>
            </a:r>
            <a:r>
              <a:rPr lang="en-US" sz="1200" b="0" i="0" dirty="0">
                <a:effectLst/>
                <a:latin typeface="+mn-lt"/>
                <a:cs typeface="Arial" panose="020B0604020202020204" pitchFamily="34" charset="0"/>
              </a:rPr>
              <a:t>​</a:t>
            </a:r>
          </a:p>
          <a:p>
            <a:pPr algn="l" rtl="0" fontAlgn="base">
              <a:buFont typeface="Arial" panose="020B0604020202020204" pitchFamily="34" charset="0"/>
              <a:buNone/>
            </a:pPr>
            <a:r>
              <a:rPr lang="en-US" sz="1200" b="0" i="0" u="none" strike="noStrike" dirty="0">
                <a:effectLst/>
                <a:latin typeface="+mn-lt"/>
                <a:cs typeface="Arial" panose="020B0604020202020204" pitchFamily="34" charset="0"/>
              </a:rPr>
              <a:t>This is the continuation from previous screen.</a:t>
            </a:r>
            <a:endParaRPr lang="en-IN" sz="1200" b="0" i="0" dirty="0">
              <a:effectLst/>
              <a:latin typeface="+mn-lt"/>
              <a:cs typeface="Arial" panose="020B0604020202020204" pitchFamily="34" charset="0"/>
            </a:endParaRPr>
          </a:p>
          <a:p>
            <a:pPr algn="l" rtl="0" fontAlgn="base">
              <a:buFont typeface="Arial" panose="020B0604020202020204" pitchFamily="34" charset="0"/>
              <a:buNone/>
            </a:pPr>
            <a:endParaRPr lang="en-IN" sz="1200" b="0" i="0"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Graphics Notes: </a:t>
            </a:r>
            <a:r>
              <a:rPr lang="en-US" sz="1200" b="0" i="0" dirty="0">
                <a:effectLst/>
                <a:latin typeface="+mn-lt"/>
                <a:cs typeface="Arial" panose="020B0604020202020204" pitchFamily="34" charset="0"/>
              </a:rPr>
              <a:t>​</a:t>
            </a:r>
          </a:p>
          <a:p>
            <a:pPr algn="l" rtl="0" fontAlgn="base"/>
            <a:r>
              <a:rPr lang="en-US" sz="1200" b="0" i="0" dirty="0">
                <a:effectLst/>
                <a:latin typeface="+mn-lt"/>
                <a:cs typeface="Arial" panose="020B0604020202020204" pitchFamily="34" charset="0"/>
              </a:rPr>
              <a:t>NA</a:t>
            </a:r>
            <a:endParaRPr lang="en-US" sz="1200" dirty="0">
              <a:latin typeface="+mn-lt"/>
              <a:cs typeface="Arial" panose="020B0604020202020204" pitchFamily="34" charset="0"/>
            </a:endParaRPr>
          </a:p>
          <a:p>
            <a:endParaRPr lang="en-US" sz="1200" dirty="0">
              <a:latin typeface="+mn-lt"/>
              <a:cs typeface="Arial" panose="020B0604020202020204" pitchFamily="34" charset="0"/>
            </a:endParaRPr>
          </a:p>
          <a:p>
            <a:r>
              <a:rPr lang="en-US" sz="1200" b="1" dirty="0">
                <a:latin typeface="+mn-lt"/>
                <a:cs typeface="Arial" panose="020B0604020202020204" pitchFamily="34" charset="0"/>
              </a:rPr>
              <a:t>Image source: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2C2C2C"/>
                </a:solidFill>
                <a:effectLst/>
                <a:latin typeface="adobe-clean"/>
              </a:rPr>
              <a:t>2496759935</a:t>
            </a:r>
            <a:endParaRPr lang="en-US" sz="1200" b="1" dirty="0">
              <a:latin typeface="+mn-lt"/>
              <a:cs typeface="Arial" panose="020B0604020202020204" pitchFamily="34" charset="0"/>
            </a:endParaRPr>
          </a:p>
        </p:txBody>
      </p:sp>
      <p:sp>
        <p:nvSpPr>
          <p:cNvPr id="4" name="Slide Number Placeholder 3">
            <a:extLst>
              <a:ext uri="{FF2B5EF4-FFF2-40B4-BE49-F238E27FC236}">
                <a16:creationId xmlns:a16="http://schemas.microsoft.com/office/drawing/2014/main" id="{CACA8374-2BEA-FE2D-DBDB-A31ABB1930A1}"/>
              </a:ext>
            </a:extLst>
          </p:cNvPr>
          <p:cNvSpPr>
            <a:spLocks noGrp="1"/>
          </p:cNvSpPr>
          <p:nvPr>
            <p:ph type="sldNum" sz="quarter" idx="5"/>
          </p:nvPr>
        </p:nvSpPr>
        <p:spPr/>
        <p:txBody>
          <a:bodyPr/>
          <a:lstStyle/>
          <a:p>
            <a:fld id="{351E557E-5515-4674-B7CA-4465A7A70215}" type="slidenum">
              <a:rPr lang="en-IN" smtClean="0"/>
              <a:t>11</a:t>
            </a:fld>
            <a:endParaRPr lang="en-IN"/>
          </a:p>
        </p:txBody>
      </p:sp>
    </p:spTree>
    <p:extLst>
      <p:ext uri="{BB962C8B-B14F-4D97-AF65-F5344CB8AC3E}">
        <p14:creationId xmlns:p14="http://schemas.microsoft.com/office/powerpoint/2010/main" val="30969798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1C8F7-8A86-4E8A-B859-DAEF655C86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1E2448-DF04-4ECD-CEB9-B62571248895}"/>
              </a:ext>
            </a:extLst>
          </p:cNvPr>
          <p:cNvSpPr>
            <a:spLocks noGrp="1" noRot="1" noChangeAspect="1"/>
          </p:cNvSpPr>
          <p:nvPr>
            <p:ph type="sldImg"/>
          </p:nvPr>
        </p:nvSpPr>
        <p:spPr/>
        <p:txBody>
          <a:bodyPr/>
          <a:lstStyle/>
          <a:p>
            <a:endParaRPr lang="en-UG"/>
          </a:p>
        </p:txBody>
      </p:sp>
      <p:sp>
        <p:nvSpPr>
          <p:cNvPr id="3" name="Notes Placeholder 2">
            <a:extLst>
              <a:ext uri="{FF2B5EF4-FFF2-40B4-BE49-F238E27FC236}">
                <a16:creationId xmlns:a16="http://schemas.microsoft.com/office/drawing/2014/main" id="{A6E67D91-D49D-02F0-16F3-2B8D82BD6A30}"/>
              </a:ext>
            </a:extLst>
          </p:cNvPr>
          <p:cNvSpPr>
            <a:spLocks noGrp="1"/>
          </p:cNvSpPr>
          <p:nvPr>
            <p:ph type="body" idx="1"/>
          </p:nvPr>
        </p:nvSpPr>
        <p:spPr/>
        <p:txBody>
          <a:bodyPr/>
          <a:lstStyle/>
          <a:p>
            <a:pPr algn="l" rtl="0" fontAlgn="base"/>
            <a:r>
              <a:rPr lang="en-IN" sz="1200" b="1" i="0" u="none" strike="noStrike" dirty="0">
                <a:effectLst/>
                <a:latin typeface="+mn-lt"/>
                <a:cs typeface="Arial" panose="020B0604020202020204" pitchFamily="34" charset="0"/>
              </a:rPr>
              <a:t>Screen Duration: </a:t>
            </a:r>
            <a:r>
              <a:rPr lang="en-IN" sz="1200" b="0" i="0" u="none" strike="noStrike" dirty="0">
                <a:effectLst/>
                <a:latin typeface="+mn-lt"/>
                <a:cs typeface="Arial" panose="020B0604020202020204" pitchFamily="34" charset="0"/>
              </a:rPr>
              <a:t>NA</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Arial" panose="020B0604020202020204" pitchFamily="34" charset="0"/>
              </a:rPr>
              <a:t>Screen Type: </a:t>
            </a:r>
            <a:r>
              <a:rPr lang="en-IN" sz="1200" b="0" i="0" u="none" strike="noStrike" dirty="0">
                <a:effectLst/>
                <a:latin typeface="+mn-lt"/>
                <a:cs typeface="Arial" panose="020B0604020202020204" pitchFamily="34" charset="0"/>
              </a:rPr>
              <a:t>Text and tab interactivity</a:t>
            </a:r>
          </a:p>
          <a:p>
            <a:pPr algn="l" rtl="0" fontAlgn="base"/>
            <a:endParaRPr lang="en-IN" sz="1200" b="0" i="0" u="none" strike="noStrike" dirty="0">
              <a:effectLst/>
              <a:latin typeface="+mn-lt"/>
              <a:cs typeface="Arial" panose="020B0604020202020204" pitchFamily="34" charset="0"/>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b="1" dirty="0"/>
              <a:t>Voice over: </a:t>
            </a:r>
            <a:r>
              <a:rPr lang="en-US" b="0" dirty="0"/>
              <a:t>NA</a:t>
            </a:r>
          </a:p>
          <a:p>
            <a:pPr marL="0" marR="0" lvl="0" indent="0" algn="l" defTabSz="914400" rtl="0" eaLnBrk="1" fontAlgn="base" latinLnBrk="0" hangingPunct="1">
              <a:lnSpc>
                <a:spcPct val="100000"/>
              </a:lnSpc>
              <a:spcBef>
                <a:spcPts val="0"/>
              </a:spcBef>
              <a:spcAft>
                <a:spcPts val="0"/>
              </a:spcAft>
              <a:buClrTx/>
              <a:buSzTx/>
              <a:buFontTx/>
              <a:buNone/>
              <a:tabLst/>
              <a:defRPr/>
            </a:pPr>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Arial" panose="020B0604020202020204" pitchFamily="34" charset="0"/>
              </a:rPr>
              <a:t>Development Notes:</a:t>
            </a:r>
            <a:r>
              <a:rPr lang="en-US" sz="1200" b="0" i="0" dirty="0">
                <a:effectLst/>
                <a:latin typeface="+mn-lt"/>
                <a:cs typeface="Arial" panose="020B0604020202020204" pitchFamily="34" charset="0"/>
              </a:rPr>
              <a:t>​</a:t>
            </a:r>
          </a:p>
          <a:p>
            <a:pPr algn="l" rtl="0" fontAlgn="base">
              <a:buFont typeface="Arial" panose="020B0604020202020204" pitchFamily="34" charset="0"/>
              <a:buNone/>
            </a:pPr>
            <a:r>
              <a:rPr lang="en-US" sz="1200" b="0" i="0" u="none" strike="noStrike" dirty="0">
                <a:effectLst/>
                <a:latin typeface="+mn-lt"/>
                <a:cs typeface="Arial" panose="020B0604020202020204" pitchFamily="34" charset="0"/>
              </a:rPr>
              <a:t>This is the continuation from previous screen.</a:t>
            </a:r>
            <a:endParaRPr lang="en-IN" sz="1200" b="0" i="0" dirty="0">
              <a:effectLst/>
              <a:latin typeface="+mn-lt"/>
              <a:cs typeface="Arial" panose="020B0604020202020204" pitchFamily="34" charset="0"/>
            </a:endParaRPr>
          </a:p>
          <a:p>
            <a:pPr algn="l" rtl="0" fontAlgn="base">
              <a:buFont typeface="Arial" panose="020B0604020202020204" pitchFamily="34" charset="0"/>
              <a:buNone/>
            </a:pPr>
            <a:endParaRPr lang="en-IN" sz="1200" b="0" i="0"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Graphics Notes: </a:t>
            </a:r>
            <a:r>
              <a:rPr lang="en-US" sz="1200" b="0" i="0" dirty="0">
                <a:effectLst/>
                <a:latin typeface="+mn-lt"/>
                <a:cs typeface="Arial" panose="020B0604020202020204" pitchFamily="34" charset="0"/>
              </a:rPr>
              <a:t>​</a:t>
            </a:r>
          </a:p>
          <a:p>
            <a:pPr algn="l" rtl="0" fontAlgn="base"/>
            <a:r>
              <a:rPr lang="en-US" sz="1200" b="0" i="0" dirty="0">
                <a:effectLst/>
                <a:latin typeface="+mn-lt"/>
                <a:cs typeface="Arial" panose="020B0604020202020204" pitchFamily="34" charset="0"/>
              </a:rPr>
              <a:t>NA</a:t>
            </a:r>
            <a:endParaRPr lang="en-US" sz="1200" dirty="0">
              <a:latin typeface="+mn-lt"/>
              <a:cs typeface="Arial" panose="020B0604020202020204" pitchFamily="34" charset="0"/>
            </a:endParaRPr>
          </a:p>
          <a:p>
            <a:endParaRPr lang="en-US" sz="1200" dirty="0">
              <a:latin typeface="+mn-lt"/>
              <a:cs typeface="Arial" panose="020B0604020202020204" pitchFamily="34" charset="0"/>
            </a:endParaRPr>
          </a:p>
          <a:p>
            <a:r>
              <a:rPr lang="en-US" sz="1200" b="1" dirty="0">
                <a:latin typeface="+mn-lt"/>
                <a:cs typeface="Arial" panose="020B0604020202020204" pitchFamily="34" charset="0"/>
              </a:rPr>
              <a:t>Image source: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2C2C2C"/>
                </a:solidFill>
                <a:effectLst/>
                <a:latin typeface="adobe-clean"/>
              </a:rPr>
              <a:t>2496759935</a:t>
            </a:r>
            <a:endParaRPr lang="en-US" sz="1200" b="1" dirty="0">
              <a:latin typeface="+mn-lt"/>
              <a:cs typeface="Arial" panose="020B0604020202020204" pitchFamily="34" charset="0"/>
            </a:endParaRPr>
          </a:p>
        </p:txBody>
      </p:sp>
      <p:sp>
        <p:nvSpPr>
          <p:cNvPr id="4" name="Slide Number Placeholder 3">
            <a:extLst>
              <a:ext uri="{FF2B5EF4-FFF2-40B4-BE49-F238E27FC236}">
                <a16:creationId xmlns:a16="http://schemas.microsoft.com/office/drawing/2014/main" id="{0750759F-39D1-4CBD-35C2-9543E803D449}"/>
              </a:ext>
            </a:extLst>
          </p:cNvPr>
          <p:cNvSpPr>
            <a:spLocks noGrp="1"/>
          </p:cNvSpPr>
          <p:nvPr>
            <p:ph type="sldNum" sz="quarter" idx="5"/>
          </p:nvPr>
        </p:nvSpPr>
        <p:spPr/>
        <p:txBody>
          <a:bodyPr/>
          <a:lstStyle/>
          <a:p>
            <a:fld id="{351E557E-5515-4674-B7CA-4465A7A70215}" type="slidenum">
              <a:rPr lang="en-IN" smtClean="0"/>
              <a:t>12</a:t>
            </a:fld>
            <a:endParaRPr lang="en-IN"/>
          </a:p>
        </p:txBody>
      </p:sp>
    </p:spTree>
    <p:extLst>
      <p:ext uri="{BB962C8B-B14F-4D97-AF65-F5344CB8AC3E}">
        <p14:creationId xmlns:p14="http://schemas.microsoft.com/office/powerpoint/2010/main" val="10047772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EFBB6-203A-441A-72A1-3EEDFCDC41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6A2CB7-6405-3F29-138C-EDE0E92E75F3}"/>
              </a:ext>
            </a:extLst>
          </p:cNvPr>
          <p:cNvSpPr>
            <a:spLocks noGrp="1" noRot="1" noChangeAspect="1"/>
          </p:cNvSpPr>
          <p:nvPr>
            <p:ph type="sldImg"/>
          </p:nvPr>
        </p:nvSpPr>
        <p:spPr/>
        <p:txBody>
          <a:bodyPr/>
          <a:lstStyle/>
          <a:p>
            <a:endParaRPr lang="en-UG"/>
          </a:p>
        </p:txBody>
      </p:sp>
      <p:sp>
        <p:nvSpPr>
          <p:cNvPr id="3" name="Notes Placeholder 2">
            <a:extLst>
              <a:ext uri="{FF2B5EF4-FFF2-40B4-BE49-F238E27FC236}">
                <a16:creationId xmlns:a16="http://schemas.microsoft.com/office/drawing/2014/main" id="{64A241AD-DABF-D0BC-1000-E18678587570}"/>
              </a:ext>
            </a:extLst>
          </p:cNvPr>
          <p:cNvSpPr>
            <a:spLocks noGrp="1"/>
          </p:cNvSpPr>
          <p:nvPr>
            <p:ph type="body" idx="1"/>
          </p:nvPr>
        </p:nvSpPr>
        <p:spPr/>
        <p:txBody>
          <a:bodyPr/>
          <a:lstStyle/>
          <a:p>
            <a:pPr algn="l" rtl="0" fontAlgn="base"/>
            <a:r>
              <a:rPr lang="en-IN" sz="1200" b="1" i="0" u="none" strike="noStrike" dirty="0">
                <a:effectLst/>
                <a:latin typeface="+mn-lt"/>
                <a:cs typeface="Arial" panose="020B0604020202020204" pitchFamily="34" charset="0"/>
              </a:rPr>
              <a:t>Screen Duration: </a:t>
            </a:r>
            <a:r>
              <a:rPr lang="en-IN" sz="1200" b="0" i="0" u="none" strike="noStrike" dirty="0">
                <a:effectLst/>
                <a:latin typeface="+mn-lt"/>
                <a:cs typeface="Arial" panose="020B0604020202020204" pitchFamily="34" charset="0"/>
              </a:rPr>
              <a:t>0.5</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Arial" panose="020B0604020202020204" pitchFamily="34" charset="0"/>
              </a:rPr>
              <a:t>Screen Type: </a:t>
            </a:r>
            <a:r>
              <a:rPr lang="en-IN" sz="1200" b="0" i="0" u="none" strike="noStrike" dirty="0">
                <a:effectLst/>
                <a:latin typeface="+mn-lt"/>
                <a:cs typeface="Arial" panose="020B0604020202020204" pitchFamily="34" charset="0"/>
              </a:rPr>
              <a:t>Text and button</a:t>
            </a:r>
          </a:p>
          <a:p>
            <a:pPr algn="l" rtl="0" fontAlgn="base"/>
            <a:endParaRPr lang="en-IN" sz="1200" b="0" i="0" u="none" strike="noStrike" dirty="0">
              <a:effectLst/>
              <a:latin typeface="+mn-lt"/>
              <a:cs typeface="Arial" panose="020B0604020202020204" pitchFamily="34" charset="0"/>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b="1" dirty="0"/>
              <a:t>Voice over: </a:t>
            </a:r>
            <a:r>
              <a:rPr lang="en-US" dirty="0">
                <a:solidFill>
                  <a:schemeClr val="tx1"/>
                </a:solidFill>
              </a:rPr>
              <a:t>That's a lot of cash. but she's been a customer for years. And you don't want to make her feel like a criminal.</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dirty="0">
              <a:solidFill>
                <a:schemeClr val="tx1"/>
              </a:solidFill>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dirty="0">
                <a:solidFill>
                  <a:schemeClr val="tx1"/>
                </a:solidFill>
              </a:rPr>
              <a:t>Select the button to proceed and make your decision.</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IN" sz="1200" b="0" i="0"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Development Notes:</a:t>
            </a:r>
            <a:r>
              <a:rPr lang="en-US" sz="1200" b="0" i="0" dirty="0">
                <a:effectLst/>
                <a:latin typeface="+mn-lt"/>
                <a:cs typeface="Arial" panose="020B0604020202020204" pitchFamily="34" charset="0"/>
              </a:rPr>
              <a:t>​</a:t>
            </a:r>
          </a:p>
          <a:p>
            <a:pPr algn="l" rtl="0" fontAlgn="base">
              <a:buFont typeface="Arial" panose="020B0604020202020204" pitchFamily="34" charset="0"/>
              <a:buNone/>
            </a:pPr>
            <a:r>
              <a:rPr lang="en-US" sz="1200" b="0" i="0" u="none" strike="noStrike" dirty="0">
                <a:effectLst/>
                <a:latin typeface="+mn-lt"/>
                <a:cs typeface="Arial" panose="020B0604020202020204" pitchFamily="34" charset="0"/>
              </a:rPr>
              <a:t>This is new screen.</a:t>
            </a:r>
          </a:p>
          <a:p>
            <a:pPr algn="l" rtl="0" fontAlgn="base">
              <a:buFont typeface="Arial" panose="020B0604020202020204" pitchFamily="34" charset="0"/>
              <a:buNone/>
            </a:pPr>
            <a:r>
              <a:rPr lang="en-US" sz="1200" b="0" i="0" u="none" strike="noStrike" dirty="0">
                <a:effectLst/>
                <a:latin typeface="+mn-lt"/>
                <a:cs typeface="Arial" panose="020B0604020202020204" pitchFamily="34" charset="0"/>
              </a:rPr>
              <a:t>Synch the appearance of OST and VO.</a:t>
            </a:r>
            <a:endParaRPr lang="en-IN" sz="1200" b="0" i="0" dirty="0">
              <a:effectLst/>
              <a:latin typeface="+mn-lt"/>
              <a:cs typeface="Arial" panose="020B0604020202020204" pitchFamily="34" charset="0"/>
            </a:endParaRPr>
          </a:p>
          <a:p>
            <a:pPr algn="l" rtl="0" fontAlgn="base">
              <a:buFont typeface="Arial" panose="020B0604020202020204" pitchFamily="34" charset="0"/>
              <a:buNone/>
            </a:pPr>
            <a:endParaRPr lang="en-IN" sz="1200" b="0" i="0"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Graphics Notes: </a:t>
            </a:r>
            <a:r>
              <a:rPr lang="en-US" sz="1200" b="0" i="0" dirty="0">
                <a:effectLst/>
                <a:latin typeface="+mn-lt"/>
                <a:cs typeface="Arial" panose="020B0604020202020204" pitchFamily="34" charset="0"/>
              </a:rPr>
              <a:t>​</a:t>
            </a:r>
          </a:p>
          <a:p>
            <a:pPr algn="l" rtl="0" fontAlgn="base"/>
            <a:r>
              <a:rPr lang="en-US" sz="1200" b="0" i="0" dirty="0">
                <a:effectLst/>
                <a:latin typeface="+mn-lt"/>
                <a:cs typeface="Arial" panose="020B0604020202020204" pitchFamily="34" charset="0"/>
              </a:rPr>
              <a:t>NA</a:t>
            </a:r>
            <a:endParaRPr lang="en-US" sz="1200" dirty="0">
              <a:latin typeface="+mn-lt"/>
              <a:cs typeface="Arial" panose="020B0604020202020204" pitchFamily="34" charset="0"/>
            </a:endParaRPr>
          </a:p>
          <a:p>
            <a:endParaRPr lang="en-US" sz="1200" dirty="0">
              <a:latin typeface="+mn-lt"/>
              <a:cs typeface="Arial" panose="020B0604020202020204" pitchFamily="34" charset="0"/>
            </a:endParaRPr>
          </a:p>
          <a:p>
            <a:r>
              <a:rPr lang="en-US" sz="1200" b="1" dirty="0">
                <a:latin typeface="+mn-lt"/>
                <a:cs typeface="Arial" panose="020B0604020202020204" pitchFamily="34" charset="0"/>
              </a:rPr>
              <a:t>Image source: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2C2C2C"/>
                </a:solidFill>
                <a:effectLst/>
                <a:latin typeface="adobe-clean"/>
              </a:rPr>
              <a:t>2496759935</a:t>
            </a:r>
            <a:endParaRPr lang="en-US" sz="1200" b="1" dirty="0">
              <a:latin typeface="+mn-lt"/>
              <a:cs typeface="Arial" panose="020B0604020202020204" pitchFamily="34" charset="0"/>
            </a:endParaRPr>
          </a:p>
        </p:txBody>
      </p:sp>
      <p:sp>
        <p:nvSpPr>
          <p:cNvPr id="4" name="Slide Number Placeholder 3">
            <a:extLst>
              <a:ext uri="{FF2B5EF4-FFF2-40B4-BE49-F238E27FC236}">
                <a16:creationId xmlns:a16="http://schemas.microsoft.com/office/drawing/2014/main" id="{9B8EDE65-8CE7-9750-87D5-99F20AE7C5DC}"/>
              </a:ext>
            </a:extLst>
          </p:cNvPr>
          <p:cNvSpPr>
            <a:spLocks noGrp="1"/>
          </p:cNvSpPr>
          <p:nvPr>
            <p:ph type="sldNum" sz="quarter" idx="5"/>
          </p:nvPr>
        </p:nvSpPr>
        <p:spPr/>
        <p:txBody>
          <a:bodyPr/>
          <a:lstStyle/>
          <a:p>
            <a:fld id="{351E557E-5515-4674-B7CA-4465A7A70215}" type="slidenum">
              <a:rPr lang="en-IN" smtClean="0"/>
              <a:t>13</a:t>
            </a:fld>
            <a:endParaRPr lang="en-IN"/>
          </a:p>
        </p:txBody>
      </p:sp>
    </p:spTree>
    <p:extLst>
      <p:ext uri="{BB962C8B-B14F-4D97-AF65-F5344CB8AC3E}">
        <p14:creationId xmlns:p14="http://schemas.microsoft.com/office/powerpoint/2010/main" val="29266969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IN" sz="1200" b="1" i="0" u="none" strike="noStrike" dirty="0">
                <a:effectLst/>
                <a:latin typeface="+mn-lt"/>
                <a:cs typeface="Arial" panose="020B0604020202020204" pitchFamily="34" charset="0"/>
              </a:rPr>
              <a:t>Screen Duration: </a:t>
            </a:r>
            <a:r>
              <a:rPr lang="en-IN" sz="1200" b="0" i="0" u="none" strike="noStrike" dirty="0">
                <a:effectLst/>
                <a:latin typeface="+mn-lt"/>
                <a:cs typeface="Arial" panose="020B0604020202020204" pitchFamily="34" charset="0"/>
              </a:rPr>
              <a:t>0.5 min</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Calibri"/>
              </a:rPr>
              <a:t>Screen Type: </a:t>
            </a:r>
            <a:r>
              <a:rPr lang="en-IN" sz="1200" b="0" i="0" u="none" strike="noStrike" dirty="0">
                <a:effectLst/>
                <a:latin typeface="+mn-lt"/>
                <a:cs typeface="Calibri"/>
              </a:rPr>
              <a:t>Branching scenario/ Tabs or Cards</a:t>
            </a:r>
          </a:p>
          <a:p>
            <a:pPr algn="l" rtl="0" fontAlgn="base"/>
            <a:endParaRPr lang="en-IN" sz="1200" b="0" i="0" u="none" strike="noStrike" dirty="0">
              <a:effectLst/>
              <a:latin typeface="+mn-lt"/>
              <a:cs typeface="Calibri"/>
            </a:endParaRPr>
          </a:p>
          <a:p>
            <a:pPr algn="l" rtl="0" fontAlgn="base"/>
            <a:r>
              <a:rPr lang="en-US" b="1" dirty="0"/>
              <a:t>Voice over: </a:t>
            </a:r>
            <a:r>
              <a:rPr lang="en-US" b="0" dirty="0"/>
              <a:t>Now, Maria is waiting at your window with a deposit slip.</a:t>
            </a:r>
          </a:p>
          <a:p>
            <a:pPr algn="l" rtl="0" fontAlgn="base"/>
            <a:r>
              <a:rPr lang="en-US" sz="1200" b="0" i="0" u="none" strike="noStrike" dirty="0">
                <a:effectLst/>
                <a:latin typeface="+mn-lt"/>
                <a:cs typeface="Calibri"/>
              </a:rPr>
              <a:t>Select each of the scenario to make an informed decision about Maria.</a:t>
            </a:r>
            <a:endParaRPr lang="en-IN" sz="1200" b="0" i="0" u="none" strike="noStrike" dirty="0">
              <a:effectLst/>
              <a:latin typeface="+mn-lt"/>
              <a:cs typeface="Calibri"/>
            </a:endParaRPr>
          </a:p>
          <a:p>
            <a:pPr algn="l" rtl="0" fontAlgn="base"/>
            <a:endParaRPr lang="en-IN" sz="1200" b="0" i="0"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Development Notes:</a:t>
            </a:r>
            <a:r>
              <a:rPr lang="en-US" sz="1200" b="0" i="0" dirty="0">
                <a:effectLst/>
                <a:latin typeface="+mn-lt"/>
                <a:cs typeface="Arial" panose="020B0604020202020204" pitchFamily="34" charset="0"/>
              </a:rPr>
              <a:t>​</a:t>
            </a:r>
          </a:p>
          <a:p>
            <a:pPr algn="l" rtl="0" fontAlgn="base"/>
            <a:r>
              <a:rPr lang="en-US" sz="1200" b="0" i="0" dirty="0">
                <a:effectLst/>
                <a:latin typeface="+mn-lt"/>
                <a:cs typeface="Arial" panose="020B0604020202020204" pitchFamily="34" charset="0"/>
              </a:rPr>
              <a:t>Create a branching scenario interactivity. The next screen shows the decision on every selection.</a:t>
            </a:r>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b="0" i="0" u="none" strike="noStrike" dirty="0">
                <a:effectLst/>
                <a:latin typeface="+mn-lt"/>
                <a:cs typeface="Arial" panose="020B0604020202020204" pitchFamily="34" charset="0"/>
              </a:rPr>
              <a:t>Synch the appearance of OST and VO.</a:t>
            </a:r>
            <a:endParaRPr lang="en-IN" sz="1200" b="0" i="0" dirty="0">
              <a:effectLst/>
              <a:latin typeface="+mn-lt"/>
              <a:cs typeface="Arial" panose="020B0604020202020204" pitchFamily="34" charset="0"/>
            </a:endParaRPr>
          </a:p>
          <a:p>
            <a:pPr algn="l" rtl="0" fontAlgn="base"/>
            <a:endParaRPr lang="en-US" sz="1200" b="0" i="0" dirty="0">
              <a:effectLst/>
              <a:latin typeface="+mn-lt"/>
              <a:cs typeface="Arial" panose="020B0604020202020204" pitchFamily="34" charset="0"/>
            </a:endParaRPr>
          </a:p>
          <a:p>
            <a:pPr algn="l" rtl="0" fontAlgn="base"/>
            <a:endParaRPr lang="en-IN" sz="1200" b="1" i="0" u="none" strike="noStrike"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Graphics Notes: </a:t>
            </a:r>
            <a:r>
              <a:rPr lang="en-US" sz="1200" b="0" i="0" dirty="0">
                <a:effectLst/>
                <a:latin typeface="+mn-lt"/>
                <a:cs typeface="Arial" panose="020B0604020202020204" pitchFamily="34" charset="0"/>
              </a:rPr>
              <a:t>​</a:t>
            </a:r>
          </a:p>
          <a:p>
            <a:r>
              <a:rPr lang="en-US" sz="1200" dirty="0">
                <a:latin typeface="+mn-lt"/>
                <a:cs typeface="Arial" panose="020B0604020202020204" pitchFamily="34" charset="0"/>
              </a:rPr>
              <a:t>NA</a:t>
            </a:r>
          </a:p>
          <a:p>
            <a:endParaRPr lang="en-US" sz="1200" dirty="0">
              <a:latin typeface="+mn-lt"/>
              <a:cs typeface="Arial" panose="020B0604020202020204" pitchFamily="34" charset="0"/>
            </a:endParaRPr>
          </a:p>
          <a:p>
            <a:r>
              <a:rPr lang="en-US" sz="1200" b="1" dirty="0">
                <a:latin typeface="+mn-lt"/>
                <a:cs typeface="Arial" panose="020B0604020202020204" pitchFamily="34" charset="0"/>
              </a:rPr>
              <a:t>Image source:</a:t>
            </a:r>
            <a:endParaRPr lang="en-UG" dirty="0"/>
          </a:p>
          <a:p>
            <a:r>
              <a:rPr lang="en-UG" dirty="0"/>
              <a:t>2457080347</a:t>
            </a:r>
            <a:endParaRPr lang="en-US" dirty="0"/>
          </a:p>
          <a:p>
            <a:r>
              <a:rPr lang="en-UG" dirty="0"/>
              <a:t>2454682679</a:t>
            </a:r>
            <a:endParaRPr lang="en-US" dirty="0"/>
          </a:p>
          <a:p>
            <a:r>
              <a:rPr lang="en-UG" dirty="0"/>
              <a:t>2454682683</a:t>
            </a:r>
          </a:p>
        </p:txBody>
      </p:sp>
      <p:sp>
        <p:nvSpPr>
          <p:cNvPr id="4" name="Slide Number Placeholder 3"/>
          <p:cNvSpPr>
            <a:spLocks noGrp="1"/>
          </p:cNvSpPr>
          <p:nvPr>
            <p:ph type="sldNum" sz="quarter" idx="5"/>
          </p:nvPr>
        </p:nvSpPr>
        <p:spPr/>
        <p:txBody>
          <a:bodyPr/>
          <a:lstStyle/>
          <a:p>
            <a:fld id="{4B343387-4FD4-4B31-B095-AB04F9B0EB4B}" type="slidenum">
              <a:rPr lang="en-US" smtClean="0"/>
              <a:t>14</a:t>
            </a:fld>
            <a:endParaRPr lang="en-US"/>
          </a:p>
        </p:txBody>
      </p:sp>
    </p:spTree>
    <p:extLst>
      <p:ext uri="{BB962C8B-B14F-4D97-AF65-F5344CB8AC3E}">
        <p14:creationId xmlns:p14="http://schemas.microsoft.com/office/powerpoint/2010/main" val="625761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G"/>
          </a:p>
        </p:txBody>
      </p:sp>
      <p:sp>
        <p:nvSpPr>
          <p:cNvPr id="3" name="Notes Placeholder 2"/>
          <p:cNvSpPr>
            <a:spLocks noGrp="1"/>
          </p:cNvSpPr>
          <p:nvPr>
            <p:ph type="body" idx="1"/>
          </p:nvPr>
        </p:nvSpPr>
        <p:spPr/>
        <p:txBody>
          <a:bodyPr/>
          <a:lstStyle/>
          <a:p>
            <a:pPr algn="l" rtl="0" fontAlgn="base"/>
            <a:r>
              <a:rPr lang="en-IN" sz="1200" b="1" i="0" u="none" strike="noStrike" dirty="0">
                <a:effectLst/>
                <a:latin typeface="+mn-lt"/>
                <a:cs typeface="Arial" panose="020B0604020202020204" pitchFamily="34" charset="0"/>
              </a:rPr>
              <a:t>Screen Duration: </a:t>
            </a:r>
            <a:r>
              <a:rPr lang="en-IN" sz="1200" b="0" i="0" u="none" strike="noStrike" dirty="0">
                <a:effectLst/>
                <a:latin typeface="+mn-lt"/>
                <a:cs typeface="Arial" panose="020B0604020202020204" pitchFamily="34" charset="0"/>
              </a:rPr>
              <a:t>NA</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Calibri"/>
              </a:rPr>
              <a:t>Screen Type: </a:t>
            </a:r>
            <a:r>
              <a:rPr lang="en-IN" sz="1200" b="0" i="0" u="none" strike="noStrike" dirty="0">
                <a:effectLst/>
                <a:latin typeface="+mn-lt"/>
                <a:cs typeface="Calibri"/>
              </a:rPr>
              <a:t>Branching scenario</a:t>
            </a:r>
          </a:p>
          <a:p>
            <a:pPr algn="l" rtl="0" fontAlgn="base"/>
            <a:endParaRPr lang="en-IN" sz="1200" b="0" i="0" u="none" strike="noStrike"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Voice Over: </a:t>
            </a:r>
            <a:r>
              <a:rPr lang="en-US" dirty="0"/>
              <a:t>Maria was being coerced by an organized crime ring to deposit stolen funds. This $45,000 was proceeds from elderly victims' drained accounts. Because the transaction wasn't flagged, the scheme continued for six more months.</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Arial" panose="020B0604020202020204" pitchFamily="34" charset="0"/>
              </a:rPr>
              <a:t>Development Notes:</a:t>
            </a:r>
            <a:r>
              <a:rPr lang="en-US" sz="1200" b="0" i="0" dirty="0">
                <a:effectLst/>
                <a:latin typeface="+mn-lt"/>
                <a:cs typeface="Arial" panose="020B0604020202020204" pitchFamily="34" charset="0"/>
              </a:rPr>
              <a:t>​</a:t>
            </a:r>
          </a:p>
          <a:p>
            <a:pPr algn="l" rtl="0" fontAlgn="base"/>
            <a:r>
              <a:rPr lang="en-US" sz="1200" b="0" i="0" dirty="0">
                <a:effectLst/>
                <a:latin typeface="+mn-lt"/>
                <a:cs typeface="Arial" panose="020B0604020202020204" pitchFamily="34" charset="0"/>
              </a:rPr>
              <a:t>This is the continuation of the previous screen.</a:t>
            </a:r>
          </a:p>
          <a:p>
            <a:pPr algn="l" rtl="0" fontAlgn="base"/>
            <a:r>
              <a:rPr lang="en-US" sz="1200" b="0" i="0" dirty="0">
                <a:effectLst/>
                <a:latin typeface="+mn-lt"/>
                <a:cs typeface="Arial" panose="020B0604020202020204" pitchFamily="34" charset="0"/>
              </a:rPr>
              <a:t>Make this newspaper section appear on the screen first and then fade it away and show the information given on next screen.</a:t>
            </a:r>
          </a:p>
          <a:p>
            <a:pPr algn="l" rtl="0" fontAlgn="base">
              <a:buFont typeface="Arial" panose="020B0604020202020204" pitchFamily="34" charset="0"/>
              <a:buNone/>
            </a:pPr>
            <a:endParaRPr lang="en-IN" sz="1200" b="0" i="0"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Graphics Notes: </a:t>
            </a:r>
            <a:r>
              <a:rPr lang="en-US" sz="1200" b="0" i="0" dirty="0">
                <a:effectLst/>
                <a:latin typeface="+mn-lt"/>
                <a:cs typeface="Arial" panose="020B0604020202020204" pitchFamily="34" charset="0"/>
              </a:rPr>
              <a:t>​</a:t>
            </a:r>
          </a:p>
          <a:p>
            <a:r>
              <a:rPr lang="en-US" sz="1200" dirty="0">
                <a:latin typeface="+mn-lt"/>
                <a:cs typeface="Arial" panose="020B0604020202020204" pitchFamily="34" charset="0"/>
              </a:rPr>
              <a:t>Show the newspaper headline and details as shown on screen. </a:t>
            </a:r>
          </a:p>
          <a:p>
            <a:endParaRPr lang="en-US" sz="1200" dirty="0">
              <a:latin typeface="+mn-lt"/>
              <a:cs typeface="Arial" panose="020B0604020202020204" pitchFamily="34" charset="0"/>
            </a:endParaRPr>
          </a:p>
          <a:p>
            <a:r>
              <a:rPr lang="en-US" sz="1200" b="1" dirty="0">
                <a:latin typeface="+mn-lt"/>
                <a:cs typeface="Arial" panose="020B0604020202020204" pitchFamily="34" charset="0"/>
              </a:rPr>
              <a:t>Image source: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latin typeface="+mn-lt"/>
                <a:cs typeface="Arial" panose="020B0604020202020204" pitchFamily="34" charset="0"/>
              </a:rPr>
              <a:t>2320715823</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latin typeface="+mn-lt"/>
              <a:cs typeface="Arial" panose="020B0604020202020204" pitchFamily="34" charset="0"/>
            </a:endParaRPr>
          </a:p>
        </p:txBody>
      </p:sp>
      <p:sp>
        <p:nvSpPr>
          <p:cNvPr id="4" name="Slide Number Placeholder 3"/>
          <p:cNvSpPr>
            <a:spLocks noGrp="1"/>
          </p:cNvSpPr>
          <p:nvPr>
            <p:ph type="sldNum" sz="quarter" idx="5"/>
          </p:nvPr>
        </p:nvSpPr>
        <p:spPr/>
        <p:txBody>
          <a:bodyPr/>
          <a:lstStyle/>
          <a:p>
            <a:fld id="{351E557E-5515-4674-B7CA-4465A7A70215}" type="slidenum">
              <a:rPr lang="en-IN" smtClean="0"/>
              <a:t>15</a:t>
            </a:fld>
            <a:endParaRPr lang="en-IN"/>
          </a:p>
        </p:txBody>
      </p:sp>
    </p:spTree>
    <p:extLst>
      <p:ext uri="{BB962C8B-B14F-4D97-AF65-F5344CB8AC3E}">
        <p14:creationId xmlns:p14="http://schemas.microsoft.com/office/powerpoint/2010/main" val="40380305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3D461-9925-C994-31E6-1DEC908001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A594AB-C2D1-8545-5561-020DACD3FFFA}"/>
              </a:ext>
            </a:extLst>
          </p:cNvPr>
          <p:cNvSpPr>
            <a:spLocks noGrp="1" noRot="1" noChangeAspect="1"/>
          </p:cNvSpPr>
          <p:nvPr>
            <p:ph type="sldImg"/>
          </p:nvPr>
        </p:nvSpPr>
        <p:spPr/>
        <p:txBody>
          <a:bodyPr/>
          <a:lstStyle/>
          <a:p>
            <a:endParaRPr lang="en-UG"/>
          </a:p>
        </p:txBody>
      </p:sp>
      <p:sp>
        <p:nvSpPr>
          <p:cNvPr id="3" name="Notes Placeholder 2">
            <a:extLst>
              <a:ext uri="{FF2B5EF4-FFF2-40B4-BE49-F238E27FC236}">
                <a16:creationId xmlns:a16="http://schemas.microsoft.com/office/drawing/2014/main" id="{C410F7C3-30D5-3BC1-6A83-059E0938F0D3}"/>
              </a:ext>
            </a:extLst>
          </p:cNvPr>
          <p:cNvSpPr>
            <a:spLocks noGrp="1"/>
          </p:cNvSpPr>
          <p:nvPr>
            <p:ph type="body" idx="1"/>
          </p:nvPr>
        </p:nvSpPr>
        <p:spPr/>
        <p:txBody>
          <a:bodyPr/>
          <a:lstStyle/>
          <a:p>
            <a:pPr algn="l" rtl="0" fontAlgn="base"/>
            <a:r>
              <a:rPr lang="en-IN" sz="1200" b="1" i="0" u="none" strike="noStrike" dirty="0">
                <a:effectLst/>
                <a:latin typeface="+mn-lt"/>
                <a:cs typeface="Arial" panose="020B0604020202020204" pitchFamily="34" charset="0"/>
              </a:rPr>
              <a:t>Screen Duration: </a:t>
            </a:r>
            <a:r>
              <a:rPr lang="en-IN" sz="1200" b="0" i="0" u="none" strike="noStrike" dirty="0">
                <a:effectLst/>
                <a:latin typeface="+mn-lt"/>
                <a:cs typeface="Arial" panose="020B0604020202020204" pitchFamily="34" charset="0"/>
              </a:rPr>
              <a:t>NA</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Calibri"/>
              </a:rPr>
              <a:t>Screen Type: </a:t>
            </a:r>
            <a:r>
              <a:rPr lang="en-IN" sz="1200" b="0" i="0" u="none" strike="noStrike" dirty="0">
                <a:effectLst/>
                <a:latin typeface="+mn-lt"/>
                <a:cs typeface="Calibri"/>
              </a:rPr>
              <a:t>Branching scenario</a:t>
            </a:r>
          </a:p>
          <a:p>
            <a:pPr algn="l" rtl="0" fontAlgn="base"/>
            <a:endParaRPr lang="en-IN" sz="1200" b="0" i="0" u="none" strike="noStrike"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Voice Over: </a:t>
            </a:r>
            <a:r>
              <a:rPr lang="en-US" dirty="0"/>
              <a:t>NA</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Arial" panose="020B0604020202020204" pitchFamily="34" charset="0"/>
              </a:rPr>
              <a:t>Development Notes:</a:t>
            </a:r>
            <a:r>
              <a:rPr lang="en-US" sz="1200" b="0" i="0" dirty="0">
                <a:effectLst/>
                <a:latin typeface="+mn-lt"/>
                <a:cs typeface="Arial" panose="020B0604020202020204" pitchFamily="34" charset="0"/>
              </a:rPr>
              <a:t>​</a:t>
            </a:r>
          </a:p>
          <a:p>
            <a:pPr algn="l" rtl="0" fontAlgn="base"/>
            <a:r>
              <a:rPr lang="en-US" sz="1200" b="0" i="0" dirty="0">
                <a:effectLst/>
                <a:latin typeface="+mn-lt"/>
                <a:cs typeface="Arial" panose="020B0604020202020204" pitchFamily="34" charset="0"/>
              </a:rPr>
              <a:t>This is the continuation of the previous screen.</a:t>
            </a:r>
          </a:p>
          <a:p>
            <a:pPr algn="l" rtl="0" fontAlgn="base"/>
            <a:r>
              <a:rPr lang="en-US" sz="1200" b="0" i="0" dirty="0">
                <a:effectLst/>
                <a:latin typeface="+mn-lt"/>
                <a:cs typeface="Arial" panose="020B0604020202020204" pitchFamily="34" charset="0"/>
              </a:rPr>
              <a:t>The try again button brings back to screen 14.</a:t>
            </a:r>
          </a:p>
          <a:p>
            <a:pPr algn="l" rtl="0" fontAlgn="base">
              <a:buFont typeface="Arial" panose="020B0604020202020204" pitchFamily="34" charset="0"/>
              <a:buNone/>
            </a:pPr>
            <a:endParaRPr lang="en-IN" sz="1200" b="0" i="0"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Graphics Notes: </a:t>
            </a:r>
            <a:r>
              <a:rPr lang="en-US" sz="1200" b="0" i="0" dirty="0">
                <a:effectLst/>
                <a:latin typeface="+mn-lt"/>
                <a:cs typeface="Arial" panose="020B0604020202020204" pitchFamily="34" charset="0"/>
              </a:rPr>
              <a:t>​</a:t>
            </a:r>
          </a:p>
          <a:p>
            <a:r>
              <a:rPr lang="en-US" sz="1200" dirty="0">
                <a:latin typeface="+mn-lt"/>
                <a:cs typeface="Arial" panose="020B0604020202020204" pitchFamily="34" charset="0"/>
              </a:rPr>
              <a:t>NA</a:t>
            </a:r>
          </a:p>
          <a:p>
            <a:endParaRPr lang="en-US" sz="1200" dirty="0">
              <a:latin typeface="+mn-lt"/>
              <a:cs typeface="Arial" panose="020B0604020202020204" pitchFamily="34" charset="0"/>
            </a:endParaRPr>
          </a:p>
          <a:p>
            <a:r>
              <a:rPr lang="en-US" sz="1200" b="1" dirty="0">
                <a:latin typeface="+mn-lt"/>
                <a:cs typeface="Arial" panose="020B0604020202020204" pitchFamily="34" charset="0"/>
              </a:rPr>
              <a:t>Image source: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latin typeface="+mn-lt"/>
                <a:cs typeface="Arial" panose="020B0604020202020204" pitchFamily="34" charset="0"/>
              </a:rPr>
              <a:t>NA</a:t>
            </a:r>
          </a:p>
        </p:txBody>
      </p:sp>
      <p:sp>
        <p:nvSpPr>
          <p:cNvPr id="4" name="Slide Number Placeholder 3">
            <a:extLst>
              <a:ext uri="{FF2B5EF4-FFF2-40B4-BE49-F238E27FC236}">
                <a16:creationId xmlns:a16="http://schemas.microsoft.com/office/drawing/2014/main" id="{D3BC5633-C83D-959D-DE5B-FFA8EAF00E80}"/>
              </a:ext>
            </a:extLst>
          </p:cNvPr>
          <p:cNvSpPr>
            <a:spLocks noGrp="1"/>
          </p:cNvSpPr>
          <p:nvPr>
            <p:ph type="sldNum" sz="quarter" idx="5"/>
          </p:nvPr>
        </p:nvSpPr>
        <p:spPr/>
        <p:txBody>
          <a:bodyPr/>
          <a:lstStyle/>
          <a:p>
            <a:fld id="{351E557E-5515-4674-B7CA-4465A7A70215}" type="slidenum">
              <a:rPr lang="en-IN" smtClean="0"/>
              <a:t>16</a:t>
            </a:fld>
            <a:endParaRPr lang="en-IN"/>
          </a:p>
        </p:txBody>
      </p:sp>
    </p:spTree>
    <p:extLst>
      <p:ext uri="{BB962C8B-B14F-4D97-AF65-F5344CB8AC3E}">
        <p14:creationId xmlns:p14="http://schemas.microsoft.com/office/powerpoint/2010/main" val="24856016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92789-9F3A-8E87-D546-E46CD8BF61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8AA6E0-A76D-B649-FFFC-CE4B108F4271}"/>
              </a:ext>
            </a:extLst>
          </p:cNvPr>
          <p:cNvSpPr>
            <a:spLocks noGrp="1" noRot="1" noChangeAspect="1"/>
          </p:cNvSpPr>
          <p:nvPr>
            <p:ph type="sldImg"/>
          </p:nvPr>
        </p:nvSpPr>
        <p:spPr/>
        <p:txBody>
          <a:bodyPr/>
          <a:lstStyle/>
          <a:p>
            <a:endParaRPr lang="en-UG"/>
          </a:p>
        </p:txBody>
      </p:sp>
      <p:sp>
        <p:nvSpPr>
          <p:cNvPr id="3" name="Notes Placeholder 2">
            <a:extLst>
              <a:ext uri="{FF2B5EF4-FFF2-40B4-BE49-F238E27FC236}">
                <a16:creationId xmlns:a16="http://schemas.microsoft.com/office/drawing/2014/main" id="{C0AD6DC9-57EF-A110-E11F-BD8074482102}"/>
              </a:ext>
            </a:extLst>
          </p:cNvPr>
          <p:cNvSpPr>
            <a:spLocks noGrp="1"/>
          </p:cNvSpPr>
          <p:nvPr>
            <p:ph type="body" idx="1"/>
          </p:nvPr>
        </p:nvSpPr>
        <p:spPr/>
        <p:txBody>
          <a:bodyPr/>
          <a:lstStyle/>
          <a:p>
            <a:pPr algn="l" rtl="0" fontAlgn="base"/>
            <a:r>
              <a:rPr lang="en-IN" sz="1200" b="1" i="0" u="none" strike="noStrike" dirty="0">
                <a:effectLst/>
                <a:latin typeface="+mn-lt"/>
                <a:cs typeface="Arial" panose="020B0604020202020204" pitchFamily="34" charset="0"/>
              </a:rPr>
              <a:t>Screen Duration: </a:t>
            </a:r>
            <a:r>
              <a:rPr lang="en-IN" sz="1200" b="0" i="0" u="none" strike="noStrike" dirty="0">
                <a:effectLst/>
                <a:latin typeface="+mn-lt"/>
                <a:cs typeface="Arial" panose="020B0604020202020204" pitchFamily="34" charset="0"/>
              </a:rPr>
              <a:t>NA</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Calibri"/>
              </a:rPr>
              <a:t>Screen Type: </a:t>
            </a:r>
            <a:r>
              <a:rPr lang="en-IN" sz="1200" b="0" i="0" u="none" strike="noStrike" dirty="0">
                <a:effectLst/>
                <a:latin typeface="+mn-lt"/>
                <a:cs typeface="Calibri"/>
              </a:rPr>
              <a:t>Branching scenario</a:t>
            </a:r>
          </a:p>
          <a:p>
            <a:pPr algn="l" rtl="0" fontAlgn="base"/>
            <a:endParaRPr lang="en-IN" sz="1200" b="0" i="0" u="none" strike="noStrike"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Voice Over: </a:t>
            </a:r>
            <a:r>
              <a:rPr lang="en-US" sz="1200" b="0" i="0" u="none" strike="noStrike" dirty="0">
                <a:effectLst/>
                <a:latin typeface="+mn-lt"/>
                <a:cs typeface="Arial" panose="020B0604020202020204" pitchFamily="34" charset="0"/>
              </a:rPr>
              <a:t>Same as conversation.</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Arial" panose="020B0604020202020204" pitchFamily="34" charset="0"/>
              </a:rPr>
              <a:t>Development Notes:</a:t>
            </a:r>
            <a:r>
              <a:rPr lang="en-US" sz="1200" b="0" i="0" dirty="0">
                <a:effectLst/>
                <a:latin typeface="+mn-lt"/>
                <a:cs typeface="Arial" panose="020B0604020202020204" pitchFamily="34" charset="0"/>
              </a:rPr>
              <a:t>​</a:t>
            </a:r>
          </a:p>
          <a:p>
            <a:pPr algn="l" rtl="0" fontAlgn="base"/>
            <a:r>
              <a:rPr lang="en-US" sz="1200" b="0" i="0" dirty="0">
                <a:effectLst/>
                <a:latin typeface="+mn-lt"/>
                <a:cs typeface="Arial" panose="020B0604020202020204" pitchFamily="34" charset="0"/>
              </a:rPr>
              <a:t>This is the continuation of the previous screen.</a:t>
            </a:r>
          </a:p>
          <a:p>
            <a:pPr algn="l" rtl="0" fontAlgn="base"/>
            <a:r>
              <a:rPr lang="en-US" sz="1200" b="0" i="0" dirty="0">
                <a:effectLst/>
                <a:latin typeface="+mn-lt"/>
                <a:cs typeface="Arial" panose="020B0604020202020204" pitchFamily="34" charset="0"/>
              </a:rPr>
              <a:t>Make the dialogues appear one by one on screen with animation and same voice over as conversation.</a:t>
            </a:r>
          </a:p>
          <a:p>
            <a:pPr algn="l" rtl="0" fontAlgn="base">
              <a:buFont typeface="Arial" panose="020B0604020202020204" pitchFamily="34" charset="0"/>
              <a:buNone/>
            </a:pPr>
            <a:endParaRPr lang="en-IN" sz="1200" b="0" i="0"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Graphics Notes: </a:t>
            </a:r>
            <a:r>
              <a:rPr lang="en-US" sz="1200" b="0" i="0" dirty="0">
                <a:effectLst/>
                <a:latin typeface="+mn-lt"/>
                <a:cs typeface="Arial" panose="020B0604020202020204" pitchFamily="34" charset="0"/>
              </a:rPr>
              <a:t>​</a:t>
            </a:r>
          </a:p>
          <a:p>
            <a:r>
              <a:rPr lang="en-US" sz="1200" dirty="0">
                <a:latin typeface="+mn-lt"/>
                <a:cs typeface="Arial" panose="020B0604020202020204" pitchFamily="34" charset="0"/>
              </a:rPr>
              <a:t>NA</a:t>
            </a:r>
          </a:p>
          <a:p>
            <a:endParaRPr lang="en-US" sz="1200" dirty="0">
              <a:latin typeface="+mn-lt"/>
              <a:cs typeface="Arial" panose="020B0604020202020204" pitchFamily="34" charset="0"/>
            </a:endParaRPr>
          </a:p>
          <a:p>
            <a:r>
              <a:rPr lang="en-US" sz="1200" b="1" dirty="0">
                <a:latin typeface="+mn-lt"/>
                <a:cs typeface="Arial" panose="020B0604020202020204" pitchFamily="34" charset="0"/>
              </a:rPr>
              <a:t>Image source:</a:t>
            </a:r>
          </a:p>
          <a:p>
            <a:r>
              <a:rPr lang="en-US" sz="1200" b="0" dirty="0">
                <a:latin typeface="+mn-lt"/>
                <a:cs typeface="Arial" panose="020B0604020202020204" pitchFamily="34" charset="0"/>
              </a:rPr>
              <a:t>2454390621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2C2C2C"/>
                </a:solidFill>
                <a:effectLst/>
                <a:latin typeface="adobe-clean"/>
              </a:rPr>
              <a:t>2491902319</a:t>
            </a:r>
            <a:endParaRPr lang="en-US" sz="1200" b="1" dirty="0">
              <a:latin typeface="+mn-lt"/>
              <a:cs typeface="Arial" panose="020B0604020202020204" pitchFamily="34" charset="0"/>
            </a:endParaRPr>
          </a:p>
        </p:txBody>
      </p:sp>
      <p:sp>
        <p:nvSpPr>
          <p:cNvPr id="4" name="Slide Number Placeholder 3">
            <a:extLst>
              <a:ext uri="{FF2B5EF4-FFF2-40B4-BE49-F238E27FC236}">
                <a16:creationId xmlns:a16="http://schemas.microsoft.com/office/drawing/2014/main" id="{F0154B88-4003-D4D9-0DCD-AB30F74459EF}"/>
              </a:ext>
            </a:extLst>
          </p:cNvPr>
          <p:cNvSpPr>
            <a:spLocks noGrp="1"/>
          </p:cNvSpPr>
          <p:nvPr>
            <p:ph type="sldNum" sz="quarter" idx="5"/>
          </p:nvPr>
        </p:nvSpPr>
        <p:spPr/>
        <p:txBody>
          <a:bodyPr/>
          <a:lstStyle/>
          <a:p>
            <a:fld id="{351E557E-5515-4674-B7CA-4465A7A70215}" type="slidenum">
              <a:rPr lang="en-IN" smtClean="0"/>
              <a:t>17</a:t>
            </a:fld>
            <a:endParaRPr lang="en-IN"/>
          </a:p>
        </p:txBody>
      </p:sp>
    </p:spTree>
    <p:extLst>
      <p:ext uri="{BB962C8B-B14F-4D97-AF65-F5344CB8AC3E}">
        <p14:creationId xmlns:p14="http://schemas.microsoft.com/office/powerpoint/2010/main" val="38290268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DF08C-7046-0BE1-D6BB-576C6D2F69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336954-8437-E6F6-F505-28D17037FB0B}"/>
              </a:ext>
            </a:extLst>
          </p:cNvPr>
          <p:cNvSpPr>
            <a:spLocks noGrp="1" noRot="1" noChangeAspect="1"/>
          </p:cNvSpPr>
          <p:nvPr>
            <p:ph type="sldImg"/>
          </p:nvPr>
        </p:nvSpPr>
        <p:spPr/>
        <p:txBody>
          <a:bodyPr/>
          <a:lstStyle/>
          <a:p>
            <a:endParaRPr lang="en-UG"/>
          </a:p>
        </p:txBody>
      </p:sp>
      <p:sp>
        <p:nvSpPr>
          <p:cNvPr id="3" name="Notes Placeholder 2">
            <a:extLst>
              <a:ext uri="{FF2B5EF4-FFF2-40B4-BE49-F238E27FC236}">
                <a16:creationId xmlns:a16="http://schemas.microsoft.com/office/drawing/2014/main" id="{4EB1726A-EFD8-3FE5-7656-3077781C66AE}"/>
              </a:ext>
            </a:extLst>
          </p:cNvPr>
          <p:cNvSpPr>
            <a:spLocks noGrp="1"/>
          </p:cNvSpPr>
          <p:nvPr>
            <p:ph type="body" idx="1"/>
          </p:nvPr>
        </p:nvSpPr>
        <p:spPr/>
        <p:txBody>
          <a:bodyPr/>
          <a:lstStyle/>
          <a:p>
            <a:pPr algn="l" rtl="0" fontAlgn="base"/>
            <a:r>
              <a:rPr lang="en-IN" sz="1200" b="1" i="0" u="none" strike="noStrike" dirty="0">
                <a:effectLst/>
                <a:latin typeface="+mn-lt"/>
                <a:cs typeface="Arial" panose="020B0604020202020204" pitchFamily="34" charset="0"/>
              </a:rPr>
              <a:t>Screen Duration: </a:t>
            </a:r>
            <a:r>
              <a:rPr lang="en-IN" sz="1200" b="0" i="0" u="none" strike="noStrike" dirty="0">
                <a:effectLst/>
                <a:latin typeface="+mn-lt"/>
                <a:cs typeface="Arial" panose="020B0604020202020204" pitchFamily="34" charset="0"/>
              </a:rPr>
              <a:t>NA</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Calibri"/>
              </a:rPr>
              <a:t>Screen Type: </a:t>
            </a:r>
            <a:r>
              <a:rPr lang="en-IN" sz="1200" b="0" i="0" u="none" strike="noStrike" dirty="0">
                <a:effectLst/>
                <a:latin typeface="+mn-lt"/>
                <a:cs typeface="Calibri"/>
              </a:rPr>
              <a:t>Branching scenario</a:t>
            </a:r>
          </a:p>
          <a:p>
            <a:pPr algn="l" rtl="0" fontAlgn="base"/>
            <a:endParaRPr lang="en-IN" sz="1200" b="0" i="0" u="none" strike="noStrike"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Voice Over: </a:t>
            </a:r>
            <a:r>
              <a:rPr lang="en-US" sz="1200" b="0" i="0" u="none" strike="noStrike" dirty="0">
                <a:effectLst/>
                <a:latin typeface="+mn-lt"/>
                <a:cs typeface="Arial" panose="020B0604020202020204" pitchFamily="34" charset="0"/>
              </a:rPr>
              <a:t>Same as conversation.</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Arial" panose="020B0604020202020204" pitchFamily="34" charset="0"/>
              </a:rPr>
              <a:t>Development Notes:</a:t>
            </a:r>
            <a:r>
              <a:rPr lang="en-US" sz="1200" b="0" i="0" dirty="0">
                <a:effectLst/>
                <a:latin typeface="+mn-lt"/>
                <a:cs typeface="Arial" panose="020B0604020202020204" pitchFamily="34" charset="0"/>
              </a:rPr>
              <a:t>​</a:t>
            </a:r>
          </a:p>
          <a:p>
            <a:pPr algn="l" rtl="0" fontAlgn="base"/>
            <a:r>
              <a:rPr lang="en-US" sz="1200" b="0" i="0" dirty="0">
                <a:effectLst/>
                <a:latin typeface="+mn-lt"/>
                <a:cs typeface="Arial" panose="020B0604020202020204" pitchFamily="34" charset="0"/>
              </a:rPr>
              <a:t>This is the continuation of the previous screen.</a:t>
            </a:r>
          </a:p>
          <a:p>
            <a:pPr algn="l" rtl="0" fontAlgn="base">
              <a:buFont typeface="Arial" panose="020B0604020202020204" pitchFamily="34" charset="0"/>
              <a:buNone/>
            </a:pPr>
            <a:endParaRPr lang="en-IN" sz="1200" b="0" i="0"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Graphics Notes: </a:t>
            </a:r>
            <a:r>
              <a:rPr lang="en-US" sz="1200" b="0" i="0" dirty="0">
                <a:effectLst/>
                <a:latin typeface="+mn-lt"/>
                <a:cs typeface="Arial" panose="020B0604020202020204" pitchFamily="34" charset="0"/>
              </a:rPr>
              <a:t>​</a:t>
            </a:r>
          </a:p>
          <a:p>
            <a:r>
              <a:rPr lang="en-US" sz="1200" dirty="0">
                <a:latin typeface="+mn-lt"/>
                <a:cs typeface="Arial" panose="020B0604020202020204" pitchFamily="34" charset="0"/>
              </a:rPr>
              <a:t>NA</a:t>
            </a:r>
          </a:p>
          <a:p>
            <a:endParaRPr lang="en-US" sz="1200" dirty="0">
              <a:latin typeface="+mn-lt"/>
              <a:cs typeface="Arial" panose="020B0604020202020204" pitchFamily="34" charset="0"/>
            </a:endParaRPr>
          </a:p>
          <a:p>
            <a:r>
              <a:rPr lang="en-US" sz="1200" b="1" dirty="0">
                <a:latin typeface="+mn-lt"/>
                <a:cs typeface="Arial" panose="020B0604020202020204" pitchFamily="34" charset="0"/>
              </a:rPr>
              <a:t>Image source:</a:t>
            </a:r>
          </a:p>
          <a:p>
            <a:r>
              <a:rPr lang="en-US" sz="1200" b="0" dirty="0">
                <a:latin typeface="+mn-lt"/>
                <a:cs typeface="Arial" panose="020B0604020202020204" pitchFamily="34" charset="0"/>
              </a:rPr>
              <a:t>2454390621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2C2C2C"/>
                </a:solidFill>
                <a:effectLst/>
                <a:latin typeface="adobe-clean"/>
              </a:rPr>
              <a:t>2491902319</a:t>
            </a:r>
            <a:endParaRPr lang="en-US" sz="1200" b="1" dirty="0">
              <a:latin typeface="+mn-lt"/>
              <a:cs typeface="Arial" panose="020B0604020202020204" pitchFamily="34" charset="0"/>
            </a:endParaRPr>
          </a:p>
        </p:txBody>
      </p:sp>
      <p:sp>
        <p:nvSpPr>
          <p:cNvPr id="4" name="Slide Number Placeholder 3">
            <a:extLst>
              <a:ext uri="{FF2B5EF4-FFF2-40B4-BE49-F238E27FC236}">
                <a16:creationId xmlns:a16="http://schemas.microsoft.com/office/drawing/2014/main" id="{B9936BF6-B839-4AC6-FFA4-FD4B08FE47E1}"/>
              </a:ext>
            </a:extLst>
          </p:cNvPr>
          <p:cNvSpPr>
            <a:spLocks noGrp="1"/>
          </p:cNvSpPr>
          <p:nvPr>
            <p:ph type="sldNum" sz="quarter" idx="5"/>
          </p:nvPr>
        </p:nvSpPr>
        <p:spPr/>
        <p:txBody>
          <a:bodyPr/>
          <a:lstStyle/>
          <a:p>
            <a:fld id="{351E557E-5515-4674-B7CA-4465A7A70215}" type="slidenum">
              <a:rPr lang="en-IN" smtClean="0"/>
              <a:t>18</a:t>
            </a:fld>
            <a:endParaRPr lang="en-IN"/>
          </a:p>
        </p:txBody>
      </p:sp>
    </p:spTree>
    <p:extLst>
      <p:ext uri="{BB962C8B-B14F-4D97-AF65-F5344CB8AC3E}">
        <p14:creationId xmlns:p14="http://schemas.microsoft.com/office/powerpoint/2010/main" val="42743121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53CD6-EB37-2822-639C-6B7A5A161B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FDCDDB-7747-A9B7-B59B-851FEF50BDAC}"/>
              </a:ext>
            </a:extLst>
          </p:cNvPr>
          <p:cNvSpPr>
            <a:spLocks noGrp="1" noRot="1" noChangeAspect="1"/>
          </p:cNvSpPr>
          <p:nvPr>
            <p:ph type="sldImg"/>
          </p:nvPr>
        </p:nvSpPr>
        <p:spPr/>
        <p:txBody>
          <a:bodyPr/>
          <a:lstStyle/>
          <a:p>
            <a:endParaRPr lang="en-UG"/>
          </a:p>
        </p:txBody>
      </p:sp>
      <p:sp>
        <p:nvSpPr>
          <p:cNvPr id="3" name="Notes Placeholder 2">
            <a:extLst>
              <a:ext uri="{FF2B5EF4-FFF2-40B4-BE49-F238E27FC236}">
                <a16:creationId xmlns:a16="http://schemas.microsoft.com/office/drawing/2014/main" id="{9E9999E4-069D-5FB2-B870-297CA0C8166A}"/>
              </a:ext>
            </a:extLst>
          </p:cNvPr>
          <p:cNvSpPr>
            <a:spLocks noGrp="1"/>
          </p:cNvSpPr>
          <p:nvPr>
            <p:ph type="body" idx="1"/>
          </p:nvPr>
        </p:nvSpPr>
        <p:spPr/>
        <p:txBody>
          <a:bodyPr/>
          <a:lstStyle/>
          <a:p>
            <a:pPr algn="l" rtl="0" fontAlgn="base"/>
            <a:r>
              <a:rPr lang="en-IN" sz="1200" b="1" i="0" u="none" strike="noStrike" dirty="0">
                <a:effectLst/>
                <a:latin typeface="+mn-lt"/>
                <a:cs typeface="Arial" panose="020B0604020202020204" pitchFamily="34" charset="0"/>
              </a:rPr>
              <a:t>Screen Duration: </a:t>
            </a:r>
            <a:r>
              <a:rPr lang="en-IN" sz="1200" b="0" i="0" u="none" strike="noStrike" dirty="0">
                <a:effectLst/>
                <a:latin typeface="+mn-lt"/>
                <a:cs typeface="Arial" panose="020B0604020202020204" pitchFamily="34" charset="0"/>
              </a:rPr>
              <a:t>NA</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Calibri"/>
              </a:rPr>
              <a:t>Screen Type: </a:t>
            </a:r>
            <a:r>
              <a:rPr lang="en-IN" sz="1200" b="0" i="0" u="none" strike="noStrike" dirty="0">
                <a:effectLst/>
                <a:latin typeface="+mn-lt"/>
                <a:cs typeface="Calibri"/>
              </a:rPr>
              <a:t>Branching scenario</a:t>
            </a:r>
          </a:p>
          <a:p>
            <a:pPr algn="l" rtl="0" fontAlgn="base"/>
            <a:endParaRPr lang="en-IN" sz="1200" b="0" i="0" u="none" strike="noStrike"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Voice Over: </a:t>
            </a:r>
            <a:r>
              <a:rPr lang="en-US" sz="1200" b="0" i="0" u="none" strike="noStrike" dirty="0">
                <a:effectLst/>
                <a:latin typeface="+mn-lt"/>
                <a:cs typeface="Arial" panose="020B0604020202020204" pitchFamily="34" charset="0"/>
              </a:rPr>
              <a:t>NA</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Arial" panose="020B0604020202020204" pitchFamily="34" charset="0"/>
              </a:rPr>
              <a:t>Development Notes:</a:t>
            </a:r>
            <a:r>
              <a:rPr lang="en-US" sz="1200" b="0" i="0" dirty="0">
                <a:effectLst/>
                <a:latin typeface="+mn-lt"/>
                <a:cs typeface="Arial" panose="020B0604020202020204" pitchFamily="34" charset="0"/>
              </a:rPr>
              <a:t>​</a:t>
            </a:r>
          </a:p>
          <a:p>
            <a:pPr algn="l" rtl="0" fontAlgn="base"/>
            <a:r>
              <a:rPr lang="en-US" sz="1200" b="0" i="0" dirty="0">
                <a:effectLst/>
                <a:latin typeface="+mn-lt"/>
                <a:cs typeface="Arial" panose="020B0604020202020204" pitchFamily="34" charset="0"/>
              </a:rPr>
              <a:t>This is the continuation of the previous screen.</a:t>
            </a:r>
          </a:p>
          <a:p>
            <a:pPr algn="l" rtl="0" fontAlgn="base"/>
            <a:r>
              <a:rPr lang="en-US" sz="1200" b="0" i="0" dirty="0">
                <a:effectLst/>
                <a:latin typeface="+mn-lt"/>
                <a:cs typeface="Arial" panose="020B0604020202020204" pitchFamily="34" charset="0"/>
              </a:rPr>
              <a:t>After the conversation ends, show a question with clickable options.</a:t>
            </a:r>
          </a:p>
          <a:p>
            <a:pPr algn="l" rtl="0" fontAlgn="base"/>
            <a:r>
              <a:rPr lang="en-US" sz="1200" b="0" i="0" dirty="0">
                <a:effectLst/>
                <a:latin typeface="+mn-lt"/>
                <a:cs typeface="Arial" panose="020B0604020202020204" pitchFamily="34" charset="0"/>
              </a:rPr>
              <a:t>Show the feedback given on screen upon selecting let her leave.</a:t>
            </a:r>
          </a:p>
          <a:p>
            <a:pPr algn="l" rtl="0" fontAlgn="base">
              <a:buFont typeface="Arial" panose="020B0604020202020204" pitchFamily="34" charset="0"/>
              <a:buNone/>
            </a:pPr>
            <a:endParaRPr lang="en-IN" sz="1200" b="0" i="0"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Graphics Notes: </a:t>
            </a:r>
            <a:r>
              <a:rPr lang="en-US" sz="1200" b="0" i="0" dirty="0">
                <a:effectLst/>
                <a:latin typeface="+mn-lt"/>
                <a:cs typeface="Arial" panose="020B0604020202020204" pitchFamily="34" charset="0"/>
              </a:rPr>
              <a:t>​</a:t>
            </a:r>
          </a:p>
          <a:p>
            <a:r>
              <a:rPr lang="en-US" sz="1200" dirty="0">
                <a:latin typeface="+mn-lt"/>
                <a:cs typeface="Arial" panose="020B0604020202020204" pitchFamily="34" charset="0"/>
              </a:rPr>
              <a:t>NA</a:t>
            </a:r>
          </a:p>
          <a:p>
            <a:endParaRPr lang="en-US" sz="1200" dirty="0">
              <a:latin typeface="+mn-lt"/>
              <a:cs typeface="Arial" panose="020B0604020202020204" pitchFamily="34" charset="0"/>
            </a:endParaRPr>
          </a:p>
          <a:p>
            <a:r>
              <a:rPr lang="en-US" sz="1200" b="1" dirty="0">
                <a:latin typeface="+mn-lt"/>
                <a:cs typeface="Arial" panose="020B0604020202020204" pitchFamily="34" charset="0"/>
              </a:rPr>
              <a:t>Image source:</a:t>
            </a:r>
          </a:p>
          <a:p>
            <a:r>
              <a:rPr lang="en-US" sz="1200" b="0" dirty="0">
                <a:latin typeface="+mn-lt"/>
                <a:cs typeface="Arial" panose="020B0604020202020204" pitchFamily="34" charset="0"/>
              </a:rPr>
              <a:t>NA</a:t>
            </a:r>
            <a:endParaRPr lang="en-US" sz="1200" b="1" dirty="0">
              <a:latin typeface="+mn-lt"/>
              <a:cs typeface="Arial" panose="020B0604020202020204" pitchFamily="34" charset="0"/>
            </a:endParaRPr>
          </a:p>
        </p:txBody>
      </p:sp>
      <p:sp>
        <p:nvSpPr>
          <p:cNvPr id="4" name="Slide Number Placeholder 3">
            <a:extLst>
              <a:ext uri="{FF2B5EF4-FFF2-40B4-BE49-F238E27FC236}">
                <a16:creationId xmlns:a16="http://schemas.microsoft.com/office/drawing/2014/main" id="{879EAC46-C61D-B7B1-858E-7BB6AEE3FA86}"/>
              </a:ext>
            </a:extLst>
          </p:cNvPr>
          <p:cNvSpPr>
            <a:spLocks noGrp="1"/>
          </p:cNvSpPr>
          <p:nvPr>
            <p:ph type="sldNum" sz="quarter" idx="5"/>
          </p:nvPr>
        </p:nvSpPr>
        <p:spPr/>
        <p:txBody>
          <a:bodyPr/>
          <a:lstStyle/>
          <a:p>
            <a:fld id="{351E557E-5515-4674-B7CA-4465A7A70215}" type="slidenum">
              <a:rPr lang="en-IN" smtClean="0"/>
              <a:t>19</a:t>
            </a:fld>
            <a:endParaRPr lang="en-IN"/>
          </a:p>
        </p:txBody>
      </p:sp>
    </p:spTree>
    <p:extLst>
      <p:ext uri="{BB962C8B-B14F-4D97-AF65-F5344CB8AC3E}">
        <p14:creationId xmlns:p14="http://schemas.microsoft.com/office/powerpoint/2010/main" val="27644782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7AACA-9E1C-778E-3001-5F63A4F0CC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369336-E2D7-F4E3-1F38-66318CCF6D8B}"/>
              </a:ext>
            </a:extLst>
          </p:cNvPr>
          <p:cNvSpPr>
            <a:spLocks noGrp="1" noRot="1" noChangeAspect="1"/>
          </p:cNvSpPr>
          <p:nvPr>
            <p:ph type="sldImg"/>
          </p:nvPr>
        </p:nvSpPr>
        <p:spPr/>
        <p:txBody>
          <a:bodyPr/>
          <a:lstStyle/>
          <a:p>
            <a:endParaRPr lang="en-UG"/>
          </a:p>
        </p:txBody>
      </p:sp>
      <p:sp>
        <p:nvSpPr>
          <p:cNvPr id="3" name="Notes Placeholder 2">
            <a:extLst>
              <a:ext uri="{FF2B5EF4-FFF2-40B4-BE49-F238E27FC236}">
                <a16:creationId xmlns:a16="http://schemas.microsoft.com/office/drawing/2014/main" id="{91F87FCA-98CF-A692-1FC5-02569F3F8934}"/>
              </a:ext>
            </a:extLst>
          </p:cNvPr>
          <p:cNvSpPr>
            <a:spLocks noGrp="1"/>
          </p:cNvSpPr>
          <p:nvPr>
            <p:ph type="body" idx="1"/>
          </p:nvPr>
        </p:nvSpPr>
        <p:spPr/>
        <p:txBody>
          <a:bodyPr/>
          <a:lstStyle/>
          <a:p>
            <a:pPr algn="l" rtl="0" fontAlgn="base"/>
            <a:r>
              <a:rPr lang="en-IN" sz="1200" b="1" i="0" u="none" strike="noStrike" dirty="0">
                <a:effectLst/>
                <a:latin typeface="+mn-lt"/>
                <a:cs typeface="Arial" panose="020B0604020202020204" pitchFamily="34" charset="0"/>
              </a:rPr>
              <a:t>Screen Duration: </a:t>
            </a:r>
            <a:r>
              <a:rPr lang="en-IN" sz="1200" b="0" i="0" u="none" strike="noStrike" dirty="0">
                <a:effectLst/>
                <a:latin typeface="+mn-lt"/>
                <a:cs typeface="Arial" panose="020B0604020202020204" pitchFamily="34" charset="0"/>
              </a:rPr>
              <a:t>NA</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Calibri"/>
              </a:rPr>
              <a:t>Screen Type: </a:t>
            </a:r>
            <a:r>
              <a:rPr lang="en-IN" sz="1200" b="0" i="0" u="none" strike="noStrike" dirty="0">
                <a:effectLst/>
                <a:latin typeface="+mn-lt"/>
                <a:cs typeface="Calibri"/>
              </a:rPr>
              <a:t>Branching scenario</a:t>
            </a:r>
          </a:p>
          <a:p>
            <a:pPr algn="l" rtl="0" fontAlgn="base"/>
            <a:endParaRPr lang="en-IN" sz="1200" b="0" i="0" u="none" strike="noStrike"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Voice Over: </a:t>
            </a:r>
            <a:r>
              <a:rPr lang="en-US" sz="1200" b="0" i="0" u="none" strike="noStrike" dirty="0">
                <a:effectLst/>
                <a:latin typeface="+mn-lt"/>
                <a:cs typeface="Arial" panose="020B0604020202020204" pitchFamily="34" charset="0"/>
              </a:rPr>
              <a:t>NA</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Arial" panose="020B0604020202020204" pitchFamily="34" charset="0"/>
              </a:rPr>
              <a:t>Development Notes:</a:t>
            </a:r>
            <a:r>
              <a:rPr lang="en-US" sz="1200" b="0" i="0" dirty="0">
                <a:effectLst/>
                <a:latin typeface="+mn-lt"/>
                <a:cs typeface="Arial" panose="020B0604020202020204" pitchFamily="34" charset="0"/>
              </a:rPr>
              <a:t>​</a:t>
            </a:r>
          </a:p>
          <a:p>
            <a:pPr algn="l" rtl="0" fontAlgn="base"/>
            <a:r>
              <a:rPr lang="en-US" sz="1200" b="0" i="0" dirty="0">
                <a:effectLst/>
                <a:latin typeface="+mn-lt"/>
                <a:cs typeface="Arial" panose="020B0604020202020204" pitchFamily="34" charset="0"/>
              </a:rPr>
              <a:t>This is the continuation of the previous screen.</a:t>
            </a:r>
          </a:p>
          <a:p>
            <a:pPr algn="l" rtl="0" fontAlgn="base"/>
            <a:r>
              <a:rPr lang="en-US" sz="1200" b="0" i="0" dirty="0">
                <a:effectLst/>
                <a:latin typeface="+mn-lt"/>
                <a:cs typeface="Arial" panose="020B0604020202020204" pitchFamily="34" charset="0"/>
              </a:rPr>
              <a:t>Show the feedback given on screen upon selecting let her leave.</a:t>
            </a:r>
          </a:p>
          <a:p>
            <a:pPr algn="l" rtl="0" fontAlgn="base">
              <a:buFont typeface="Arial" panose="020B0604020202020204" pitchFamily="34" charset="0"/>
              <a:buNone/>
            </a:pPr>
            <a:endParaRPr lang="en-IN" sz="1200" b="0" i="0"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Graphics Notes: </a:t>
            </a:r>
            <a:r>
              <a:rPr lang="en-US" sz="1200" b="0" i="0" dirty="0">
                <a:effectLst/>
                <a:latin typeface="+mn-lt"/>
                <a:cs typeface="Arial" panose="020B0604020202020204" pitchFamily="34" charset="0"/>
              </a:rPr>
              <a:t>​</a:t>
            </a:r>
          </a:p>
          <a:p>
            <a:r>
              <a:rPr lang="en-US" sz="1200" dirty="0">
                <a:latin typeface="+mn-lt"/>
                <a:cs typeface="Arial" panose="020B0604020202020204" pitchFamily="34" charset="0"/>
              </a:rPr>
              <a:t>NA</a:t>
            </a:r>
          </a:p>
          <a:p>
            <a:endParaRPr lang="en-US" sz="1200" dirty="0">
              <a:latin typeface="+mn-lt"/>
              <a:cs typeface="Arial" panose="020B0604020202020204" pitchFamily="34" charset="0"/>
            </a:endParaRPr>
          </a:p>
          <a:p>
            <a:r>
              <a:rPr lang="en-US" sz="1200" b="1" dirty="0">
                <a:latin typeface="+mn-lt"/>
                <a:cs typeface="Arial" panose="020B0604020202020204" pitchFamily="34" charset="0"/>
              </a:rPr>
              <a:t>Image source:</a:t>
            </a:r>
          </a:p>
          <a:p>
            <a:r>
              <a:rPr lang="en-US" sz="1200" b="0" dirty="0">
                <a:latin typeface="+mn-lt"/>
                <a:cs typeface="Arial" panose="020B0604020202020204" pitchFamily="34" charset="0"/>
              </a:rPr>
              <a:t>NA</a:t>
            </a:r>
            <a:endParaRPr lang="en-US" sz="1200" b="1" dirty="0">
              <a:latin typeface="+mn-lt"/>
              <a:cs typeface="Arial" panose="020B0604020202020204" pitchFamily="34" charset="0"/>
            </a:endParaRPr>
          </a:p>
        </p:txBody>
      </p:sp>
      <p:sp>
        <p:nvSpPr>
          <p:cNvPr id="4" name="Slide Number Placeholder 3">
            <a:extLst>
              <a:ext uri="{FF2B5EF4-FFF2-40B4-BE49-F238E27FC236}">
                <a16:creationId xmlns:a16="http://schemas.microsoft.com/office/drawing/2014/main" id="{F194C042-030C-6009-DEA8-E278E3AF73BF}"/>
              </a:ext>
            </a:extLst>
          </p:cNvPr>
          <p:cNvSpPr>
            <a:spLocks noGrp="1"/>
          </p:cNvSpPr>
          <p:nvPr>
            <p:ph type="sldNum" sz="quarter" idx="5"/>
          </p:nvPr>
        </p:nvSpPr>
        <p:spPr/>
        <p:txBody>
          <a:bodyPr/>
          <a:lstStyle/>
          <a:p>
            <a:fld id="{351E557E-5515-4674-B7CA-4465A7A70215}" type="slidenum">
              <a:rPr lang="en-IN" smtClean="0"/>
              <a:t>20</a:t>
            </a:fld>
            <a:endParaRPr lang="en-IN"/>
          </a:p>
        </p:txBody>
      </p:sp>
    </p:spTree>
    <p:extLst>
      <p:ext uri="{BB962C8B-B14F-4D97-AF65-F5344CB8AC3E}">
        <p14:creationId xmlns:p14="http://schemas.microsoft.com/office/powerpoint/2010/main" val="19906784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8AFB6-5A83-F167-D3FF-BF58872368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A3AE86-67E5-BD29-49AA-D4AE0115A892}"/>
              </a:ext>
            </a:extLst>
          </p:cNvPr>
          <p:cNvSpPr>
            <a:spLocks noGrp="1" noRot="1" noChangeAspect="1"/>
          </p:cNvSpPr>
          <p:nvPr>
            <p:ph type="sldImg"/>
          </p:nvPr>
        </p:nvSpPr>
        <p:spPr/>
        <p:txBody>
          <a:bodyPr/>
          <a:lstStyle/>
          <a:p>
            <a:endParaRPr lang="en-UG"/>
          </a:p>
        </p:txBody>
      </p:sp>
      <p:sp>
        <p:nvSpPr>
          <p:cNvPr id="3" name="Notes Placeholder 2">
            <a:extLst>
              <a:ext uri="{FF2B5EF4-FFF2-40B4-BE49-F238E27FC236}">
                <a16:creationId xmlns:a16="http://schemas.microsoft.com/office/drawing/2014/main" id="{55A85BCB-3E0A-B92D-E139-A463B34AA357}"/>
              </a:ext>
            </a:extLst>
          </p:cNvPr>
          <p:cNvSpPr>
            <a:spLocks noGrp="1"/>
          </p:cNvSpPr>
          <p:nvPr>
            <p:ph type="body" idx="1"/>
          </p:nvPr>
        </p:nvSpPr>
        <p:spPr/>
        <p:txBody>
          <a:bodyPr/>
          <a:lstStyle/>
          <a:p>
            <a:pPr algn="l" rtl="0" fontAlgn="base"/>
            <a:r>
              <a:rPr lang="en-IN" sz="1200" b="1" i="0" u="none" strike="noStrike" dirty="0">
                <a:effectLst/>
                <a:latin typeface="+mn-lt"/>
                <a:cs typeface="Arial" panose="020B0604020202020204" pitchFamily="34" charset="0"/>
              </a:rPr>
              <a:t>Screen Duration: </a:t>
            </a:r>
            <a:r>
              <a:rPr lang="en-IN" sz="1200" b="0" i="0" u="none" strike="noStrike" dirty="0">
                <a:effectLst/>
                <a:latin typeface="+mn-lt"/>
                <a:cs typeface="Arial" panose="020B0604020202020204" pitchFamily="34" charset="0"/>
              </a:rPr>
              <a:t>NA</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Calibri"/>
              </a:rPr>
              <a:t>Screen Type: </a:t>
            </a:r>
            <a:r>
              <a:rPr lang="en-IN" sz="1200" b="0" i="0" u="none" strike="noStrike" dirty="0">
                <a:effectLst/>
                <a:latin typeface="+mn-lt"/>
                <a:cs typeface="Calibri"/>
              </a:rPr>
              <a:t>Branching scenario</a:t>
            </a:r>
          </a:p>
          <a:p>
            <a:pPr algn="l" rtl="0" fontAlgn="base"/>
            <a:endParaRPr lang="en-IN" sz="1200" b="0" i="0" u="none" strike="noStrike"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Voice Over: </a:t>
            </a:r>
            <a:r>
              <a:rPr lang="en-US" sz="1200" b="0" i="0" u="none" strike="noStrike" dirty="0">
                <a:effectLst/>
                <a:latin typeface="+mn-lt"/>
                <a:cs typeface="Arial" panose="020B0604020202020204" pitchFamily="34" charset="0"/>
              </a:rPr>
              <a:t>Same as conversation.</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Arial" panose="020B0604020202020204" pitchFamily="34" charset="0"/>
              </a:rPr>
              <a:t>Development Notes:</a:t>
            </a:r>
            <a:r>
              <a:rPr lang="en-US" sz="1200" b="0" i="0" dirty="0">
                <a:effectLst/>
                <a:latin typeface="+mn-lt"/>
                <a:cs typeface="Arial" panose="020B0604020202020204" pitchFamily="34" charset="0"/>
              </a:rPr>
              <a:t>​</a:t>
            </a:r>
          </a:p>
          <a:p>
            <a:pPr algn="l" rtl="0" fontAlgn="base"/>
            <a:r>
              <a:rPr lang="en-US" sz="1200" b="0" i="0" dirty="0">
                <a:effectLst/>
                <a:latin typeface="+mn-lt"/>
                <a:cs typeface="Arial" panose="020B0604020202020204" pitchFamily="34" charset="0"/>
              </a:rPr>
              <a:t>This is the continuation of the previous screen.</a:t>
            </a:r>
          </a:p>
          <a:p>
            <a:pPr algn="l" rtl="0" fontAlgn="base"/>
            <a:r>
              <a:rPr lang="en-US" sz="1200" b="0" i="0" dirty="0">
                <a:effectLst/>
                <a:latin typeface="+mn-lt"/>
                <a:cs typeface="Arial" panose="020B0604020202020204" pitchFamily="34" charset="0"/>
              </a:rPr>
              <a:t>Show the feedback given on screen upon selecting politely delay and escalate.</a:t>
            </a:r>
          </a:p>
          <a:p>
            <a:pPr algn="l" rtl="0" fontAlgn="base"/>
            <a:r>
              <a:rPr lang="en-US" sz="1200" b="0" i="0" dirty="0">
                <a:effectLst/>
                <a:latin typeface="+mn-lt"/>
                <a:cs typeface="Arial" panose="020B0604020202020204" pitchFamily="34" charset="0"/>
              </a:rPr>
              <a:t>Start the conversation as shown with voice over.</a:t>
            </a:r>
          </a:p>
          <a:p>
            <a:pPr algn="l" rtl="0" fontAlgn="base">
              <a:buFont typeface="Arial" panose="020B0604020202020204" pitchFamily="34" charset="0"/>
              <a:buNone/>
            </a:pPr>
            <a:endParaRPr lang="en-IN" sz="1200" b="0" i="0"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Graphics Notes: </a:t>
            </a:r>
            <a:r>
              <a:rPr lang="en-US" sz="1200" b="0" i="0" dirty="0">
                <a:effectLst/>
                <a:latin typeface="+mn-lt"/>
                <a:cs typeface="Arial" panose="020B0604020202020204" pitchFamily="34" charset="0"/>
              </a:rPr>
              <a:t>​</a:t>
            </a:r>
          </a:p>
          <a:p>
            <a:r>
              <a:rPr lang="en-US" sz="1200" dirty="0">
                <a:latin typeface="+mn-lt"/>
                <a:cs typeface="Arial" panose="020B0604020202020204" pitchFamily="34" charset="0"/>
              </a:rPr>
              <a:t>NA</a:t>
            </a:r>
          </a:p>
          <a:p>
            <a:endParaRPr lang="en-US" sz="1200" dirty="0">
              <a:latin typeface="+mn-lt"/>
              <a:cs typeface="Arial" panose="020B0604020202020204" pitchFamily="34" charset="0"/>
            </a:endParaRPr>
          </a:p>
          <a:p>
            <a:r>
              <a:rPr lang="en-US" sz="1200" b="1" dirty="0">
                <a:latin typeface="+mn-lt"/>
                <a:cs typeface="Arial" panose="020B0604020202020204" pitchFamily="34" charset="0"/>
              </a:rPr>
              <a:t>Image source:</a:t>
            </a:r>
          </a:p>
          <a:p>
            <a:r>
              <a:rPr lang="en-US" sz="1200" b="0" dirty="0">
                <a:latin typeface="+mn-lt"/>
                <a:cs typeface="Arial" panose="020B0604020202020204" pitchFamily="34" charset="0"/>
              </a:rPr>
              <a:t>NA</a:t>
            </a:r>
            <a:endParaRPr lang="en-US" sz="1200" b="1" dirty="0">
              <a:latin typeface="+mn-lt"/>
              <a:cs typeface="Arial" panose="020B0604020202020204" pitchFamily="34" charset="0"/>
            </a:endParaRPr>
          </a:p>
        </p:txBody>
      </p:sp>
      <p:sp>
        <p:nvSpPr>
          <p:cNvPr id="4" name="Slide Number Placeholder 3">
            <a:extLst>
              <a:ext uri="{FF2B5EF4-FFF2-40B4-BE49-F238E27FC236}">
                <a16:creationId xmlns:a16="http://schemas.microsoft.com/office/drawing/2014/main" id="{513625EF-38D1-5D9C-03A8-2CF6FF73C3AE}"/>
              </a:ext>
            </a:extLst>
          </p:cNvPr>
          <p:cNvSpPr>
            <a:spLocks noGrp="1"/>
          </p:cNvSpPr>
          <p:nvPr>
            <p:ph type="sldNum" sz="quarter" idx="5"/>
          </p:nvPr>
        </p:nvSpPr>
        <p:spPr/>
        <p:txBody>
          <a:bodyPr/>
          <a:lstStyle/>
          <a:p>
            <a:fld id="{351E557E-5515-4674-B7CA-4465A7A70215}" type="slidenum">
              <a:rPr lang="en-IN" smtClean="0"/>
              <a:t>21</a:t>
            </a:fld>
            <a:endParaRPr lang="en-IN"/>
          </a:p>
        </p:txBody>
      </p:sp>
    </p:spTree>
    <p:extLst>
      <p:ext uri="{BB962C8B-B14F-4D97-AF65-F5344CB8AC3E}">
        <p14:creationId xmlns:p14="http://schemas.microsoft.com/office/powerpoint/2010/main" val="38824870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3F90A-2D92-67A2-ABEB-CB58EF861A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1DF93C-968C-6611-D091-34C6AC777B45}"/>
              </a:ext>
            </a:extLst>
          </p:cNvPr>
          <p:cNvSpPr>
            <a:spLocks noGrp="1" noRot="1" noChangeAspect="1"/>
          </p:cNvSpPr>
          <p:nvPr>
            <p:ph type="sldImg"/>
          </p:nvPr>
        </p:nvSpPr>
        <p:spPr/>
        <p:txBody>
          <a:bodyPr/>
          <a:lstStyle/>
          <a:p>
            <a:endParaRPr lang="en-UG"/>
          </a:p>
        </p:txBody>
      </p:sp>
      <p:sp>
        <p:nvSpPr>
          <p:cNvPr id="3" name="Notes Placeholder 2">
            <a:extLst>
              <a:ext uri="{FF2B5EF4-FFF2-40B4-BE49-F238E27FC236}">
                <a16:creationId xmlns:a16="http://schemas.microsoft.com/office/drawing/2014/main" id="{A3590A49-D483-1E16-FB59-863AB5FC2D24}"/>
              </a:ext>
            </a:extLst>
          </p:cNvPr>
          <p:cNvSpPr>
            <a:spLocks noGrp="1"/>
          </p:cNvSpPr>
          <p:nvPr>
            <p:ph type="body" idx="1"/>
          </p:nvPr>
        </p:nvSpPr>
        <p:spPr/>
        <p:txBody>
          <a:bodyPr/>
          <a:lstStyle/>
          <a:p>
            <a:pPr algn="l" rtl="0" fontAlgn="base"/>
            <a:r>
              <a:rPr lang="en-IN" sz="1200" b="1" i="0" u="none" strike="noStrike" dirty="0">
                <a:effectLst/>
                <a:latin typeface="+mn-lt"/>
                <a:cs typeface="Arial" panose="020B0604020202020204" pitchFamily="34" charset="0"/>
              </a:rPr>
              <a:t>Screen Duration: </a:t>
            </a:r>
            <a:r>
              <a:rPr lang="en-IN" sz="1200" b="0" i="0" u="none" strike="noStrike" dirty="0">
                <a:effectLst/>
                <a:latin typeface="+mn-lt"/>
                <a:cs typeface="Arial" panose="020B0604020202020204" pitchFamily="34" charset="0"/>
              </a:rPr>
              <a:t>NA</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Calibri"/>
              </a:rPr>
              <a:t>Screen Type: </a:t>
            </a:r>
            <a:r>
              <a:rPr lang="en-IN" sz="1200" b="0" i="0" u="none" strike="noStrike" dirty="0">
                <a:effectLst/>
                <a:latin typeface="+mn-lt"/>
                <a:cs typeface="Calibri"/>
              </a:rPr>
              <a:t>Branching scenario</a:t>
            </a:r>
          </a:p>
          <a:p>
            <a:pPr algn="l" rtl="0" fontAlgn="base"/>
            <a:endParaRPr lang="en-IN" sz="1200" b="0" i="0" u="none" strike="noStrike"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Voice Over: </a:t>
            </a:r>
            <a:r>
              <a:rPr lang="en-US" sz="1200" b="0" i="0" u="none" strike="noStrike" dirty="0">
                <a:effectLst/>
                <a:latin typeface="+mn-lt"/>
                <a:cs typeface="Arial" panose="020B0604020202020204" pitchFamily="34" charset="0"/>
              </a:rPr>
              <a:t>Same as conversation.</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Arial" panose="020B0604020202020204" pitchFamily="34" charset="0"/>
              </a:rPr>
              <a:t>Development Notes:</a:t>
            </a:r>
            <a:r>
              <a:rPr lang="en-US" sz="1200" b="0" i="0" dirty="0">
                <a:effectLst/>
                <a:latin typeface="+mn-lt"/>
                <a:cs typeface="Arial" panose="020B0604020202020204" pitchFamily="34" charset="0"/>
              </a:rPr>
              <a:t>​</a:t>
            </a:r>
          </a:p>
          <a:p>
            <a:pPr algn="l" rtl="0" fontAlgn="base"/>
            <a:r>
              <a:rPr lang="en-US" sz="1200" b="0" i="0" dirty="0">
                <a:effectLst/>
                <a:latin typeface="+mn-lt"/>
                <a:cs typeface="Arial" panose="020B0604020202020204" pitchFamily="34" charset="0"/>
              </a:rPr>
              <a:t>This is the continuation of the previous screen.</a:t>
            </a:r>
          </a:p>
          <a:p>
            <a:pPr algn="l" rtl="0" fontAlgn="base"/>
            <a:r>
              <a:rPr lang="en-US" sz="1200" b="0" i="0" dirty="0">
                <a:effectLst/>
                <a:latin typeface="+mn-lt"/>
                <a:cs typeface="Arial" panose="020B0604020202020204" pitchFamily="34" charset="0"/>
              </a:rPr>
              <a:t>Show the feedback given on screen upon selecting politely delay and escalate.</a:t>
            </a:r>
          </a:p>
          <a:p>
            <a:pPr algn="l" rtl="0" fontAlgn="base"/>
            <a:r>
              <a:rPr lang="en-US" sz="1200" b="0" i="0" dirty="0">
                <a:effectLst/>
                <a:latin typeface="+mn-lt"/>
                <a:cs typeface="Arial" panose="020B0604020202020204" pitchFamily="34" charset="0"/>
              </a:rPr>
              <a:t>Start the conversation as shown with voice over.</a:t>
            </a:r>
          </a:p>
          <a:p>
            <a:pPr algn="l" rtl="0" fontAlgn="base">
              <a:buFont typeface="Arial" panose="020B0604020202020204" pitchFamily="34" charset="0"/>
              <a:buNone/>
            </a:pPr>
            <a:endParaRPr lang="en-IN" sz="1200" b="0" i="0"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Graphics Notes: </a:t>
            </a:r>
            <a:r>
              <a:rPr lang="en-US" sz="1200" b="0" i="0" dirty="0">
                <a:effectLst/>
                <a:latin typeface="+mn-lt"/>
                <a:cs typeface="Arial" panose="020B0604020202020204" pitchFamily="34" charset="0"/>
              </a:rPr>
              <a:t>​</a:t>
            </a:r>
          </a:p>
          <a:p>
            <a:r>
              <a:rPr lang="en-US" sz="1200" dirty="0">
                <a:latin typeface="+mn-lt"/>
                <a:cs typeface="Arial" panose="020B0604020202020204" pitchFamily="34" charset="0"/>
              </a:rPr>
              <a:t>NA</a:t>
            </a:r>
          </a:p>
          <a:p>
            <a:endParaRPr lang="en-US" sz="1200" dirty="0">
              <a:latin typeface="+mn-lt"/>
              <a:cs typeface="Arial" panose="020B0604020202020204" pitchFamily="34" charset="0"/>
            </a:endParaRPr>
          </a:p>
          <a:p>
            <a:r>
              <a:rPr lang="en-US" sz="1200" b="1" dirty="0">
                <a:latin typeface="+mn-lt"/>
                <a:cs typeface="Arial" panose="020B0604020202020204" pitchFamily="34" charset="0"/>
              </a:rPr>
              <a:t>Image source:</a:t>
            </a:r>
          </a:p>
          <a:p>
            <a:r>
              <a:rPr lang="en-US" sz="1200" b="0" dirty="0">
                <a:latin typeface="+mn-lt"/>
                <a:cs typeface="Arial" panose="020B0604020202020204" pitchFamily="34" charset="0"/>
              </a:rPr>
              <a:t>NA</a:t>
            </a:r>
            <a:endParaRPr lang="en-US" sz="1200" b="1" dirty="0">
              <a:latin typeface="+mn-lt"/>
              <a:cs typeface="Arial" panose="020B0604020202020204" pitchFamily="34" charset="0"/>
            </a:endParaRPr>
          </a:p>
        </p:txBody>
      </p:sp>
      <p:sp>
        <p:nvSpPr>
          <p:cNvPr id="4" name="Slide Number Placeholder 3">
            <a:extLst>
              <a:ext uri="{FF2B5EF4-FFF2-40B4-BE49-F238E27FC236}">
                <a16:creationId xmlns:a16="http://schemas.microsoft.com/office/drawing/2014/main" id="{AF7DA6C2-F48D-9FE6-9FDF-DA640B10A64E}"/>
              </a:ext>
            </a:extLst>
          </p:cNvPr>
          <p:cNvSpPr>
            <a:spLocks noGrp="1"/>
          </p:cNvSpPr>
          <p:nvPr>
            <p:ph type="sldNum" sz="quarter" idx="5"/>
          </p:nvPr>
        </p:nvSpPr>
        <p:spPr/>
        <p:txBody>
          <a:bodyPr/>
          <a:lstStyle/>
          <a:p>
            <a:fld id="{351E557E-5515-4674-B7CA-4465A7A70215}" type="slidenum">
              <a:rPr lang="en-IN" smtClean="0"/>
              <a:t>22</a:t>
            </a:fld>
            <a:endParaRPr lang="en-IN"/>
          </a:p>
        </p:txBody>
      </p:sp>
    </p:spTree>
    <p:extLst>
      <p:ext uri="{BB962C8B-B14F-4D97-AF65-F5344CB8AC3E}">
        <p14:creationId xmlns:p14="http://schemas.microsoft.com/office/powerpoint/2010/main" val="7964471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C3B94-D510-6834-5A51-10B4B67E57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748A2A-9800-D10A-FB92-9F765A01FE7E}"/>
              </a:ext>
            </a:extLst>
          </p:cNvPr>
          <p:cNvSpPr>
            <a:spLocks noGrp="1" noRot="1" noChangeAspect="1"/>
          </p:cNvSpPr>
          <p:nvPr>
            <p:ph type="sldImg"/>
          </p:nvPr>
        </p:nvSpPr>
        <p:spPr/>
        <p:txBody>
          <a:bodyPr/>
          <a:lstStyle/>
          <a:p>
            <a:endParaRPr lang="en-UG"/>
          </a:p>
        </p:txBody>
      </p:sp>
      <p:sp>
        <p:nvSpPr>
          <p:cNvPr id="3" name="Notes Placeholder 2">
            <a:extLst>
              <a:ext uri="{FF2B5EF4-FFF2-40B4-BE49-F238E27FC236}">
                <a16:creationId xmlns:a16="http://schemas.microsoft.com/office/drawing/2014/main" id="{B624CA8B-BB44-FD6E-60CD-B62E01A61878}"/>
              </a:ext>
            </a:extLst>
          </p:cNvPr>
          <p:cNvSpPr>
            <a:spLocks noGrp="1"/>
          </p:cNvSpPr>
          <p:nvPr>
            <p:ph type="body" idx="1"/>
          </p:nvPr>
        </p:nvSpPr>
        <p:spPr/>
        <p:txBody>
          <a:bodyPr/>
          <a:lstStyle/>
          <a:p>
            <a:pPr algn="l" rtl="0" fontAlgn="base"/>
            <a:r>
              <a:rPr lang="en-IN" sz="1200" b="1" i="0" u="none" strike="noStrike" dirty="0">
                <a:effectLst/>
                <a:latin typeface="+mn-lt"/>
                <a:cs typeface="Arial" panose="020B0604020202020204" pitchFamily="34" charset="0"/>
              </a:rPr>
              <a:t>Screen Duration: </a:t>
            </a:r>
            <a:r>
              <a:rPr lang="en-IN" sz="1200" b="0" i="0" u="none" strike="noStrike" dirty="0">
                <a:effectLst/>
                <a:latin typeface="+mn-lt"/>
                <a:cs typeface="Arial" panose="020B0604020202020204" pitchFamily="34" charset="0"/>
              </a:rPr>
              <a:t>NA</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Calibri"/>
              </a:rPr>
              <a:t>Screen Type: </a:t>
            </a:r>
            <a:r>
              <a:rPr lang="en-IN" sz="1200" b="0" i="0" u="none" strike="noStrike" dirty="0">
                <a:effectLst/>
                <a:latin typeface="+mn-lt"/>
                <a:cs typeface="Calibri"/>
              </a:rPr>
              <a:t>Branching scenario</a:t>
            </a:r>
          </a:p>
          <a:p>
            <a:pPr algn="l" rtl="0" fontAlgn="base"/>
            <a:endParaRPr lang="en-IN" sz="1200" b="0" i="0" u="none" strike="noStrike"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Voice Over: </a:t>
            </a:r>
            <a:r>
              <a:rPr lang="en-US" sz="1200" b="0" i="0" u="none" strike="noStrike" dirty="0">
                <a:effectLst/>
                <a:latin typeface="+mn-lt"/>
                <a:cs typeface="Arial" panose="020B0604020202020204" pitchFamily="34" charset="0"/>
              </a:rPr>
              <a:t>NA</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Arial" panose="020B0604020202020204" pitchFamily="34" charset="0"/>
              </a:rPr>
              <a:t>Development Notes:</a:t>
            </a:r>
            <a:r>
              <a:rPr lang="en-US" sz="1200" b="0" i="0" dirty="0">
                <a:effectLst/>
                <a:latin typeface="+mn-lt"/>
                <a:cs typeface="Arial" panose="020B0604020202020204" pitchFamily="34" charset="0"/>
              </a:rPr>
              <a:t>​</a:t>
            </a:r>
          </a:p>
          <a:p>
            <a:pPr algn="l" rtl="0" fontAlgn="base"/>
            <a:r>
              <a:rPr lang="en-US" sz="1200" b="0" i="0" dirty="0">
                <a:effectLst/>
                <a:latin typeface="+mn-lt"/>
                <a:cs typeface="Arial" panose="020B0604020202020204" pitchFamily="34" charset="0"/>
              </a:rPr>
              <a:t>This is the continuation of the previous screen.</a:t>
            </a:r>
          </a:p>
          <a:p>
            <a:pPr algn="l" rtl="0" fontAlgn="base"/>
            <a:r>
              <a:rPr lang="en-US" sz="1200" b="0" i="0" dirty="0">
                <a:effectLst/>
                <a:latin typeface="+mn-lt"/>
                <a:cs typeface="Arial" panose="020B0604020202020204" pitchFamily="34" charset="0"/>
              </a:rPr>
              <a:t>Show the feedback given on screen after conversation.</a:t>
            </a:r>
          </a:p>
          <a:p>
            <a:pPr algn="l" rtl="0" fontAlgn="base">
              <a:buFont typeface="Arial" panose="020B0604020202020204" pitchFamily="34" charset="0"/>
              <a:buNone/>
            </a:pPr>
            <a:endParaRPr lang="en-IN" sz="1200" b="0" i="0"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Graphics Notes: </a:t>
            </a:r>
            <a:r>
              <a:rPr lang="en-US" sz="1200" b="0" i="0" dirty="0">
                <a:effectLst/>
                <a:latin typeface="+mn-lt"/>
                <a:cs typeface="Arial" panose="020B0604020202020204" pitchFamily="34" charset="0"/>
              </a:rPr>
              <a:t>​</a:t>
            </a:r>
          </a:p>
          <a:p>
            <a:r>
              <a:rPr lang="en-US" sz="1200" dirty="0">
                <a:latin typeface="+mn-lt"/>
                <a:cs typeface="Arial" panose="020B0604020202020204" pitchFamily="34" charset="0"/>
              </a:rPr>
              <a:t>NA</a:t>
            </a:r>
          </a:p>
          <a:p>
            <a:endParaRPr lang="en-US" sz="1200" dirty="0">
              <a:latin typeface="+mn-lt"/>
              <a:cs typeface="Arial" panose="020B0604020202020204" pitchFamily="34" charset="0"/>
            </a:endParaRPr>
          </a:p>
          <a:p>
            <a:r>
              <a:rPr lang="en-US" sz="1200" b="1" dirty="0">
                <a:latin typeface="+mn-lt"/>
                <a:cs typeface="Arial" panose="020B0604020202020204" pitchFamily="34" charset="0"/>
              </a:rPr>
              <a:t>Image source:</a:t>
            </a:r>
          </a:p>
          <a:p>
            <a:r>
              <a:rPr lang="en-US" sz="1200" b="0" dirty="0">
                <a:latin typeface="+mn-lt"/>
                <a:cs typeface="Arial" panose="020B0604020202020204" pitchFamily="34" charset="0"/>
              </a:rPr>
              <a:t>NA</a:t>
            </a:r>
            <a:endParaRPr lang="en-US" sz="1200" b="1" dirty="0">
              <a:latin typeface="+mn-lt"/>
              <a:cs typeface="Arial" panose="020B0604020202020204" pitchFamily="34" charset="0"/>
            </a:endParaRPr>
          </a:p>
        </p:txBody>
      </p:sp>
      <p:sp>
        <p:nvSpPr>
          <p:cNvPr id="4" name="Slide Number Placeholder 3">
            <a:extLst>
              <a:ext uri="{FF2B5EF4-FFF2-40B4-BE49-F238E27FC236}">
                <a16:creationId xmlns:a16="http://schemas.microsoft.com/office/drawing/2014/main" id="{A67CE790-EE29-5450-843C-75D6AA3BD0AA}"/>
              </a:ext>
            </a:extLst>
          </p:cNvPr>
          <p:cNvSpPr>
            <a:spLocks noGrp="1"/>
          </p:cNvSpPr>
          <p:nvPr>
            <p:ph type="sldNum" sz="quarter" idx="5"/>
          </p:nvPr>
        </p:nvSpPr>
        <p:spPr/>
        <p:txBody>
          <a:bodyPr/>
          <a:lstStyle/>
          <a:p>
            <a:fld id="{351E557E-5515-4674-B7CA-4465A7A70215}" type="slidenum">
              <a:rPr lang="en-IN" smtClean="0"/>
              <a:t>23</a:t>
            </a:fld>
            <a:endParaRPr lang="en-IN"/>
          </a:p>
        </p:txBody>
      </p:sp>
    </p:spTree>
    <p:extLst>
      <p:ext uri="{BB962C8B-B14F-4D97-AF65-F5344CB8AC3E}">
        <p14:creationId xmlns:p14="http://schemas.microsoft.com/office/powerpoint/2010/main" val="41400622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9B64F-EBBF-ABA3-946A-8111436B71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136BBA-CFA1-8350-A681-4384FD8DF32E}"/>
              </a:ext>
            </a:extLst>
          </p:cNvPr>
          <p:cNvSpPr>
            <a:spLocks noGrp="1" noRot="1" noChangeAspect="1"/>
          </p:cNvSpPr>
          <p:nvPr>
            <p:ph type="sldImg"/>
          </p:nvPr>
        </p:nvSpPr>
        <p:spPr/>
        <p:txBody>
          <a:bodyPr/>
          <a:lstStyle/>
          <a:p>
            <a:endParaRPr lang="en-UG"/>
          </a:p>
        </p:txBody>
      </p:sp>
      <p:sp>
        <p:nvSpPr>
          <p:cNvPr id="3" name="Notes Placeholder 2">
            <a:extLst>
              <a:ext uri="{FF2B5EF4-FFF2-40B4-BE49-F238E27FC236}">
                <a16:creationId xmlns:a16="http://schemas.microsoft.com/office/drawing/2014/main" id="{03F5BA0B-DC21-680E-2D96-AB385217252F}"/>
              </a:ext>
            </a:extLst>
          </p:cNvPr>
          <p:cNvSpPr>
            <a:spLocks noGrp="1"/>
          </p:cNvSpPr>
          <p:nvPr>
            <p:ph type="body" idx="1"/>
          </p:nvPr>
        </p:nvSpPr>
        <p:spPr/>
        <p:txBody>
          <a:bodyPr/>
          <a:lstStyle/>
          <a:p>
            <a:pPr algn="l" rtl="0" fontAlgn="base"/>
            <a:r>
              <a:rPr lang="en-IN" sz="1200" b="1" i="0" u="none" strike="noStrike" dirty="0">
                <a:effectLst/>
                <a:latin typeface="+mn-lt"/>
                <a:cs typeface="Arial" panose="020B0604020202020204" pitchFamily="34" charset="0"/>
              </a:rPr>
              <a:t>Screen Duration: </a:t>
            </a:r>
            <a:r>
              <a:rPr lang="en-IN" sz="1200" b="0" i="0" u="none" strike="noStrike" dirty="0">
                <a:effectLst/>
                <a:latin typeface="+mn-lt"/>
                <a:cs typeface="Arial" panose="020B0604020202020204" pitchFamily="34" charset="0"/>
              </a:rPr>
              <a:t>NA</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Calibri"/>
              </a:rPr>
              <a:t>Screen Type: </a:t>
            </a:r>
            <a:r>
              <a:rPr lang="en-IN" sz="1200" b="0" i="0" u="none" strike="noStrike" dirty="0">
                <a:effectLst/>
                <a:latin typeface="+mn-lt"/>
                <a:cs typeface="Calibri"/>
              </a:rPr>
              <a:t>Branching scenario</a:t>
            </a:r>
          </a:p>
          <a:p>
            <a:pPr algn="l" rtl="0" fontAlgn="base"/>
            <a:endParaRPr lang="en-IN" sz="1200" b="0" i="0" u="none" strike="noStrike"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Voice Over: </a:t>
            </a:r>
            <a:r>
              <a:rPr lang="en-US" sz="1200" b="0" i="0" u="none" strike="noStrike" dirty="0">
                <a:effectLst/>
                <a:latin typeface="+mn-lt"/>
                <a:cs typeface="Arial" panose="020B0604020202020204" pitchFamily="34" charset="0"/>
              </a:rPr>
              <a:t>NA</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Arial" panose="020B0604020202020204" pitchFamily="34" charset="0"/>
              </a:rPr>
              <a:t>Development Notes:</a:t>
            </a:r>
            <a:r>
              <a:rPr lang="en-US" sz="1200" b="0" i="0" dirty="0">
                <a:effectLst/>
                <a:latin typeface="+mn-lt"/>
                <a:cs typeface="Arial" panose="020B0604020202020204" pitchFamily="34" charset="0"/>
              </a:rPr>
              <a:t>​</a:t>
            </a:r>
          </a:p>
          <a:p>
            <a:pPr algn="l" rtl="0" fontAlgn="base"/>
            <a:r>
              <a:rPr lang="en-US" sz="1200" b="0" i="0" dirty="0">
                <a:effectLst/>
                <a:latin typeface="+mn-lt"/>
                <a:cs typeface="Arial" panose="020B0604020202020204" pitchFamily="34" charset="0"/>
              </a:rPr>
              <a:t>This is the continuation of the previous screen.</a:t>
            </a:r>
          </a:p>
          <a:p>
            <a:pPr algn="l" rtl="0" fontAlgn="base"/>
            <a:r>
              <a:rPr lang="en-US" sz="1200" b="0" i="0" dirty="0">
                <a:effectLst/>
                <a:latin typeface="+mn-lt"/>
                <a:cs typeface="Arial" panose="020B0604020202020204" pitchFamily="34" charset="0"/>
              </a:rPr>
              <a:t>The continue to debrief button will take to screen number 28-32.</a:t>
            </a:r>
          </a:p>
          <a:p>
            <a:pPr algn="l" rtl="0" fontAlgn="base">
              <a:buFont typeface="Arial" panose="020B0604020202020204" pitchFamily="34" charset="0"/>
              <a:buNone/>
            </a:pPr>
            <a:endParaRPr lang="en-IN" sz="1200" b="0" i="0"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Graphics Notes: </a:t>
            </a:r>
            <a:r>
              <a:rPr lang="en-US" sz="1200" b="0" i="0" dirty="0">
                <a:effectLst/>
                <a:latin typeface="+mn-lt"/>
                <a:cs typeface="Arial" panose="020B0604020202020204" pitchFamily="34" charset="0"/>
              </a:rPr>
              <a:t>​</a:t>
            </a:r>
          </a:p>
          <a:p>
            <a:r>
              <a:rPr lang="en-US" sz="1200" dirty="0">
                <a:latin typeface="+mn-lt"/>
                <a:cs typeface="Arial" panose="020B0604020202020204" pitchFamily="34" charset="0"/>
              </a:rPr>
              <a:t>NA</a:t>
            </a:r>
          </a:p>
          <a:p>
            <a:endParaRPr lang="en-US" sz="1200" dirty="0">
              <a:latin typeface="+mn-lt"/>
              <a:cs typeface="Arial" panose="020B0604020202020204" pitchFamily="34" charset="0"/>
            </a:endParaRPr>
          </a:p>
          <a:p>
            <a:r>
              <a:rPr lang="en-US" sz="1200" b="1" dirty="0">
                <a:latin typeface="+mn-lt"/>
                <a:cs typeface="Arial" panose="020B0604020202020204" pitchFamily="34" charset="0"/>
              </a:rPr>
              <a:t>Image source:</a:t>
            </a:r>
          </a:p>
          <a:p>
            <a:r>
              <a:rPr lang="en-US" sz="1200" b="0" dirty="0">
                <a:latin typeface="+mn-lt"/>
                <a:cs typeface="Arial" panose="020B0604020202020204" pitchFamily="34" charset="0"/>
              </a:rPr>
              <a:t>NA</a:t>
            </a:r>
            <a:endParaRPr lang="en-US" sz="1200" b="1" dirty="0">
              <a:latin typeface="+mn-lt"/>
              <a:cs typeface="Arial" panose="020B0604020202020204" pitchFamily="34" charset="0"/>
            </a:endParaRPr>
          </a:p>
        </p:txBody>
      </p:sp>
      <p:sp>
        <p:nvSpPr>
          <p:cNvPr id="4" name="Slide Number Placeholder 3">
            <a:extLst>
              <a:ext uri="{FF2B5EF4-FFF2-40B4-BE49-F238E27FC236}">
                <a16:creationId xmlns:a16="http://schemas.microsoft.com/office/drawing/2014/main" id="{CEDADFAD-9E6F-B3BF-70E8-32D77FF14C45}"/>
              </a:ext>
            </a:extLst>
          </p:cNvPr>
          <p:cNvSpPr>
            <a:spLocks noGrp="1"/>
          </p:cNvSpPr>
          <p:nvPr>
            <p:ph type="sldNum" sz="quarter" idx="5"/>
          </p:nvPr>
        </p:nvSpPr>
        <p:spPr/>
        <p:txBody>
          <a:bodyPr/>
          <a:lstStyle/>
          <a:p>
            <a:fld id="{351E557E-5515-4674-B7CA-4465A7A70215}" type="slidenum">
              <a:rPr lang="en-IN" smtClean="0"/>
              <a:t>24</a:t>
            </a:fld>
            <a:endParaRPr lang="en-IN"/>
          </a:p>
        </p:txBody>
      </p:sp>
    </p:spTree>
    <p:extLst>
      <p:ext uri="{BB962C8B-B14F-4D97-AF65-F5344CB8AC3E}">
        <p14:creationId xmlns:p14="http://schemas.microsoft.com/office/powerpoint/2010/main" val="4375125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D4801-5A93-E8FA-1500-689BA69EF7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815B47-1BB8-D651-3533-F1FF6C9A63B5}"/>
              </a:ext>
            </a:extLst>
          </p:cNvPr>
          <p:cNvSpPr>
            <a:spLocks noGrp="1" noRot="1" noChangeAspect="1"/>
          </p:cNvSpPr>
          <p:nvPr>
            <p:ph type="sldImg"/>
          </p:nvPr>
        </p:nvSpPr>
        <p:spPr/>
        <p:txBody>
          <a:bodyPr/>
          <a:lstStyle/>
          <a:p>
            <a:endParaRPr lang="en-UG"/>
          </a:p>
        </p:txBody>
      </p:sp>
      <p:sp>
        <p:nvSpPr>
          <p:cNvPr id="3" name="Notes Placeholder 2">
            <a:extLst>
              <a:ext uri="{FF2B5EF4-FFF2-40B4-BE49-F238E27FC236}">
                <a16:creationId xmlns:a16="http://schemas.microsoft.com/office/drawing/2014/main" id="{3CAF16B7-B6A3-3170-9296-C0D573AC63CA}"/>
              </a:ext>
            </a:extLst>
          </p:cNvPr>
          <p:cNvSpPr>
            <a:spLocks noGrp="1"/>
          </p:cNvSpPr>
          <p:nvPr>
            <p:ph type="body" idx="1"/>
          </p:nvPr>
        </p:nvSpPr>
        <p:spPr/>
        <p:txBody>
          <a:bodyPr/>
          <a:lstStyle/>
          <a:p>
            <a:pPr algn="l" rtl="0" fontAlgn="base"/>
            <a:r>
              <a:rPr lang="en-IN" sz="1200" b="1" i="0" u="none" strike="noStrike" dirty="0">
                <a:effectLst/>
                <a:latin typeface="+mn-lt"/>
                <a:cs typeface="Arial" panose="020B0604020202020204" pitchFamily="34" charset="0"/>
              </a:rPr>
              <a:t>Screen Duration: </a:t>
            </a:r>
            <a:r>
              <a:rPr lang="en-IN" sz="1200" b="0" i="0" u="none" strike="noStrike" dirty="0">
                <a:effectLst/>
                <a:latin typeface="+mn-lt"/>
                <a:cs typeface="Arial" panose="020B0604020202020204" pitchFamily="34" charset="0"/>
              </a:rPr>
              <a:t>NA</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Calibri"/>
              </a:rPr>
              <a:t>Screen Type: </a:t>
            </a:r>
            <a:r>
              <a:rPr lang="en-IN" sz="1200" b="0" i="0" u="none" strike="noStrike" dirty="0">
                <a:effectLst/>
                <a:latin typeface="+mn-lt"/>
                <a:cs typeface="Calibri"/>
              </a:rPr>
              <a:t>Branching scenario</a:t>
            </a:r>
            <a:endParaRPr lang="en-IN" sz="1200" b="0" i="0" u="none" strike="noStrike"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Voice Over: </a:t>
            </a:r>
            <a:r>
              <a:rPr lang="en-US" dirty="0"/>
              <a:t>NA</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Arial" panose="020B0604020202020204" pitchFamily="34" charset="0"/>
              </a:rPr>
              <a:t>Development Notes:</a:t>
            </a:r>
            <a:r>
              <a:rPr lang="en-US" sz="1200" b="0" i="0" dirty="0">
                <a:effectLst/>
                <a:latin typeface="+mn-lt"/>
                <a:cs typeface="Arial" panose="020B0604020202020204" pitchFamily="34" charset="0"/>
              </a:rPr>
              <a:t>​</a:t>
            </a:r>
          </a:p>
          <a:p>
            <a:pPr algn="l" rtl="0" fontAlgn="base"/>
            <a:r>
              <a:rPr lang="en-US" sz="1200" b="0" i="0" dirty="0">
                <a:effectLst/>
                <a:latin typeface="+mn-lt"/>
                <a:cs typeface="Arial" panose="020B0604020202020204" pitchFamily="34" charset="0"/>
              </a:rPr>
              <a:t>This is the continuation of the previous screen.</a:t>
            </a:r>
          </a:p>
          <a:p>
            <a:pPr algn="l" rtl="0" fontAlgn="base"/>
            <a:r>
              <a:rPr lang="en-US" sz="1200" b="0" i="0" dirty="0">
                <a:effectLst/>
                <a:latin typeface="+mn-lt"/>
                <a:cs typeface="Arial" panose="020B0604020202020204" pitchFamily="34" charset="0"/>
              </a:rPr>
              <a:t>Show this conversation and letter from corporate office.</a:t>
            </a:r>
          </a:p>
          <a:p>
            <a:pPr algn="l" rtl="0" fontAlgn="base">
              <a:buFont typeface="Arial" panose="020B0604020202020204" pitchFamily="34" charset="0"/>
              <a:buNone/>
            </a:pPr>
            <a:endParaRPr lang="en-IN" sz="1200" b="0" i="0"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Graphics Notes: </a:t>
            </a:r>
            <a:r>
              <a:rPr lang="en-US" sz="1200" b="0" i="0" dirty="0">
                <a:effectLst/>
                <a:latin typeface="+mn-lt"/>
                <a:cs typeface="Arial" panose="020B0604020202020204" pitchFamily="34" charset="0"/>
              </a:rPr>
              <a:t>​</a:t>
            </a:r>
          </a:p>
          <a:p>
            <a:r>
              <a:rPr lang="en-US" sz="1200" dirty="0">
                <a:latin typeface="+mn-lt"/>
                <a:cs typeface="Arial" panose="020B0604020202020204" pitchFamily="34" charset="0"/>
              </a:rPr>
              <a:t>NA</a:t>
            </a:r>
          </a:p>
          <a:p>
            <a:endParaRPr lang="en-US" sz="1200" dirty="0">
              <a:latin typeface="+mn-lt"/>
              <a:cs typeface="Arial" panose="020B0604020202020204" pitchFamily="34" charset="0"/>
            </a:endParaRPr>
          </a:p>
          <a:p>
            <a:r>
              <a:rPr lang="en-US" sz="1200" b="1" dirty="0">
                <a:latin typeface="+mn-lt"/>
                <a:cs typeface="Arial" panose="020B0604020202020204" pitchFamily="34" charset="0"/>
              </a:rPr>
              <a:t>Image source: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latin typeface="+mn-lt"/>
                <a:cs typeface="Arial" panose="020B0604020202020204" pitchFamily="34" charset="0"/>
              </a:rPr>
              <a:t>NA</a:t>
            </a:r>
          </a:p>
        </p:txBody>
      </p:sp>
      <p:sp>
        <p:nvSpPr>
          <p:cNvPr id="4" name="Slide Number Placeholder 3">
            <a:extLst>
              <a:ext uri="{FF2B5EF4-FFF2-40B4-BE49-F238E27FC236}">
                <a16:creationId xmlns:a16="http://schemas.microsoft.com/office/drawing/2014/main" id="{43724D08-9F3B-8907-D422-09C07EEB474E}"/>
              </a:ext>
            </a:extLst>
          </p:cNvPr>
          <p:cNvSpPr>
            <a:spLocks noGrp="1"/>
          </p:cNvSpPr>
          <p:nvPr>
            <p:ph type="sldNum" sz="quarter" idx="5"/>
          </p:nvPr>
        </p:nvSpPr>
        <p:spPr/>
        <p:txBody>
          <a:bodyPr/>
          <a:lstStyle/>
          <a:p>
            <a:fld id="{351E557E-5515-4674-B7CA-4465A7A70215}" type="slidenum">
              <a:rPr lang="en-IN" smtClean="0"/>
              <a:t>25</a:t>
            </a:fld>
            <a:endParaRPr lang="en-IN"/>
          </a:p>
        </p:txBody>
      </p:sp>
    </p:spTree>
    <p:extLst>
      <p:ext uri="{BB962C8B-B14F-4D97-AF65-F5344CB8AC3E}">
        <p14:creationId xmlns:p14="http://schemas.microsoft.com/office/powerpoint/2010/main" val="37149202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FFF6A-31B3-E551-BDD9-FAB076C9C6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4434E8-EEEF-219E-110C-91BB7C46663C}"/>
              </a:ext>
            </a:extLst>
          </p:cNvPr>
          <p:cNvSpPr>
            <a:spLocks noGrp="1" noRot="1" noChangeAspect="1"/>
          </p:cNvSpPr>
          <p:nvPr>
            <p:ph type="sldImg"/>
          </p:nvPr>
        </p:nvSpPr>
        <p:spPr/>
        <p:txBody>
          <a:bodyPr/>
          <a:lstStyle/>
          <a:p>
            <a:endParaRPr lang="en-UG"/>
          </a:p>
        </p:txBody>
      </p:sp>
      <p:sp>
        <p:nvSpPr>
          <p:cNvPr id="3" name="Notes Placeholder 2">
            <a:extLst>
              <a:ext uri="{FF2B5EF4-FFF2-40B4-BE49-F238E27FC236}">
                <a16:creationId xmlns:a16="http://schemas.microsoft.com/office/drawing/2014/main" id="{0F61B351-7896-EA4B-3246-EB4CB38115A8}"/>
              </a:ext>
            </a:extLst>
          </p:cNvPr>
          <p:cNvSpPr>
            <a:spLocks noGrp="1"/>
          </p:cNvSpPr>
          <p:nvPr>
            <p:ph type="body" idx="1"/>
          </p:nvPr>
        </p:nvSpPr>
        <p:spPr/>
        <p:txBody>
          <a:bodyPr/>
          <a:lstStyle/>
          <a:p>
            <a:pPr algn="l" rtl="0" fontAlgn="base"/>
            <a:r>
              <a:rPr lang="en-IN" sz="1200" b="1" i="0" u="none" strike="noStrike" dirty="0">
                <a:effectLst/>
                <a:latin typeface="+mn-lt"/>
                <a:cs typeface="Arial" panose="020B0604020202020204" pitchFamily="34" charset="0"/>
              </a:rPr>
              <a:t>Screen Duration: </a:t>
            </a:r>
            <a:r>
              <a:rPr lang="en-IN" sz="1200" b="0" i="0" u="none" strike="noStrike" dirty="0">
                <a:effectLst/>
                <a:latin typeface="+mn-lt"/>
                <a:cs typeface="Arial" panose="020B0604020202020204" pitchFamily="34" charset="0"/>
              </a:rPr>
              <a:t>NA</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Calibri"/>
              </a:rPr>
              <a:t>Screen Type: </a:t>
            </a:r>
            <a:r>
              <a:rPr lang="en-IN" sz="1200" b="0" i="0" u="none" strike="noStrike" dirty="0">
                <a:effectLst/>
                <a:latin typeface="+mn-lt"/>
                <a:cs typeface="Calibri"/>
              </a:rPr>
              <a:t>Branching scenario</a:t>
            </a:r>
          </a:p>
          <a:p>
            <a:pPr algn="l" rtl="0" fontAlgn="base"/>
            <a:endParaRPr lang="en-IN" sz="1200" b="0" i="0" u="none" strike="noStrike"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Voice Over: </a:t>
            </a:r>
            <a:r>
              <a:rPr lang="en-US" dirty="0"/>
              <a:t>NA</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Arial" panose="020B0604020202020204" pitchFamily="34" charset="0"/>
              </a:rPr>
              <a:t>Development Notes:</a:t>
            </a:r>
            <a:r>
              <a:rPr lang="en-US" sz="1200" b="0" i="0" dirty="0">
                <a:effectLst/>
                <a:latin typeface="+mn-lt"/>
                <a:cs typeface="Arial" panose="020B0604020202020204" pitchFamily="34" charset="0"/>
              </a:rPr>
              <a:t>​</a:t>
            </a:r>
          </a:p>
          <a:p>
            <a:pPr algn="l" rtl="0" fontAlgn="base"/>
            <a:r>
              <a:rPr lang="en-US" sz="1200" b="0" i="0" dirty="0">
                <a:effectLst/>
                <a:latin typeface="+mn-lt"/>
                <a:cs typeface="Arial" panose="020B0604020202020204" pitchFamily="34" charset="0"/>
              </a:rPr>
              <a:t>This is the continuation of the previous screen.</a:t>
            </a:r>
          </a:p>
          <a:p>
            <a:pPr algn="l" rtl="0" fontAlgn="base"/>
            <a:r>
              <a:rPr lang="en-US" sz="1200" b="0" i="0" dirty="0">
                <a:effectLst/>
                <a:latin typeface="+mn-lt"/>
                <a:cs typeface="Arial" panose="020B0604020202020204" pitchFamily="34" charset="0"/>
              </a:rPr>
              <a:t>The try again button brings back to screen 14.</a:t>
            </a:r>
          </a:p>
          <a:p>
            <a:pPr algn="l" rtl="0" fontAlgn="base">
              <a:buFont typeface="Arial" panose="020B0604020202020204" pitchFamily="34" charset="0"/>
              <a:buNone/>
            </a:pPr>
            <a:endParaRPr lang="en-IN" sz="1200" b="0" i="0"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Graphics Notes: </a:t>
            </a:r>
            <a:r>
              <a:rPr lang="en-US" sz="1200" b="0" i="0" dirty="0">
                <a:effectLst/>
                <a:latin typeface="+mn-lt"/>
                <a:cs typeface="Arial" panose="020B0604020202020204" pitchFamily="34" charset="0"/>
              </a:rPr>
              <a:t>​</a:t>
            </a:r>
          </a:p>
          <a:p>
            <a:r>
              <a:rPr lang="en-US" sz="1200" dirty="0">
                <a:latin typeface="+mn-lt"/>
                <a:cs typeface="Arial" panose="020B0604020202020204" pitchFamily="34" charset="0"/>
              </a:rPr>
              <a:t>NA</a:t>
            </a:r>
          </a:p>
          <a:p>
            <a:endParaRPr lang="en-US" sz="1200" dirty="0">
              <a:latin typeface="+mn-lt"/>
              <a:cs typeface="Arial" panose="020B0604020202020204" pitchFamily="34" charset="0"/>
            </a:endParaRPr>
          </a:p>
          <a:p>
            <a:r>
              <a:rPr lang="en-US" sz="1200" b="1" dirty="0">
                <a:latin typeface="+mn-lt"/>
                <a:cs typeface="Arial" panose="020B0604020202020204" pitchFamily="34" charset="0"/>
              </a:rPr>
              <a:t>Image source: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latin typeface="+mn-lt"/>
                <a:cs typeface="Arial" panose="020B0604020202020204" pitchFamily="34" charset="0"/>
              </a:rPr>
              <a:t>NA</a:t>
            </a:r>
          </a:p>
        </p:txBody>
      </p:sp>
      <p:sp>
        <p:nvSpPr>
          <p:cNvPr id="4" name="Slide Number Placeholder 3">
            <a:extLst>
              <a:ext uri="{FF2B5EF4-FFF2-40B4-BE49-F238E27FC236}">
                <a16:creationId xmlns:a16="http://schemas.microsoft.com/office/drawing/2014/main" id="{00CD94B9-DBC8-2697-5429-CF31AE10A845}"/>
              </a:ext>
            </a:extLst>
          </p:cNvPr>
          <p:cNvSpPr>
            <a:spLocks noGrp="1"/>
          </p:cNvSpPr>
          <p:nvPr>
            <p:ph type="sldNum" sz="quarter" idx="5"/>
          </p:nvPr>
        </p:nvSpPr>
        <p:spPr/>
        <p:txBody>
          <a:bodyPr/>
          <a:lstStyle/>
          <a:p>
            <a:fld id="{351E557E-5515-4674-B7CA-4465A7A70215}" type="slidenum">
              <a:rPr lang="en-IN" smtClean="0"/>
              <a:t>26</a:t>
            </a:fld>
            <a:endParaRPr lang="en-IN"/>
          </a:p>
        </p:txBody>
      </p:sp>
    </p:spTree>
    <p:extLst>
      <p:ext uri="{BB962C8B-B14F-4D97-AF65-F5344CB8AC3E}">
        <p14:creationId xmlns:p14="http://schemas.microsoft.com/office/powerpoint/2010/main" val="17918419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7D057-861C-ED6F-62DA-14B9E2F120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692209-C8CC-48A7-DAA5-07547F570505}"/>
              </a:ext>
            </a:extLst>
          </p:cNvPr>
          <p:cNvSpPr>
            <a:spLocks noGrp="1" noRot="1" noChangeAspect="1"/>
          </p:cNvSpPr>
          <p:nvPr>
            <p:ph type="sldImg"/>
          </p:nvPr>
        </p:nvSpPr>
        <p:spPr/>
        <p:txBody>
          <a:bodyPr/>
          <a:lstStyle/>
          <a:p>
            <a:endParaRPr lang="en-UG"/>
          </a:p>
        </p:txBody>
      </p:sp>
      <p:sp>
        <p:nvSpPr>
          <p:cNvPr id="3" name="Notes Placeholder 2">
            <a:extLst>
              <a:ext uri="{FF2B5EF4-FFF2-40B4-BE49-F238E27FC236}">
                <a16:creationId xmlns:a16="http://schemas.microsoft.com/office/drawing/2014/main" id="{5CF9EDFA-11FD-BF3D-BEBE-4065E66A5347}"/>
              </a:ext>
            </a:extLst>
          </p:cNvPr>
          <p:cNvSpPr>
            <a:spLocks noGrp="1"/>
          </p:cNvSpPr>
          <p:nvPr>
            <p:ph type="body" idx="1"/>
          </p:nvPr>
        </p:nvSpPr>
        <p:spPr/>
        <p:txBody>
          <a:bodyPr/>
          <a:lstStyle/>
          <a:p>
            <a:pPr algn="l" rtl="0" fontAlgn="base"/>
            <a:r>
              <a:rPr lang="en-IN" sz="1200" b="1" i="0" u="none" strike="noStrike" dirty="0">
                <a:effectLst/>
                <a:latin typeface="+mn-lt"/>
                <a:cs typeface="Arial" panose="020B0604020202020204" pitchFamily="34" charset="0"/>
              </a:rPr>
              <a:t>Screen Duration: </a:t>
            </a:r>
            <a:r>
              <a:rPr lang="en-IN" sz="1200" b="0" i="0" u="none" strike="noStrike" dirty="0">
                <a:effectLst/>
                <a:latin typeface="+mn-lt"/>
                <a:cs typeface="Arial" panose="020B0604020202020204" pitchFamily="34" charset="0"/>
              </a:rPr>
              <a:t>NA</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Calibri"/>
              </a:rPr>
              <a:t>Screen Type: </a:t>
            </a:r>
            <a:r>
              <a:rPr lang="en-IN" sz="1200" b="0" i="0" u="none" strike="noStrike" dirty="0">
                <a:effectLst/>
                <a:latin typeface="+mn-lt"/>
                <a:cs typeface="Calibri"/>
              </a:rPr>
              <a:t>Branching scenario</a:t>
            </a:r>
          </a:p>
          <a:p>
            <a:pPr algn="l" rtl="0" fontAlgn="base"/>
            <a:endParaRPr lang="en-IN" sz="1200" b="0" i="0" u="none" strike="noStrike"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Voice Over: </a:t>
            </a:r>
            <a:r>
              <a:rPr lang="en-US" dirty="0"/>
              <a:t>NA</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Arial" panose="020B0604020202020204" pitchFamily="34" charset="0"/>
              </a:rPr>
              <a:t>Development Notes:</a:t>
            </a:r>
            <a:r>
              <a:rPr lang="en-US" sz="1200" b="0" i="0" dirty="0">
                <a:effectLst/>
                <a:latin typeface="+mn-lt"/>
                <a:cs typeface="Arial" panose="020B0604020202020204" pitchFamily="34" charset="0"/>
              </a:rPr>
              <a:t>​</a:t>
            </a:r>
          </a:p>
          <a:p>
            <a:pPr algn="l" rtl="0" fontAlgn="base"/>
            <a:r>
              <a:rPr lang="en-US" sz="1200" b="0" i="0" dirty="0">
                <a:effectLst/>
                <a:latin typeface="+mn-lt"/>
                <a:cs typeface="Arial" panose="020B0604020202020204" pitchFamily="34" charset="0"/>
              </a:rPr>
              <a:t>This is the continuation of the previous screen.</a:t>
            </a:r>
          </a:p>
          <a:p>
            <a:pPr algn="l" rtl="0" fontAlgn="base"/>
            <a:r>
              <a:rPr lang="en-US" sz="1200" b="0" i="0" dirty="0">
                <a:effectLst/>
                <a:latin typeface="+mn-lt"/>
                <a:cs typeface="Arial" panose="020B0604020202020204" pitchFamily="34" charset="0"/>
              </a:rPr>
              <a:t>The try again button brings back to screen 14.</a:t>
            </a:r>
          </a:p>
          <a:p>
            <a:pPr algn="l" rtl="0" fontAlgn="base">
              <a:buFont typeface="Arial" panose="020B0604020202020204" pitchFamily="34" charset="0"/>
              <a:buNone/>
            </a:pPr>
            <a:endParaRPr lang="en-IN" sz="1200" b="0" i="0"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Graphics Notes: </a:t>
            </a:r>
            <a:r>
              <a:rPr lang="en-US" sz="1200" b="0" i="0" dirty="0">
                <a:effectLst/>
                <a:latin typeface="+mn-lt"/>
                <a:cs typeface="Arial" panose="020B0604020202020204" pitchFamily="34" charset="0"/>
              </a:rPr>
              <a:t>​</a:t>
            </a:r>
          </a:p>
          <a:p>
            <a:r>
              <a:rPr lang="en-US" sz="1200" dirty="0">
                <a:latin typeface="+mn-lt"/>
                <a:cs typeface="Arial" panose="020B0604020202020204" pitchFamily="34" charset="0"/>
              </a:rPr>
              <a:t>NA</a:t>
            </a:r>
          </a:p>
          <a:p>
            <a:endParaRPr lang="en-US" sz="1200" dirty="0">
              <a:latin typeface="+mn-lt"/>
              <a:cs typeface="Arial" panose="020B0604020202020204" pitchFamily="34" charset="0"/>
            </a:endParaRPr>
          </a:p>
          <a:p>
            <a:r>
              <a:rPr lang="en-US" sz="1200" b="1" dirty="0">
                <a:latin typeface="+mn-lt"/>
                <a:cs typeface="Arial" panose="020B0604020202020204" pitchFamily="34" charset="0"/>
              </a:rPr>
              <a:t>Image source: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latin typeface="+mn-lt"/>
                <a:cs typeface="Arial" panose="020B0604020202020204" pitchFamily="34" charset="0"/>
              </a:rPr>
              <a:t>NA</a:t>
            </a:r>
          </a:p>
        </p:txBody>
      </p:sp>
      <p:sp>
        <p:nvSpPr>
          <p:cNvPr id="4" name="Slide Number Placeholder 3">
            <a:extLst>
              <a:ext uri="{FF2B5EF4-FFF2-40B4-BE49-F238E27FC236}">
                <a16:creationId xmlns:a16="http://schemas.microsoft.com/office/drawing/2014/main" id="{E1E17C1C-58DC-A74D-968E-A56AEEF18EDD}"/>
              </a:ext>
            </a:extLst>
          </p:cNvPr>
          <p:cNvSpPr>
            <a:spLocks noGrp="1"/>
          </p:cNvSpPr>
          <p:nvPr>
            <p:ph type="sldNum" sz="quarter" idx="5"/>
          </p:nvPr>
        </p:nvSpPr>
        <p:spPr/>
        <p:txBody>
          <a:bodyPr/>
          <a:lstStyle/>
          <a:p>
            <a:fld id="{351E557E-5515-4674-B7CA-4465A7A70215}" type="slidenum">
              <a:rPr lang="en-IN" smtClean="0"/>
              <a:t>27</a:t>
            </a:fld>
            <a:endParaRPr lang="en-IN"/>
          </a:p>
        </p:txBody>
      </p:sp>
    </p:spTree>
    <p:extLst>
      <p:ext uri="{BB962C8B-B14F-4D97-AF65-F5344CB8AC3E}">
        <p14:creationId xmlns:p14="http://schemas.microsoft.com/office/powerpoint/2010/main" val="18522105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BD7B3-7570-6DBE-BD16-8338023E82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B0124A-802C-CB72-9CC3-0D80581D06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39BAD3-1CF4-D9B1-7085-71BFE0F14766}"/>
              </a:ext>
            </a:extLst>
          </p:cNvPr>
          <p:cNvSpPr>
            <a:spLocks noGrp="1"/>
          </p:cNvSpPr>
          <p:nvPr>
            <p:ph type="body" idx="1"/>
          </p:nvPr>
        </p:nvSpPr>
        <p:spPr/>
        <p:txBody>
          <a:bodyPr/>
          <a:lstStyle/>
          <a:p>
            <a:pPr algn="l" rtl="0" fontAlgn="base"/>
            <a:r>
              <a:rPr lang="en-IN" sz="1200" b="1" i="0" u="none" strike="noStrike" dirty="0">
                <a:effectLst/>
                <a:latin typeface="+mn-lt"/>
                <a:cs typeface="Arial" panose="020B0604020202020204" pitchFamily="34" charset="0"/>
              </a:rPr>
              <a:t>Screen Duration: </a:t>
            </a:r>
            <a:r>
              <a:rPr lang="en-IN" sz="1200" b="0" i="0" u="none" strike="noStrike" dirty="0">
                <a:effectLst/>
                <a:latin typeface="+mn-lt"/>
                <a:cs typeface="Arial" panose="020B0604020202020204" pitchFamily="34" charset="0"/>
              </a:rPr>
              <a:t>0.5 min</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Calibri"/>
              </a:rPr>
              <a:t>Screen Type: </a:t>
            </a:r>
            <a:r>
              <a:rPr lang="en-IN" sz="1200" b="0" i="0" u="none" strike="noStrike" dirty="0">
                <a:effectLst/>
                <a:latin typeface="+mn-lt"/>
                <a:cs typeface="Calibri"/>
              </a:rPr>
              <a:t>Text with infographic</a:t>
            </a:r>
          </a:p>
          <a:p>
            <a:pPr algn="l" rtl="0" fontAlgn="base"/>
            <a:endParaRPr lang="en-IN" sz="1200" b="0" i="0" u="none" strike="noStrike" dirty="0">
              <a:effectLst/>
              <a:latin typeface="+mn-lt"/>
              <a:cs typeface="Calibri"/>
            </a:endParaRPr>
          </a:p>
          <a:p>
            <a:pPr algn="l" rtl="0" fontAlgn="base"/>
            <a:r>
              <a:rPr lang="en-IN" sz="1200" b="1" i="0" u="none" strike="noStrike" dirty="0">
                <a:effectLst/>
                <a:latin typeface="+mn-lt"/>
                <a:cs typeface="Calibri"/>
              </a:rPr>
              <a:t>Voice over:</a:t>
            </a:r>
            <a:r>
              <a:rPr lang="en-IN" sz="1200" b="0" i="0" u="none" strike="noStrike" dirty="0">
                <a:effectLst/>
                <a:latin typeface="+mn-lt"/>
                <a:cs typeface="Calibri"/>
              </a:rPr>
              <a:t> Now let’s unpack what you have learned from this scenario.</a:t>
            </a:r>
          </a:p>
          <a:p>
            <a:pPr algn="l" rtl="0" fontAlgn="base"/>
            <a:endParaRPr lang="en-IN" sz="1200" b="0" i="0" u="none" strike="noStrike" dirty="0">
              <a:effectLst/>
              <a:latin typeface="+mn-lt"/>
              <a:cs typeface="Calibri"/>
            </a:endParaRPr>
          </a:p>
          <a:p>
            <a:pPr algn="l" rtl="0" fontAlgn="base"/>
            <a:r>
              <a:rPr lang="en-IN" sz="1200" b="0" i="0" u="none" strike="noStrike" dirty="0">
                <a:effectLst/>
                <a:latin typeface="+mn-lt"/>
                <a:cs typeface="Calibri"/>
              </a:rPr>
              <a:t>If you process the transaction immediately, there is an opportunity to miss red flags and crime may continue.</a:t>
            </a:r>
          </a:p>
          <a:p>
            <a:pPr algn="l" rtl="0" fontAlgn="base"/>
            <a:endParaRPr lang="en-IN" sz="1200" b="0" i="0" u="none" strike="noStrike" dirty="0">
              <a:effectLst/>
              <a:latin typeface="+mn-lt"/>
              <a:cs typeface="Calibri"/>
            </a:endParaRPr>
          </a:p>
          <a:p>
            <a:pPr algn="l" rtl="0" fontAlgn="base"/>
            <a:r>
              <a:rPr lang="en-IN" sz="1200" b="0" i="0" u="none" strike="noStrike" dirty="0">
                <a:effectLst/>
                <a:latin typeface="+mn-lt"/>
                <a:cs typeface="Calibri"/>
              </a:rPr>
              <a:t>If you ask the question first before taking the cash deposit request from Maria, you demonstrated professional inquiry about the amount, which reveals the truth.</a:t>
            </a:r>
          </a:p>
          <a:p>
            <a:pPr algn="l" rtl="0" fontAlgn="base"/>
            <a:endParaRPr lang="en-IN" sz="1200" b="0" i="0" u="none" strike="noStrike" dirty="0">
              <a:effectLst/>
              <a:latin typeface="+mn-lt"/>
              <a:cs typeface="Calibri"/>
            </a:endParaRPr>
          </a:p>
          <a:p>
            <a:pPr algn="l" rtl="0" fontAlgn="base"/>
            <a:r>
              <a:rPr lang="en-IN" sz="1200" b="0" i="0" u="none" strike="noStrike" dirty="0">
                <a:effectLst/>
                <a:latin typeface="+mn-lt"/>
                <a:cs typeface="Calibri"/>
              </a:rPr>
              <a:t>If your decline and escalate the request without knowing anything from Maria, this clearly demonstrated over reaction to the situation and has the potential to sabotage the customer relationship.</a:t>
            </a:r>
          </a:p>
          <a:p>
            <a:pPr algn="l" rtl="0" fontAlgn="base"/>
            <a:endParaRPr lang="en-IN" sz="1200" b="0" i="0"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Development Notes:</a:t>
            </a:r>
            <a:r>
              <a:rPr lang="en-US" sz="1200" b="0" i="0" dirty="0">
                <a:effectLst/>
                <a:latin typeface="+mn-lt"/>
                <a:cs typeface="Arial" panose="020B0604020202020204" pitchFamily="34" charset="0"/>
              </a:rPr>
              <a:t>​</a:t>
            </a:r>
          </a:p>
          <a:p>
            <a:pPr algn="l" rtl="0" fontAlgn="base"/>
            <a:r>
              <a:rPr lang="en-US" sz="1200" b="0" i="0" dirty="0">
                <a:effectLst/>
                <a:latin typeface="+mn-lt"/>
                <a:cs typeface="Arial" panose="020B0604020202020204" pitchFamily="34" charset="0"/>
              </a:rPr>
              <a:t>On this screen these tabs will not be clickable. Just present it in the form of an infographic.</a:t>
            </a:r>
          </a:p>
          <a:p>
            <a:pPr algn="l" rtl="0" fontAlgn="base"/>
            <a:r>
              <a:rPr lang="en-US" sz="1200" b="0" i="0" dirty="0">
                <a:effectLst/>
                <a:latin typeface="+mn-lt"/>
                <a:cs typeface="Arial" panose="020B0604020202020204" pitchFamily="34" charset="0"/>
              </a:rPr>
              <a:t>Make them appear one by one on screen.</a:t>
            </a:r>
          </a:p>
          <a:p>
            <a:pPr algn="l" rtl="0" fontAlgn="base"/>
            <a:r>
              <a:rPr lang="en-US" sz="1200" b="0" i="0" dirty="0">
                <a:effectLst/>
                <a:latin typeface="+mn-lt"/>
                <a:cs typeface="Arial" panose="020B0604020202020204" pitchFamily="34" charset="0"/>
              </a:rPr>
              <a:t>Synch the appearance of OST and VO.</a:t>
            </a:r>
          </a:p>
          <a:p>
            <a:pPr algn="l" rtl="0" fontAlgn="base"/>
            <a:endParaRPr lang="en-IN" sz="1200" b="1" i="0" u="none" strike="noStrike"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Graphics Notes: </a:t>
            </a:r>
            <a:r>
              <a:rPr lang="en-US" sz="1200" b="0" i="0" dirty="0">
                <a:effectLst/>
                <a:latin typeface="+mn-lt"/>
                <a:cs typeface="Arial" panose="020B0604020202020204" pitchFamily="34" charset="0"/>
              </a:rPr>
              <a:t>​</a:t>
            </a:r>
          </a:p>
          <a:p>
            <a:r>
              <a:rPr lang="en-US" sz="1200" dirty="0">
                <a:latin typeface="+mn-lt"/>
                <a:cs typeface="Arial" panose="020B0604020202020204" pitchFamily="34" charset="0"/>
              </a:rPr>
              <a:t>NA</a:t>
            </a:r>
          </a:p>
          <a:p>
            <a:endParaRPr lang="en-US" sz="1200" dirty="0">
              <a:latin typeface="+mn-lt"/>
              <a:cs typeface="Arial" panose="020B0604020202020204" pitchFamily="34" charset="0"/>
            </a:endParaRPr>
          </a:p>
          <a:p>
            <a:r>
              <a:rPr lang="en-US" sz="1200" b="1" dirty="0">
                <a:latin typeface="+mn-lt"/>
                <a:cs typeface="Arial" panose="020B0604020202020204" pitchFamily="34" charset="0"/>
              </a:rPr>
              <a:t>Image source:</a:t>
            </a:r>
            <a:endParaRPr lang="en-UG" dirty="0"/>
          </a:p>
          <a:p>
            <a:r>
              <a:rPr lang="en-UG" dirty="0"/>
              <a:t>2457080347</a:t>
            </a:r>
            <a:endParaRPr lang="en-US" dirty="0"/>
          </a:p>
          <a:p>
            <a:r>
              <a:rPr lang="en-UG" dirty="0"/>
              <a:t>2454682679</a:t>
            </a:r>
            <a:endParaRPr lang="en-US" dirty="0"/>
          </a:p>
          <a:p>
            <a:r>
              <a:rPr lang="en-UG" dirty="0"/>
              <a:t>2454682683</a:t>
            </a:r>
          </a:p>
        </p:txBody>
      </p:sp>
      <p:sp>
        <p:nvSpPr>
          <p:cNvPr id="4" name="Slide Number Placeholder 3">
            <a:extLst>
              <a:ext uri="{FF2B5EF4-FFF2-40B4-BE49-F238E27FC236}">
                <a16:creationId xmlns:a16="http://schemas.microsoft.com/office/drawing/2014/main" id="{13BAE206-D247-9ACD-77F3-58F17D8A449D}"/>
              </a:ext>
            </a:extLst>
          </p:cNvPr>
          <p:cNvSpPr>
            <a:spLocks noGrp="1"/>
          </p:cNvSpPr>
          <p:nvPr>
            <p:ph type="sldNum" sz="quarter" idx="5"/>
          </p:nvPr>
        </p:nvSpPr>
        <p:spPr/>
        <p:txBody>
          <a:bodyPr/>
          <a:lstStyle/>
          <a:p>
            <a:fld id="{4B343387-4FD4-4B31-B095-AB04F9B0EB4B}" type="slidenum">
              <a:rPr lang="en-US" smtClean="0"/>
              <a:t>28</a:t>
            </a:fld>
            <a:endParaRPr lang="en-US"/>
          </a:p>
        </p:txBody>
      </p:sp>
    </p:spTree>
    <p:extLst>
      <p:ext uri="{BB962C8B-B14F-4D97-AF65-F5344CB8AC3E}">
        <p14:creationId xmlns:p14="http://schemas.microsoft.com/office/powerpoint/2010/main" val="41264239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C12AF-47BE-EBE9-3066-3C6A682557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8E567A-964F-FA08-4076-97B8A05697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AFC6FD-7D67-DCA5-56C3-F9FB3AB0762B}"/>
              </a:ext>
            </a:extLst>
          </p:cNvPr>
          <p:cNvSpPr>
            <a:spLocks noGrp="1"/>
          </p:cNvSpPr>
          <p:nvPr>
            <p:ph type="body" idx="1"/>
          </p:nvPr>
        </p:nvSpPr>
        <p:spPr/>
        <p:txBody>
          <a:bodyPr/>
          <a:lstStyle/>
          <a:p>
            <a:pPr algn="l" rtl="0" fontAlgn="base"/>
            <a:r>
              <a:rPr lang="en-IN" sz="1200" b="1" i="0" u="none" strike="noStrike" dirty="0">
                <a:effectLst/>
                <a:latin typeface="+mn-lt"/>
                <a:cs typeface="Arial" panose="020B0604020202020204" pitchFamily="34" charset="0"/>
              </a:rPr>
              <a:t>Screen Duration: </a:t>
            </a:r>
            <a:r>
              <a:rPr lang="en-IN" sz="1200" b="0" i="0" u="none" strike="noStrike" dirty="0">
                <a:effectLst/>
                <a:latin typeface="+mn-lt"/>
                <a:cs typeface="Arial" panose="020B0604020202020204" pitchFamily="34" charset="0"/>
              </a:rPr>
              <a:t>NA</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Calibri"/>
              </a:rPr>
              <a:t>Screen Type: </a:t>
            </a:r>
            <a:r>
              <a:rPr lang="en-IN" sz="1200" b="0" i="0" u="none" strike="noStrike" dirty="0">
                <a:effectLst/>
                <a:latin typeface="+mn-lt"/>
                <a:cs typeface="Calibri"/>
              </a:rPr>
              <a:t>Text with tab interactivity</a:t>
            </a:r>
          </a:p>
          <a:p>
            <a:pPr algn="l" rtl="0" fontAlgn="base"/>
            <a:endParaRPr lang="en-IN" sz="1200" b="0" i="0"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Development Notes:</a:t>
            </a:r>
            <a:r>
              <a:rPr lang="en-US" sz="1200" b="0" i="0" dirty="0">
                <a:effectLst/>
                <a:latin typeface="+mn-lt"/>
                <a:cs typeface="Arial" panose="020B0604020202020204" pitchFamily="34" charset="0"/>
              </a:rPr>
              <a:t>​</a:t>
            </a:r>
          </a:p>
          <a:p>
            <a:pPr algn="l" rtl="0" fontAlgn="base"/>
            <a:r>
              <a:rPr lang="en-US" sz="1200" b="0" i="0" dirty="0">
                <a:effectLst/>
                <a:latin typeface="+mn-lt"/>
                <a:cs typeface="Arial" panose="020B0604020202020204" pitchFamily="34" charset="0"/>
              </a:rPr>
              <a:t>This is the continuation from previous screen.</a:t>
            </a:r>
            <a:endParaRPr lang="en-IN" sz="1200" b="0" i="0" dirty="0">
              <a:effectLst/>
              <a:latin typeface="+mn-lt"/>
              <a:cs typeface="Arial" panose="020B0604020202020204" pitchFamily="34" charset="0"/>
            </a:endParaRPr>
          </a:p>
          <a:p>
            <a:pPr algn="l" rtl="0" fontAlgn="base">
              <a:buFont typeface="Arial" panose="020B0604020202020204" pitchFamily="34" charset="0"/>
              <a:buNone/>
            </a:pPr>
            <a:endParaRPr lang="en-IN" sz="1200" b="0" i="0"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Graphics Notes: </a:t>
            </a:r>
            <a:r>
              <a:rPr lang="en-US" sz="1200" b="0" i="0" dirty="0">
                <a:effectLst/>
                <a:latin typeface="+mn-lt"/>
                <a:cs typeface="Arial" panose="020B0604020202020204" pitchFamily="34" charset="0"/>
              </a:rPr>
              <a:t>​</a:t>
            </a:r>
          </a:p>
          <a:p>
            <a:r>
              <a:rPr lang="en-US" sz="1200" dirty="0">
                <a:latin typeface="+mn-lt"/>
                <a:cs typeface="Arial" panose="020B0604020202020204" pitchFamily="34" charset="0"/>
              </a:rPr>
              <a:t>NA</a:t>
            </a:r>
          </a:p>
          <a:p>
            <a:endParaRPr lang="en-US" sz="1200" dirty="0">
              <a:latin typeface="+mn-lt"/>
              <a:cs typeface="Arial" panose="020B0604020202020204" pitchFamily="34" charset="0"/>
            </a:endParaRPr>
          </a:p>
          <a:p>
            <a:r>
              <a:rPr lang="en-US" sz="1200" b="1" dirty="0">
                <a:latin typeface="+mn-lt"/>
                <a:cs typeface="Arial" panose="020B0604020202020204" pitchFamily="34" charset="0"/>
              </a:rPr>
              <a:t>Image source: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2C2C2C"/>
                </a:solidFill>
                <a:effectLst/>
                <a:latin typeface="adobe-clean"/>
              </a:rPr>
              <a:t>NA</a:t>
            </a:r>
            <a:endParaRPr lang="en-US" b="0" i="0" u="none" strike="noStrike" dirty="0">
              <a:solidFill>
                <a:srgbClr val="707070"/>
              </a:solidFill>
              <a:effectLst/>
              <a:latin typeface="adobe-clean"/>
            </a:endParaRPr>
          </a:p>
        </p:txBody>
      </p:sp>
      <p:sp>
        <p:nvSpPr>
          <p:cNvPr id="4" name="Slide Number Placeholder 3">
            <a:extLst>
              <a:ext uri="{FF2B5EF4-FFF2-40B4-BE49-F238E27FC236}">
                <a16:creationId xmlns:a16="http://schemas.microsoft.com/office/drawing/2014/main" id="{544BAE21-1002-C880-EE32-46BE6943C6FD}"/>
              </a:ext>
            </a:extLst>
          </p:cNvPr>
          <p:cNvSpPr>
            <a:spLocks noGrp="1"/>
          </p:cNvSpPr>
          <p:nvPr>
            <p:ph type="sldNum" sz="quarter" idx="5"/>
          </p:nvPr>
        </p:nvSpPr>
        <p:spPr/>
        <p:txBody>
          <a:bodyPr/>
          <a:lstStyle/>
          <a:p>
            <a:fld id="{4B343387-4FD4-4B31-B095-AB04F9B0EB4B}" type="slidenum">
              <a:rPr lang="en-US" smtClean="0"/>
              <a:t>29</a:t>
            </a:fld>
            <a:endParaRPr lang="en-US"/>
          </a:p>
        </p:txBody>
      </p:sp>
    </p:spTree>
    <p:extLst>
      <p:ext uri="{BB962C8B-B14F-4D97-AF65-F5344CB8AC3E}">
        <p14:creationId xmlns:p14="http://schemas.microsoft.com/office/powerpoint/2010/main" val="38310387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9F3DB-7F8D-FC62-1DFE-87D424853D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ABA99A-8496-4CD4-CE10-C4587110AE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31F2D8-2FD2-B850-D6BA-9887F06912E9}"/>
              </a:ext>
            </a:extLst>
          </p:cNvPr>
          <p:cNvSpPr>
            <a:spLocks noGrp="1"/>
          </p:cNvSpPr>
          <p:nvPr>
            <p:ph type="body" idx="1"/>
          </p:nvPr>
        </p:nvSpPr>
        <p:spPr/>
        <p:txBody>
          <a:bodyPr/>
          <a:lstStyle/>
          <a:p>
            <a:pPr algn="l" rtl="0" fontAlgn="base"/>
            <a:r>
              <a:rPr lang="en-IN" sz="1200" b="1" i="0" u="none" strike="noStrike" dirty="0">
                <a:effectLst/>
                <a:latin typeface="+mn-lt"/>
                <a:cs typeface="Arial" panose="020B0604020202020204" pitchFamily="34" charset="0"/>
              </a:rPr>
              <a:t>Screen Duration: </a:t>
            </a:r>
            <a:r>
              <a:rPr lang="en-IN" sz="1200" b="0" i="0" u="none" strike="noStrike" dirty="0">
                <a:effectLst/>
                <a:latin typeface="+mn-lt"/>
                <a:cs typeface="Arial" panose="020B0604020202020204" pitchFamily="34" charset="0"/>
              </a:rPr>
              <a:t>NA</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Calibri"/>
              </a:rPr>
              <a:t>Screen Type: </a:t>
            </a:r>
            <a:r>
              <a:rPr lang="en-IN" sz="1200" b="0" i="0" u="none" strike="noStrike" dirty="0">
                <a:effectLst/>
                <a:latin typeface="+mn-lt"/>
                <a:cs typeface="Calibri"/>
              </a:rPr>
              <a:t>Text with tab interactivity</a:t>
            </a:r>
          </a:p>
          <a:p>
            <a:pPr algn="l" rtl="0" fontAlgn="base"/>
            <a:endParaRPr lang="en-IN" sz="1200" b="0" i="0"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Development Notes:</a:t>
            </a:r>
            <a:r>
              <a:rPr lang="en-US" sz="1200" b="0" i="0" dirty="0">
                <a:effectLst/>
                <a:latin typeface="+mn-lt"/>
                <a:cs typeface="Arial" panose="020B0604020202020204" pitchFamily="34" charset="0"/>
              </a:rPr>
              <a:t>​</a:t>
            </a:r>
          </a:p>
          <a:p>
            <a:pPr algn="l" rtl="0" fontAlgn="base"/>
            <a:r>
              <a:rPr lang="en-US" sz="1200" b="0" i="0" dirty="0">
                <a:effectLst/>
                <a:latin typeface="+mn-lt"/>
                <a:cs typeface="Arial" panose="020B0604020202020204" pitchFamily="34" charset="0"/>
              </a:rPr>
              <a:t>This is the continuation from previous screen.</a:t>
            </a:r>
            <a:endParaRPr lang="en-IN" sz="1200" b="0" i="0" dirty="0">
              <a:effectLst/>
              <a:latin typeface="+mn-lt"/>
              <a:cs typeface="Arial" panose="020B0604020202020204" pitchFamily="34" charset="0"/>
            </a:endParaRPr>
          </a:p>
          <a:p>
            <a:pPr algn="l" rtl="0" fontAlgn="base">
              <a:buFont typeface="Arial" panose="020B0604020202020204" pitchFamily="34" charset="0"/>
              <a:buNone/>
            </a:pPr>
            <a:endParaRPr lang="en-IN" sz="1200" b="0" i="0"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Graphics Notes: </a:t>
            </a:r>
            <a:r>
              <a:rPr lang="en-US" sz="1200" b="0" i="0" dirty="0">
                <a:effectLst/>
                <a:latin typeface="+mn-lt"/>
                <a:cs typeface="Arial" panose="020B0604020202020204" pitchFamily="34" charset="0"/>
              </a:rPr>
              <a:t>​</a:t>
            </a:r>
          </a:p>
          <a:p>
            <a:r>
              <a:rPr lang="en-US" sz="1200" dirty="0">
                <a:latin typeface="+mn-lt"/>
                <a:cs typeface="Arial" panose="020B0604020202020204" pitchFamily="34" charset="0"/>
              </a:rPr>
              <a:t>NA</a:t>
            </a:r>
          </a:p>
          <a:p>
            <a:endParaRPr lang="en-US" sz="1200" dirty="0">
              <a:latin typeface="+mn-lt"/>
              <a:cs typeface="Arial" panose="020B0604020202020204" pitchFamily="34" charset="0"/>
            </a:endParaRPr>
          </a:p>
          <a:p>
            <a:r>
              <a:rPr lang="en-US" sz="1200" b="1" dirty="0">
                <a:latin typeface="+mn-lt"/>
                <a:cs typeface="Arial" panose="020B0604020202020204" pitchFamily="34" charset="0"/>
              </a:rPr>
              <a:t>Image source: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2C2C2C"/>
                </a:solidFill>
                <a:effectLst/>
                <a:latin typeface="adobe-clean"/>
              </a:rPr>
              <a:t>NA</a:t>
            </a:r>
            <a:endParaRPr lang="en-US" b="0" i="0" u="none" strike="noStrike" dirty="0">
              <a:solidFill>
                <a:srgbClr val="707070"/>
              </a:solidFill>
              <a:effectLst/>
              <a:latin typeface="adobe-clean"/>
            </a:endParaRPr>
          </a:p>
          <a:p>
            <a:endParaRPr lang="en-UG" dirty="0"/>
          </a:p>
        </p:txBody>
      </p:sp>
      <p:sp>
        <p:nvSpPr>
          <p:cNvPr id="4" name="Slide Number Placeholder 3">
            <a:extLst>
              <a:ext uri="{FF2B5EF4-FFF2-40B4-BE49-F238E27FC236}">
                <a16:creationId xmlns:a16="http://schemas.microsoft.com/office/drawing/2014/main" id="{336D5BC7-903B-A59A-EA23-CEC1FF5ADBB8}"/>
              </a:ext>
            </a:extLst>
          </p:cNvPr>
          <p:cNvSpPr>
            <a:spLocks noGrp="1"/>
          </p:cNvSpPr>
          <p:nvPr>
            <p:ph type="sldNum" sz="quarter" idx="5"/>
          </p:nvPr>
        </p:nvSpPr>
        <p:spPr/>
        <p:txBody>
          <a:bodyPr/>
          <a:lstStyle/>
          <a:p>
            <a:fld id="{4B343387-4FD4-4B31-B095-AB04F9B0EB4B}" type="slidenum">
              <a:rPr lang="en-US" smtClean="0"/>
              <a:t>30</a:t>
            </a:fld>
            <a:endParaRPr lang="en-US"/>
          </a:p>
        </p:txBody>
      </p:sp>
    </p:spTree>
    <p:extLst>
      <p:ext uri="{BB962C8B-B14F-4D97-AF65-F5344CB8AC3E}">
        <p14:creationId xmlns:p14="http://schemas.microsoft.com/office/powerpoint/2010/main" val="10046136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95789-6AD8-5E70-0576-75935458B3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EF8FD4-D96B-3857-83D0-CF0074EBB7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B88CDA-565B-8E58-271A-97AD993867FA}"/>
              </a:ext>
            </a:extLst>
          </p:cNvPr>
          <p:cNvSpPr>
            <a:spLocks noGrp="1"/>
          </p:cNvSpPr>
          <p:nvPr>
            <p:ph type="body" idx="1"/>
          </p:nvPr>
        </p:nvSpPr>
        <p:spPr/>
        <p:txBody>
          <a:bodyPr/>
          <a:lstStyle/>
          <a:p>
            <a:pPr algn="l" rtl="0" fontAlgn="base"/>
            <a:r>
              <a:rPr lang="en-IN" sz="1200" b="1" i="0" u="none" strike="noStrike" dirty="0">
                <a:effectLst/>
                <a:latin typeface="+mn-lt"/>
                <a:cs typeface="Arial" panose="020B0604020202020204" pitchFamily="34" charset="0"/>
              </a:rPr>
              <a:t>Screen Duration: </a:t>
            </a:r>
            <a:r>
              <a:rPr lang="en-IN" sz="1200" b="0" i="0" u="none" strike="noStrike" dirty="0">
                <a:effectLst/>
                <a:latin typeface="+mn-lt"/>
                <a:cs typeface="Arial" panose="020B0604020202020204" pitchFamily="34" charset="0"/>
              </a:rPr>
              <a:t>NA</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Calibri"/>
              </a:rPr>
              <a:t>Screen Type: </a:t>
            </a:r>
            <a:r>
              <a:rPr lang="en-IN" sz="1200" b="0" i="0" u="none" strike="noStrike" dirty="0">
                <a:effectLst/>
                <a:latin typeface="+mn-lt"/>
                <a:cs typeface="Calibri"/>
              </a:rPr>
              <a:t>Text with tab interactivity</a:t>
            </a:r>
          </a:p>
          <a:p>
            <a:pPr algn="l" rtl="0" fontAlgn="base"/>
            <a:endParaRPr lang="en-IN" sz="1200" b="0" i="0"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Development Notes:</a:t>
            </a:r>
            <a:r>
              <a:rPr lang="en-US" sz="1200" b="0" i="0" dirty="0">
                <a:effectLst/>
                <a:latin typeface="+mn-lt"/>
                <a:cs typeface="Arial" panose="020B0604020202020204" pitchFamily="34" charset="0"/>
              </a:rPr>
              <a:t>​</a:t>
            </a:r>
          </a:p>
          <a:p>
            <a:pPr algn="l" rtl="0" fontAlgn="base"/>
            <a:r>
              <a:rPr lang="en-US" sz="1200" b="0" i="0" dirty="0">
                <a:effectLst/>
                <a:latin typeface="+mn-lt"/>
                <a:cs typeface="Arial" panose="020B0604020202020204" pitchFamily="34" charset="0"/>
              </a:rPr>
              <a:t>This is the continuation from previous screen.</a:t>
            </a:r>
            <a:endParaRPr lang="en-IN" sz="1200" b="0" i="0" dirty="0">
              <a:effectLst/>
              <a:latin typeface="+mn-lt"/>
              <a:cs typeface="Arial" panose="020B0604020202020204" pitchFamily="34" charset="0"/>
            </a:endParaRPr>
          </a:p>
          <a:p>
            <a:pPr algn="l" rtl="0" fontAlgn="base">
              <a:buFont typeface="Arial" panose="020B0604020202020204" pitchFamily="34" charset="0"/>
              <a:buNone/>
            </a:pPr>
            <a:endParaRPr lang="en-IN" sz="1200" b="0" i="0"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Graphics Notes: </a:t>
            </a:r>
            <a:r>
              <a:rPr lang="en-US" sz="1200" b="0" i="0" dirty="0">
                <a:effectLst/>
                <a:latin typeface="+mn-lt"/>
                <a:cs typeface="Arial" panose="020B0604020202020204" pitchFamily="34" charset="0"/>
              </a:rPr>
              <a:t>​</a:t>
            </a:r>
          </a:p>
          <a:p>
            <a:r>
              <a:rPr lang="en-US" sz="1200" dirty="0">
                <a:latin typeface="+mn-lt"/>
                <a:cs typeface="Arial" panose="020B0604020202020204" pitchFamily="34" charset="0"/>
              </a:rPr>
              <a:t>NA</a:t>
            </a:r>
          </a:p>
          <a:p>
            <a:endParaRPr lang="en-US" sz="1200" dirty="0">
              <a:latin typeface="+mn-lt"/>
              <a:cs typeface="Arial" panose="020B0604020202020204" pitchFamily="34" charset="0"/>
            </a:endParaRPr>
          </a:p>
          <a:p>
            <a:r>
              <a:rPr lang="en-US" sz="1200" b="1" dirty="0">
                <a:latin typeface="+mn-lt"/>
                <a:cs typeface="Arial" panose="020B0604020202020204" pitchFamily="34" charset="0"/>
              </a:rPr>
              <a:t>Image source: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2C2C2C"/>
                </a:solidFill>
                <a:effectLst/>
                <a:latin typeface="adobe-clean"/>
              </a:rPr>
              <a:t>NA</a:t>
            </a:r>
            <a:endParaRPr lang="en-US" b="0" i="0" u="none" strike="noStrike" dirty="0">
              <a:solidFill>
                <a:srgbClr val="707070"/>
              </a:solidFill>
              <a:effectLst/>
              <a:latin typeface="adobe-clean"/>
            </a:endParaRPr>
          </a:p>
          <a:p>
            <a:endParaRPr lang="en-UG" dirty="0"/>
          </a:p>
        </p:txBody>
      </p:sp>
      <p:sp>
        <p:nvSpPr>
          <p:cNvPr id="4" name="Slide Number Placeholder 3">
            <a:extLst>
              <a:ext uri="{FF2B5EF4-FFF2-40B4-BE49-F238E27FC236}">
                <a16:creationId xmlns:a16="http://schemas.microsoft.com/office/drawing/2014/main" id="{9EFA88B4-6D10-9C31-F69A-2A7E90C3A39C}"/>
              </a:ext>
            </a:extLst>
          </p:cNvPr>
          <p:cNvSpPr>
            <a:spLocks noGrp="1"/>
          </p:cNvSpPr>
          <p:nvPr>
            <p:ph type="sldNum" sz="quarter" idx="5"/>
          </p:nvPr>
        </p:nvSpPr>
        <p:spPr/>
        <p:txBody>
          <a:bodyPr/>
          <a:lstStyle/>
          <a:p>
            <a:fld id="{4B343387-4FD4-4B31-B095-AB04F9B0EB4B}" type="slidenum">
              <a:rPr lang="en-US" smtClean="0"/>
              <a:t>31</a:t>
            </a:fld>
            <a:endParaRPr lang="en-US"/>
          </a:p>
        </p:txBody>
      </p:sp>
    </p:spTree>
    <p:extLst>
      <p:ext uri="{BB962C8B-B14F-4D97-AF65-F5344CB8AC3E}">
        <p14:creationId xmlns:p14="http://schemas.microsoft.com/office/powerpoint/2010/main" val="8823746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A3048-9916-22D1-31C8-0A1FDD34F2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58C3E5-3295-81DB-40A6-C688BC957878}"/>
              </a:ext>
            </a:extLst>
          </p:cNvPr>
          <p:cNvSpPr>
            <a:spLocks noGrp="1" noRot="1" noChangeAspect="1"/>
          </p:cNvSpPr>
          <p:nvPr>
            <p:ph type="sldImg"/>
          </p:nvPr>
        </p:nvSpPr>
        <p:spPr/>
        <p:txBody>
          <a:bodyPr/>
          <a:lstStyle/>
          <a:p>
            <a:endParaRPr lang="en-UG"/>
          </a:p>
        </p:txBody>
      </p:sp>
      <p:sp>
        <p:nvSpPr>
          <p:cNvPr id="3" name="Notes Placeholder 2">
            <a:extLst>
              <a:ext uri="{FF2B5EF4-FFF2-40B4-BE49-F238E27FC236}">
                <a16:creationId xmlns:a16="http://schemas.microsoft.com/office/drawing/2014/main" id="{17587596-972B-0E1F-7879-FB9C7880E344}"/>
              </a:ext>
            </a:extLst>
          </p:cNvPr>
          <p:cNvSpPr>
            <a:spLocks noGrp="1"/>
          </p:cNvSpPr>
          <p:nvPr>
            <p:ph type="body" idx="1"/>
          </p:nvPr>
        </p:nvSpPr>
        <p:spPr/>
        <p:txBody>
          <a:bodyPr/>
          <a:lstStyle/>
          <a:p>
            <a:pPr algn="l" rtl="0" fontAlgn="base"/>
            <a:r>
              <a:rPr lang="en-IN" sz="1200" b="1" i="0" u="none" strike="noStrike" dirty="0">
                <a:effectLst/>
                <a:latin typeface="+mn-lt"/>
                <a:cs typeface="Arial" panose="020B0604020202020204" pitchFamily="34" charset="0"/>
              </a:rPr>
              <a:t>Screen Duration: </a:t>
            </a:r>
            <a:r>
              <a:rPr lang="en-IN" sz="1200" b="0" i="0" u="none" strike="noStrike" dirty="0">
                <a:effectLst/>
                <a:latin typeface="+mn-lt"/>
                <a:cs typeface="Arial" panose="020B0604020202020204" pitchFamily="34" charset="0"/>
              </a:rPr>
              <a:t>0.5 min</a:t>
            </a:r>
            <a:endParaRPr lang="en-IN" sz="1200" b="0" i="0" dirty="0">
              <a:effectLst/>
              <a:latin typeface="+mn-lt"/>
              <a:cs typeface="Arial" panose="020B0604020202020204" pitchFamily="34" charset="0"/>
            </a:endParaRPr>
          </a:p>
          <a:p>
            <a:pPr algn="l" rtl="0" fontAlgn="base"/>
            <a:r>
              <a:rPr lang="en-IN" sz="1200" b="0" i="0" dirty="0">
                <a:effectLst/>
                <a:latin typeface="+mn-lt"/>
                <a:cs typeface="Arial" panose="020B0604020202020204" pitchFamily="34" charset="0"/>
              </a:rPr>
              <a:t>​</a:t>
            </a:r>
          </a:p>
          <a:p>
            <a:pPr algn="l" rtl="0" fontAlgn="base"/>
            <a:r>
              <a:rPr lang="en-IN" sz="1200" b="1" i="0" u="none" strike="noStrike" dirty="0">
                <a:effectLst/>
                <a:latin typeface="+mn-lt"/>
                <a:cs typeface="Calibri"/>
              </a:rPr>
              <a:t>Screen Type: </a:t>
            </a:r>
            <a:r>
              <a:rPr lang="en-IN" sz="1200" b="0" i="0" u="none" strike="noStrike" dirty="0">
                <a:effectLst/>
                <a:latin typeface="+mn-lt"/>
                <a:cs typeface="Calibri"/>
              </a:rPr>
              <a:t>Text with input box</a:t>
            </a:r>
          </a:p>
          <a:p>
            <a:pPr algn="l" rtl="0" fontAlgn="base"/>
            <a:endParaRPr lang="en-IN" sz="1200" b="0" i="0"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Development Notes:</a:t>
            </a:r>
            <a:r>
              <a:rPr lang="en-US" sz="1200" b="0" i="0" dirty="0">
                <a:effectLst/>
                <a:latin typeface="+mn-lt"/>
                <a:cs typeface="Arial" panose="020B0604020202020204" pitchFamily="34" charset="0"/>
              </a:rPr>
              <a:t>​</a:t>
            </a:r>
          </a:p>
          <a:p>
            <a:pPr algn="l" rtl="0" fontAlgn="base"/>
            <a:r>
              <a:rPr lang="en-US" sz="1200" b="0" i="0" dirty="0">
                <a:effectLst/>
                <a:latin typeface="+mn-lt"/>
                <a:cs typeface="Arial" panose="020B0604020202020204" pitchFamily="34" charset="0"/>
              </a:rPr>
              <a:t>There will be two buttons. </a:t>
            </a:r>
          </a:p>
          <a:p>
            <a:pPr algn="l" rtl="0" fontAlgn="base"/>
            <a:r>
              <a:rPr lang="en-US" sz="1200" b="0" i="0" dirty="0">
                <a:effectLst/>
                <a:latin typeface="+mn-lt"/>
                <a:cs typeface="Arial" panose="020B0604020202020204" pitchFamily="34" charset="0"/>
              </a:rPr>
              <a:t>Start over will restart the scenario again from screen number 14.</a:t>
            </a:r>
          </a:p>
          <a:p>
            <a:pPr algn="l" rtl="0" fontAlgn="base"/>
            <a:r>
              <a:rPr lang="en-US" sz="1200" b="0" i="0" dirty="0">
                <a:effectLst/>
                <a:latin typeface="+mn-lt"/>
                <a:cs typeface="Arial" panose="020B0604020202020204" pitchFamily="34" charset="0"/>
              </a:rPr>
              <a:t>Complete scenario will bring back to hope/index page where all scenario will be listed.</a:t>
            </a:r>
            <a:endParaRPr lang="en-IN" sz="1200" b="0" i="0" dirty="0">
              <a:effectLst/>
              <a:latin typeface="+mn-lt"/>
              <a:cs typeface="Arial" panose="020B0604020202020204" pitchFamily="34" charset="0"/>
            </a:endParaRPr>
          </a:p>
          <a:p>
            <a:pPr algn="l" rtl="0" fontAlgn="base">
              <a:buFont typeface="Arial" panose="020B0604020202020204" pitchFamily="34" charset="0"/>
              <a:buNone/>
            </a:pPr>
            <a:endParaRPr lang="en-IN" sz="1200" b="0" i="0" dirty="0">
              <a:effectLst/>
              <a:latin typeface="+mn-lt"/>
              <a:cs typeface="Arial" panose="020B0604020202020204" pitchFamily="34" charset="0"/>
            </a:endParaRPr>
          </a:p>
          <a:p>
            <a:pPr algn="l" rtl="0" fontAlgn="base"/>
            <a:r>
              <a:rPr lang="en-IN" sz="1200" b="1" i="0" u="none" strike="noStrike" dirty="0">
                <a:effectLst/>
                <a:latin typeface="+mn-lt"/>
                <a:cs typeface="Arial" panose="020B0604020202020204" pitchFamily="34" charset="0"/>
              </a:rPr>
              <a:t>Graphics Notes: </a:t>
            </a:r>
            <a:r>
              <a:rPr lang="en-US" sz="1200" b="0" i="0" dirty="0">
                <a:effectLst/>
                <a:latin typeface="+mn-lt"/>
                <a:cs typeface="Arial" panose="020B0604020202020204" pitchFamily="34" charset="0"/>
              </a:rPr>
              <a:t>​</a:t>
            </a:r>
          </a:p>
          <a:p>
            <a:r>
              <a:rPr lang="en-US" sz="1200" dirty="0">
                <a:latin typeface="+mn-lt"/>
                <a:cs typeface="Arial" panose="020B0604020202020204" pitchFamily="34" charset="0"/>
              </a:rPr>
              <a:t>NA</a:t>
            </a:r>
          </a:p>
          <a:p>
            <a:endParaRPr lang="en-US" sz="1200" dirty="0">
              <a:latin typeface="+mn-lt"/>
              <a:cs typeface="Arial" panose="020B0604020202020204" pitchFamily="34" charset="0"/>
            </a:endParaRPr>
          </a:p>
          <a:p>
            <a:r>
              <a:rPr lang="en-US" sz="1200" b="1" dirty="0">
                <a:latin typeface="+mn-lt"/>
                <a:cs typeface="Arial" panose="020B0604020202020204" pitchFamily="34" charset="0"/>
              </a:rPr>
              <a:t>Image source: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2C2C2C"/>
                </a:solidFill>
                <a:effectLst/>
                <a:latin typeface="adobe-clean"/>
              </a:rPr>
              <a:t>NA</a:t>
            </a:r>
            <a:endParaRPr lang="en-US" b="0" i="0" u="none" strike="noStrike" dirty="0">
              <a:solidFill>
                <a:srgbClr val="707070"/>
              </a:solidFill>
              <a:effectLst/>
              <a:latin typeface="adobe-clean"/>
            </a:endParaRPr>
          </a:p>
        </p:txBody>
      </p:sp>
      <p:sp>
        <p:nvSpPr>
          <p:cNvPr id="4" name="Slide Number Placeholder 3">
            <a:extLst>
              <a:ext uri="{FF2B5EF4-FFF2-40B4-BE49-F238E27FC236}">
                <a16:creationId xmlns:a16="http://schemas.microsoft.com/office/drawing/2014/main" id="{8314240B-3AFB-F2AD-8A41-07B733A1CB07}"/>
              </a:ext>
            </a:extLst>
          </p:cNvPr>
          <p:cNvSpPr>
            <a:spLocks noGrp="1"/>
          </p:cNvSpPr>
          <p:nvPr>
            <p:ph type="sldNum" sz="quarter" idx="5"/>
          </p:nvPr>
        </p:nvSpPr>
        <p:spPr/>
        <p:txBody>
          <a:bodyPr/>
          <a:lstStyle/>
          <a:p>
            <a:fld id="{4B343387-4FD4-4B31-B095-AB04F9B0EB4B}" type="slidenum">
              <a:rPr lang="en-US" smtClean="0"/>
              <a:t>32</a:t>
            </a:fld>
            <a:endParaRPr lang="en-US"/>
          </a:p>
        </p:txBody>
      </p:sp>
    </p:spTree>
    <p:extLst>
      <p:ext uri="{BB962C8B-B14F-4D97-AF65-F5344CB8AC3E}">
        <p14:creationId xmlns:p14="http://schemas.microsoft.com/office/powerpoint/2010/main" val="32221653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FD65DE3-9FF3-64CB-AC85-D43DCDFA99EC}"/>
              </a:ext>
            </a:extLst>
          </p:cNvPr>
          <p:cNvSpPr/>
          <p:nvPr userDrawn="1"/>
        </p:nvSpPr>
        <p:spPr>
          <a:xfrm>
            <a:off x="0" y="0"/>
            <a:ext cx="12192000" cy="48463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874DD2B8-3D32-38B3-9B52-CD467DBDD22B}"/>
              </a:ext>
            </a:extLst>
          </p:cNvPr>
          <p:cNvSpPr txBox="1"/>
          <p:nvPr userDrawn="1"/>
        </p:nvSpPr>
        <p:spPr>
          <a:xfrm>
            <a:off x="189402" y="89411"/>
            <a:ext cx="8025581" cy="307777"/>
          </a:xfrm>
          <a:prstGeom prst="rect">
            <a:avLst/>
          </a:prstGeom>
          <a:noFill/>
        </p:spPr>
        <p:txBody>
          <a:bodyPr wrap="square">
            <a:spAutoFit/>
          </a:bodyPr>
          <a:lstStyle/>
          <a:p>
            <a:pPr marL="0" lvl="3" algn="l"/>
            <a:r>
              <a:rPr lang="en-US" sz="1400" b="0" dirty="0">
                <a:solidFill>
                  <a:schemeClr val="bg1">
                    <a:lumMod val="50000"/>
                  </a:schemeClr>
                </a:solidFill>
                <a:latin typeface="+mn-lt"/>
                <a:cs typeface="Arial" panose="020B0604020202020204" pitchFamily="34" charset="0"/>
              </a:rPr>
              <a:t>Anti-Money Laundering</a:t>
            </a:r>
            <a:endParaRPr lang="en-IN" sz="1400" b="0" dirty="0">
              <a:solidFill>
                <a:schemeClr val="bg1">
                  <a:lumMod val="50000"/>
                </a:schemeClr>
              </a:solidFill>
              <a:latin typeface="+mn-lt"/>
              <a:cs typeface="Arial" panose="020B0604020202020204" pitchFamily="34" charset="0"/>
            </a:endParaRPr>
          </a:p>
        </p:txBody>
      </p:sp>
    </p:spTree>
    <p:extLst>
      <p:ext uri="{BB962C8B-B14F-4D97-AF65-F5344CB8AC3E}">
        <p14:creationId xmlns:p14="http://schemas.microsoft.com/office/powerpoint/2010/main" val="8126302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1_Custom Layout">
    <p:spTree>
      <p:nvGrpSpPr>
        <p:cNvPr id="1" name=""/>
        <p:cNvGrpSpPr/>
        <p:nvPr/>
      </p:nvGrpSpPr>
      <p:grpSpPr>
        <a:xfrm>
          <a:off x="0" y="0"/>
          <a:ext cx="0" cy="0"/>
          <a:chOff x="0" y="0"/>
          <a:chExt cx="0" cy="0"/>
        </a:xfrm>
      </p:grpSpPr>
      <p:sp>
        <p:nvSpPr>
          <p:cNvPr id="2" name="Picture Placeholder 3">
            <a:extLst>
              <a:ext uri="{FF2B5EF4-FFF2-40B4-BE49-F238E27FC236}">
                <a16:creationId xmlns:a16="http://schemas.microsoft.com/office/drawing/2014/main" id="{1F0257E3-28B5-4DE3-B390-4732F281CC12}"/>
              </a:ext>
            </a:extLst>
          </p:cNvPr>
          <p:cNvSpPr>
            <a:spLocks noGrp="1"/>
          </p:cNvSpPr>
          <p:nvPr>
            <p:ph type="pic" sz="quarter" idx="14"/>
          </p:nvPr>
        </p:nvSpPr>
        <p:spPr>
          <a:xfrm>
            <a:off x="4645396" y="1335005"/>
            <a:ext cx="837136" cy="837134"/>
          </a:xfrm>
          <a:custGeom>
            <a:avLst/>
            <a:gdLst>
              <a:gd name="connsiteX0" fmla="*/ 663677 w 1327354"/>
              <a:gd name="connsiteY0" fmla="*/ 0 h 1327354"/>
              <a:gd name="connsiteX1" fmla="*/ 1327354 w 1327354"/>
              <a:gd name="connsiteY1" fmla="*/ 663677 h 1327354"/>
              <a:gd name="connsiteX2" fmla="*/ 663677 w 1327354"/>
              <a:gd name="connsiteY2" fmla="*/ 1327354 h 1327354"/>
              <a:gd name="connsiteX3" fmla="*/ 0 w 1327354"/>
              <a:gd name="connsiteY3" fmla="*/ 663677 h 1327354"/>
              <a:gd name="connsiteX4" fmla="*/ 663677 w 1327354"/>
              <a:gd name="connsiteY4" fmla="*/ 0 h 132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354" h="1327354">
                <a:moveTo>
                  <a:pt x="663677" y="0"/>
                </a:moveTo>
                <a:cubicBezTo>
                  <a:pt x="1030216" y="0"/>
                  <a:pt x="1327354" y="297138"/>
                  <a:pt x="1327354" y="663677"/>
                </a:cubicBezTo>
                <a:cubicBezTo>
                  <a:pt x="1327354" y="1030216"/>
                  <a:pt x="1030216" y="1327354"/>
                  <a:pt x="663677" y="1327354"/>
                </a:cubicBezTo>
                <a:cubicBezTo>
                  <a:pt x="297138" y="1327354"/>
                  <a:pt x="0" y="1030216"/>
                  <a:pt x="0" y="663677"/>
                </a:cubicBezTo>
                <a:cubicBezTo>
                  <a:pt x="0" y="297138"/>
                  <a:pt x="297138" y="0"/>
                  <a:pt x="663677" y="0"/>
                </a:cubicBezTo>
                <a:close/>
              </a:path>
            </a:pathLst>
          </a:custGeom>
          <a:solidFill>
            <a:schemeClr val="bg1">
              <a:lumMod val="95000"/>
            </a:schemeClr>
          </a:solidFill>
        </p:spPr>
        <p:txBody>
          <a:bodyPr wrap="square">
            <a:noAutofit/>
          </a:bodyPr>
          <a:lstStyle>
            <a:lvl1pPr marL="0" indent="0" algn="ctr">
              <a:buNone/>
              <a:defRPr sz="1200">
                <a:solidFill>
                  <a:schemeClr val="tx1">
                    <a:lumMod val="50000"/>
                    <a:lumOff val="50000"/>
                  </a:schemeClr>
                </a:solidFill>
              </a:defRPr>
            </a:lvl1pPr>
          </a:lstStyle>
          <a:p>
            <a:endParaRPr lang="id-ID"/>
          </a:p>
        </p:txBody>
      </p:sp>
      <p:sp>
        <p:nvSpPr>
          <p:cNvPr id="3" name="Picture Placeholder 3">
            <a:extLst>
              <a:ext uri="{FF2B5EF4-FFF2-40B4-BE49-F238E27FC236}">
                <a16:creationId xmlns:a16="http://schemas.microsoft.com/office/drawing/2014/main" id="{897B903E-0E75-45A3-A7EA-32B298E8F8AE}"/>
              </a:ext>
            </a:extLst>
          </p:cNvPr>
          <p:cNvSpPr>
            <a:spLocks noGrp="1"/>
          </p:cNvSpPr>
          <p:nvPr>
            <p:ph type="pic" sz="quarter" idx="15"/>
          </p:nvPr>
        </p:nvSpPr>
        <p:spPr>
          <a:xfrm>
            <a:off x="7045237" y="1335005"/>
            <a:ext cx="837136" cy="837134"/>
          </a:xfrm>
          <a:custGeom>
            <a:avLst/>
            <a:gdLst>
              <a:gd name="connsiteX0" fmla="*/ 663677 w 1327354"/>
              <a:gd name="connsiteY0" fmla="*/ 0 h 1327354"/>
              <a:gd name="connsiteX1" fmla="*/ 1327354 w 1327354"/>
              <a:gd name="connsiteY1" fmla="*/ 663677 h 1327354"/>
              <a:gd name="connsiteX2" fmla="*/ 663677 w 1327354"/>
              <a:gd name="connsiteY2" fmla="*/ 1327354 h 1327354"/>
              <a:gd name="connsiteX3" fmla="*/ 0 w 1327354"/>
              <a:gd name="connsiteY3" fmla="*/ 663677 h 1327354"/>
              <a:gd name="connsiteX4" fmla="*/ 663677 w 1327354"/>
              <a:gd name="connsiteY4" fmla="*/ 0 h 132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354" h="1327354">
                <a:moveTo>
                  <a:pt x="663677" y="0"/>
                </a:moveTo>
                <a:cubicBezTo>
                  <a:pt x="1030216" y="0"/>
                  <a:pt x="1327354" y="297138"/>
                  <a:pt x="1327354" y="663677"/>
                </a:cubicBezTo>
                <a:cubicBezTo>
                  <a:pt x="1327354" y="1030216"/>
                  <a:pt x="1030216" y="1327354"/>
                  <a:pt x="663677" y="1327354"/>
                </a:cubicBezTo>
                <a:cubicBezTo>
                  <a:pt x="297138" y="1327354"/>
                  <a:pt x="0" y="1030216"/>
                  <a:pt x="0" y="663677"/>
                </a:cubicBezTo>
                <a:cubicBezTo>
                  <a:pt x="0" y="297138"/>
                  <a:pt x="297138" y="0"/>
                  <a:pt x="663677" y="0"/>
                </a:cubicBezTo>
                <a:close/>
              </a:path>
            </a:pathLst>
          </a:custGeom>
          <a:solidFill>
            <a:schemeClr val="bg1">
              <a:lumMod val="95000"/>
            </a:schemeClr>
          </a:solidFill>
        </p:spPr>
        <p:txBody>
          <a:bodyPr wrap="square">
            <a:noAutofit/>
          </a:bodyPr>
          <a:lstStyle>
            <a:lvl1pPr marL="0" indent="0" algn="ctr">
              <a:buNone/>
              <a:defRPr sz="1200">
                <a:solidFill>
                  <a:schemeClr val="tx1">
                    <a:lumMod val="50000"/>
                    <a:lumOff val="50000"/>
                  </a:schemeClr>
                </a:solidFill>
              </a:defRPr>
            </a:lvl1pPr>
          </a:lstStyle>
          <a:p>
            <a:endParaRPr lang="id-ID"/>
          </a:p>
        </p:txBody>
      </p:sp>
      <p:sp>
        <p:nvSpPr>
          <p:cNvPr id="4" name="Picture Placeholder 3">
            <a:extLst>
              <a:ext uri="{FF2B5EF4-FFF2-40B4-BE49-F238E27FC236}">
                <a16:creationId xmlns:a16="http://schemas.microsoft.com/office/drawing/2014/main" id="{B665A1F2-B154-43E6-9246-20411640D6C0}"/>
              </a:ext>
            </a:extLst>
          </p:cNvPr>
          <p:cNvSpPr>
            <a:spLocks noGrp="1"/>
          </p:cNvSpPr>
          <p:nvPr>
            <p:ph type="pic" sz="quarter" idx="16"/>
          </p:nvPr>
        </p:nvSpPr>
        <p:spPr>
          <a:xfrm>
            <a:off x="9397298" y="1335005"/>
            <a:ext cx="837136" cy="837134"/>
          </a:xfrm>
          <a:custGeom>
            <a:avLst/>
            <a:gdLst>
              <a:gd name="connsiteX0" fmla="*/ 663677 w 1327354"/>
              <a:gd name="connsiteY0" fmla="*/ 0 h 1327354"/>
              <a:gd name="connsiteX1" fmla="*/ 1327354 w 1327354"/>
              <a:gd name="connsiteY1" fmla="*/ 663677 h 1327354"/>
              <a:gd name="connsiteX2" fmla="*/ 663677 w 1327354"/>
              <a:gd name="connsiteY2" fmla="*/ 1327354 h 1327354"/>
              <a:gd name="connsiteX3" fmla="*/ 0 w 1327354"/>
              <a:gd name="connsiteY3" fmla="*/ 663677 h 1327354"/>
              <a:gd name="connsiteX4" fmla="*/ 663677 w 1327354"/>
              <a:gd name="connsiteY4" fmla="*/ 0 h 132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354" h="1327354">
                <a:moveTo>
                  <a:pt x="663677" y="0"/>
                </a:moveTo>
                <a:cubicBezTo>
                  <a:pt x="1030216" y="0"/>
                  <a:pt x="1327354" y="297138"/>
                  <a:pt x="1327354" y="663677"/>
                </a:cubicBezTo>
                <a:cubicBezTo>
                  <a:pt x="1327354" y="1030216"/>
                  <a:pt x="1030216" y="1327354"/>
                  <a:pt x="663677" y="1327354"/>
                </a:cubicBezTo>
                <a:cubicBezTo>
                  <a:pt x="297138" y="1327354"/>
                  <a:pt x="0" y="1030216"/>
                  <a:pt x="0" y="663677"/>
                </a:cubicBezTo>
                <a:cubicBezTo>
                  <a:pt x="0" y="297138"/>
                  <a:pt x="297138" y="0"/>
                  <a:pt x="663677" y="0"/>
                </a:cubicBezTo>
                <a:close/>
              </a:path>
            </a:pathLst>
          </a:custGeom>
          <a:solidFill>
            <a:schemeClr val="bg1">
              <a:lumMod val="95000"/>
            </a:schemeClr>
          </a:solidFill>
        </p:spPr>
        <p:txBody>
          <a:bodyPr wrap="square">
            <a:noAutofit/>
          </a:bodyPr>
          <a:lstStyle>
            <a:lvl1pPr marL="0" indent="0" algn="ctr">
              <a:buNone/>
              <a:defRPr sz="1200">
                <a:solidFill>
                  <a:schemeClr val="tx1">
                    <a:lumMod val="50000"/>
                    <a:lumOff val="50000"/>
                  </a:schemeClr>
                </a:solidFill>
              </a:defRPr>
            </a:lvl1pPr>
          </a:lstStyle>
          <a:p>
            <a:endParaRPr lang="id-ID"/>
          </a:p>
        </p:txBody>
      </p:sp>
      <p:sp>
        <p:nvSpPr>
          <p:cNvPr id="5" name="Picture Placeholder 3">
            <a:extLst>
              <a:ext uri="{FF2B5EF4-FFF2-40B4-BE49-F238E27FC236}">
                <a16:creationId xmlns:a16="http://schemas.microsoft.com/office/drawing/2014/main" id="{A9124E32-676D-413D-B4BA-E25EB6C65CFB}"/>
              </a:ext>
            </a:extLst>
          </p:cNvPr>
          <p:cNvSpPr>
            <a:spLocks noGrp="1"/>
          </p:cNvSpPr>
          <p:nvPr>
            <p:ph type="pic" sz="quarter" idx="17"/>
          </p:nvPr>
        </p:nvSpPr>
        <p:spPr>
          <a:xfrm>
            <a:off x="4645396" y="3905269"/>
            <a:ext cx="837136" cy="837134"/>
          </a:xfrm>
          <a:custGeom>
            <a:avLst/>
            <a:gdLst>
              <a:gd name="connsiteX0" fmla="*/ 663677 w 1327354"/>
              <a:gd name="connsiteY0" fmla="*/ 0 h 1327354"/>
              <a:gd name="connsiteX1" fmla="*/ 1327354 w 1327354"/>
              <a:gd name="connsiteY1" fmla="*/ 663677 h 1327354"/>
              <a:gd name="connsiteX2" fmla="*/ 663677 w 1327354"/>
              <a:gd name="connsiteY2" fmla="*/ 1327354 h 1327354"/>
              <a:gd name="connsiteX3" fmla="*/ 0 w 1327354"/>
              <a:gd name="connsiteY3" fmla="*/ 663677 h 1327354"/>
              <a:gd name="connsiteX4" fmla="*/ 663677 w 1327354"/>
              <a:gd name="connsiteY4" fmla="*/ 0 h 132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354" h="1327354">
                <a:moveTo>
                  <a:pt x="663677" y="0"/>
                </a:moveTo>
                <a:cubicBezTo>
                  <a:pt x="1030216" y="0"/>
                  <a:pt x="1327354" y="297138"/>
                  <a:pt x="1327354" y="663677"/>
                </a:cubicBezTo>
                <a:cubicBezTo>
                  <a:pt x="1327354" y="1030216"/>
                  <a:pt x="1030216" y="1327354"/>
                  <a:pt x="663677" y="1327354"/>
                </a:cubicBezTo>
                <a:cubicBezTo>
                  <a:pt x="297138" y="1327354"/>
                  <a:pt x="0" y="1030216"/>
                  <a:pt x="0" y="663677"/>
                </a:cubicBezTo>
                <a:cubicBezTo>
                  <a:pt x="0" y="297138"/>
                  <a:pt x="297138" y="0"/>
                  <a:pt x="663677" y="0"/>
                </a:cubicBezTo>
                <a:close/>
              </a:path>
            </a:pathLst>
          </a:custGeom>
          <a:solidFill>
            <a:schemeClr val="bg1">
              <a:lumMod val="95000"/>
            </a:schemeClr>
          </a:solidFill>
        </p:spPr>
        <p:txBody>
          <a:bodyPr wrap="square">
            <a:noAutofit/>
          </a:bodyPr>
          <a:lstStyle>
            <a:lvl1pPr marL="0" indent="0" algn="ctr">
              <a:buNone/>
              <a:defRPr sz="1200">
                <a:solidFill>
                  <a:schemeClr val="tx1">
                    <a:lumMod val="50000"/>
                    <a:lumOff val="50000"/>
                  </a:schemeClr>
                </a:solidFill>
              </a:defRPr>
            </a:lvl1pPr>
          </a:lstStyle>
          <a:p>
            <a:endParaRPr lang="id-ID"/>
          </a:p>
        </p:txBody>
      </p:sp>
      <p:sp>
        <p:nvSpPr>
          <p:cNvPr id="6" name="Picture Placeholder 3">
            <a:extLst>
              <a:ext uri="{FF2B5EF4-FFF2-40B4-BE49-F238E27FC236}">
                <a16:creationId xmlns:a16="http://schemas.microsoft.com/office/drawing/2014/main" id="{8C762AA1-E39D-45FD-8ABE-F6207BAF7061}"/>
              </a:ext>
            </a:extLst>
          </p:cNvPr>
          <p:cNvSpPr>
            <a:spLocks noGrp="1"/>
          </p:cNvSpPr>
          <p:nvPr>
            <p:ph type="pic" sz="quarter" idx="18"/>
          </p:nvPr>
        </p:nvSpPr>
        <p:spPr>
          <a:xfrm>
            <a:off x="7045237" y="3905269"/>
            <a:ext cx="837136" cy="837134"/>
          </a:xfrm>
          <a:custGeom>
            <a:avLst/>
            <a:gdLst>
              <a:gd name="connsiteX0" fmla="*/ 663677 w 1327354"/>
              <a:gd name="connsiteY0" fmla="*/ 0 h 1327354"/>
              <a:gd name="connsiteX1" fmla="*/ 1327354 w 1327354"/>
              <a:gd name="connsiteY1" fmla="*/ 663677 h 1327354"/>
              <a:gd name="connsiteX2" fmla="*/ 663677 w 1327354"/>
              <a:gd name="connsiteY2" fmla="*/ 1327354 h 1327354"/>
              <a:gd name="connsiteX3" fmla="*/ 0 w 1327354"/>
              <a:gd name="connsiteY3" fmla="*/ 663677 h 1327354"/>
              <a:gd name="connsiteX4" fmla="*/ 663677 w 1327354"/>
              <a:gd name="connsiteY4" fmla="*/ 0 h 132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354" h="1327354">
                <a:moveTo>
                  <a:pt x="663677" y="0"/>
                </a:moveTo>
                <a:cubicBezTo>
                  <a:pt x="1030216" y="0"/>
                  <a:pt x="1327354" y="297138"/>
                  <a:pt x="1327354" y="663677"/>
                </a:cubicBezTo>
                <a:cubicBezTo>
                  <a:pt x="1327354" y="1030216"/>
                  <a:pt x="1030216" y="1327354"/>
                  <a:pt x="663677" y="1327354"/>
                </a:cubicBezTo>
                <a:cubicBezTo>
                  <a:pt x="297138" y="1327354"/>
                  <a:pt x="0" y="1030216"/>
                  <a:pt x="0" y="663677"/>
                </a:cubicBezTo>
                <a:cubicBezTo>
                  <a:pt x="0" y="297138"/>
                  <a:pt x="297138" y="0"/>
                  <a:pt x="663677" y="0"/>
                </a:cubicBezTo>
                <a:close/>
              </a:path>
            </a:pathLst>
          </a:custGeom>
          <a:solidFill>
            <a:schemeClr val="bg1">
              <a:lumMod val="95000"/>
            </a:schemeClr>
          </a:solidFill>
        </p:spPr>
        <p:txBody>
          <a:bodyPr wrap="square">
            <a:noAutofit/>
          </a:bodyPr>
          <a:lstStyle>
            <a:lvl1pPr marL="0" indent="0" algn="ctr">
              <a:buNone/>
              <a:defRPr sz="1200">
                <a:solidFill>
                  <a:schemeClr val="tx1">
                    <a:lumMod val="50000"/>
                    <a:lumOff val="50000"/>
                  </a:schemeClr>
                </a:solidFill>
              </a:defRPr>
            </a:lvl1pPr>
          </a:lstStyle>
          <a:p>
            <a:endParaRPr lang="id-ID"/>
          </a:p>
        </p:txBody>
      </p:sp>
      <p:sp>
        <p:nvSpPr>
          <p:cNvPr id="7" name="Picture Placeholder 3">
            <a:extLst>
              <a:ext uri="{FF2B5EF4-FFF2-40B4-BE49-F238E27FC236}">
                <a16:creationId xmlns:a16="http://schemas.microsoft.com/office/drawing/2014/main" id="{ABBA0B6A-86EA-485A-B126-A20C2ED3EA18}"/>
              </a:ext>
            </a:extLst>
          </p:cNvPr>
          <p:cNvSpPr>
            <a:spLocks noGrp="1"/>
          </p:cNvSpPr>
          <p:nvPr>
            <p:ph type="pic" sz="quarter" idx="19"/>
          </p:nvPr>
        </p:nvSpPr>
        <p:spPr>
          <a:xfrm>
            <a:off x="9397298" y="3905269"/>
            <a:ext cx="837136" cy="837134"/>
          </a:xfrm>
          <a:custGeom>
            <a:avLst/>
            <a:gdLst>
              <a:gd name="connsiteX0" fmla="*/ 663677 w 1327354"/>
              <a:gd name="connsiteY0" fmla="*/ 0 h 1327354"/>
              <a:gd name="connsiteX1" fmla="*/ 1327354 w 1327354"/>
              <a:gd name="connsiteY1" fmla="*/ 663677 h 1327354"/>
              <a:gd name="connsiteX2" fmla="*/ 663677 w 1327354"/>
              <a:gd name="connsiteY2" fmla="*/ 1327354 h 1327354"/>
              <a:gd name="connsiteX3" fmla="*/ 0 w 1327354"/>
              <a:gd name="connsiteY3" fmla="*/ 663677 h 1327354"/>
              <a:gd name="connsiteX4" fmla="*/ 663677 w 1327354"/>
              <a:gd name="connsiteY4" fmla="*/ 0 h 132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7354" h="1327354">
                <a:moveTo>
                  <a:pt x="663677" y="0"/>
                </a:moveTo>
                <a:cubicBezTo>
                  <a:pt x="1030216" y="0"/>
                  <a:pt x="1327354" y="297138"/>
                  <a:pt x="1327354" y="663677"/>
                </a:cubicBezTo>
                <a:cubicBezTo>
                  <a:pt x="1327354" y="1030216"/>
                  <a:pt x="1030216" y="1327354"/>
                  <a:pt x="663677" y="1327354"/>
                </a:cubicBezTo>
                <a:cubicBezTo>
                  <a:pt x="297138" y="1327354"/>
                  <a:pt x="0" y="1030216"/>
                  <a:pt x="0" y="663677"/>
                </a:cubicBezTo>
                <a:cubicBezTo>
                  <a:pt x="0" y="297138"/>
                  <a:pt x="297138" y="0"/>
                  <a:pt x="663677" y="0"/>
                </a:cubicBezTo>
                <a:close/>
              </a:path>
            </a:pathLst>
          </a:custGeom>
          <a:solidFill>
            <a:schemeClr val="bg1">
              <a:lumMod val="95000"/>
            </a:schemeClr>
          </a:solidFill>
        </p:spPr>
        <p:txBody>
          <a:bodyPr wrap="square">
            <a:noAutofit/>
          </a:bodyPr>
          <a:lstStyle>
            <a:lvl1pPr marL="0" indent="0" algn="ctr">
              <a:buNone/>
              <a:defRPr sz="1200">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2670818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D77249FB-5CDA-27F1-1632-E7C466004C03}"/>
              </a:ext>
            </a:extLst>
          </p:cNvPr>
          <p:cNvSpPr>
            <a:spLocks noGrp="1"/>
          </p:cNvSpPr>
          <p:nvPr>
            <p:ph type="title" hasCustomPrompt="1"/>
          </p:nvPr>
        </p:nvSpPr>
        <p:spPr>
          <a:xfrm>
            <a:off x="72998" y="537690"/>
            <a:ext cx="10515600" cy="365125"/>
          </a:xfrm>
          <a:prstGeom prst="rect">
            <a:avLst/>
          </a:prstGeom>
        </p:spPr>
        <p:txBody>
          <a:bodyPr>
            <a:normAutofit/>
          </a:bodyPr>
          <a:lstStyle>
            <a:lvl1pPr>
              <a:defRPr sz="1800" b="1">
                <a:latin typeface="Proxima Nova Lt" panose="02000506030000020004" pitchFamily="50" charset="0"/>
              </a:defRPr>
            </a:lvl1pPr>
          </a:lstStyle>
          <a:p>
            <a:r>
              <a:rPr lang="en-US"/>
              <a:t>Add slide title here</a:t>
            </a:r>
            <a:endParaRPr lang="en-IN"/>
          </a:p>
        </p:txBody>
      </p:sp>
    </p:spTree>
    <p:extLst>
      <p:ext uri="{BB962C8B-B14F-4D97-AF65-F5344CB8AC3E}">
        <p14:creationId xmlns:p14="http://schemas.microsoft.com/office/powerpoint/2010/main" val="1409560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8361102B-D120-1335-9D6C-4F7C2FCE4618}"/>
              </a:ext>
            </a:extLst>
          </p:cNvPr>
          <p:cNvSpPr>
            <a:spLocks noGrp="1"/>
          </p:cNvSpPr>
          <p:nvPr>
            <p:ph type="body" sz="quarter" idx="10" hasCustomPrompt="1"/>
          </p:nvPr>
        </p:nvSpPr>
        <p:spPr>
          <a:xfrm>
            <a:off x="2845254" y="787424"/>
            <a:ext cx="6547670" cy="757238"/>
          </a:xfrm>
          <a:prstGeom prst="rect">
            <a:avLst/>
          </a:prstGeom>
        </p:spPr>
        <p:txBody>
          <a:bodyPr/>
          <a:lstStyle>
            <a:lvl1pPr marL="0" indent="0" algn="ctr">
              <a:buNone/>
              <a:defRPr sz="3600" b="1">
                <a:latin typeface="Proxima Nova Rg" panose="02000506030000020004"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Add lesson title here</a:t>
            </a:r>
          </a:p>
        </p:txBody>
      </p:sp>
      <p:sp>
        <p:nvSpPr>
          <p:cNvPr id="14" name="Text Placeholder 13">
            <a:extLst>
              <a:ext uri="{FF2B5EF4-FFF2-40B4-BE49-F238E27FC236}">
                <a16:creationId xmlns:a16="http://schemas.microsoft.com/office/drawing/2014/main" id="{2621F96C-0067-DF6F-859A-71F669A07310}"/>
              </a:ext>
            </a:extLst>
          </p:cNvPr>
          <p:cNvSpPr>
            <a:spLocks noGrp="1"/>
          </p:cNvSpPr>
          <p:nvPr>
            <p:ph type="body" sz="quarter" idx="11" hasCustomPrompt="1"/>
          </p:nvPr>
        </p:nvSpPr>
        <p:spPr>
          <a:xfrm>
            <a:off x="3588773" y="1599698"/>
            <a:ext cx="5093111" cy="337417"/>
          </a:xfrm>
          <a:prstGeom prst="rect">
            <a:avLst/>
          </a:prstGeom>
        </p:spPr>
        <p:txBody>
          <a:bodyPr/>
          <a:lstStyle>
            <a:lvl1pPr marL="0" indent="0" algn="ctr">
              <a:buNone/>
              <a:defRPr sz="1800">
                <a:solidFill>
                  <a:schemeClr val="bg2">
                    <a:lumMod val="25000"/>
                  </a:schemeClr>
                </a:solidFill>
                <a:latin typeface="Proxima Nova Rg" panose="02000506030000020004" pitchFamily="50" charset="0"/>
              </a:defRPr>
            </a:lvl1pPr>
          </a:lstStyle>
          <a:p>
            <a:pPr lvl="0"/>
            <a:r>
              <a:rPr lang="en-US"/>
              <a:t>Add lesson description here</a:t>
            </a:r>
          </a:p>
        </p:txBody>
      </p:sp>
      <p:sp>
        <p:nvSpPr>
          <p:cNvPr id="16" name="Content Placeholder 15">
            <a:extLst>
              <a:ext uri="{FF2B5EF4-FFF2-40B4-BE49-F238E27FC236}">
                <a16:creationId xmlns:a16="http://schemas.microsoft.com/office/drawing/2014/main" id="{C2B2BD8F-FCF3-4C9F-5200-BF475A93086A}"/>
              </a:ext>
            </a:extLst>
          </p:cNvPr>
          <p:cNvSpPr>
            <a:spLocks noGrp="1"/>
          </p:cNvSpPr>
          <p:nvPr>
            <p:ph sz="quarter" idx="12" hasCustomPrompt="1"/>
          </p:nvPr>
        </p:nvSpPr>
        <p:spPr>
          <a:xfrm>
            <a:off x="5701970" y="2433858"/>
            <a:ext cx="3470838" cy="245192"/>
          </a:xfrm>
          <a:prstGeom prst="rect">
            <a:avLst/>
          </a:prstGeom>
        </p:spPr>
        <p:txBody>
          <a:bodyPr/>
          <a:lstStyle>
            <a:lvl1pPr marL="0" indent="0">
              <a:buNone/>
              <a:defRPr sz="1600">
                <a:latin typeface="Proxima Nova Medium" panose="02000506030000020004" pitchFamily="2" charset="0"/>
              </a:defRPr>
            </a:lvl1pPr>
          </a:lstStyle>
          <a:p>
            <a:pPr lvl="0"/>
            <a:r>
              <a:rPr lang="en-US"/>
              <a:t>Add duration in minutes</a:t>
            </a:r>
          </a:p>
        </p:txBody>
      </p:sp>
    </p:spTree>
    <p:extLst>
      <p:ext uri="{BB962C8B-B14F-4D97-AF65-F5344CB8AC3E}">
        <p14:creationId xmlns:p14="http://schemas.microsoft.com/office/powerpoint/2010/main" val="326159971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293A9D6-2922-7C65-3AB0-F829AB75ED4D}"/>
              </a:ext>
            </a:extLst>
          </p:cNvPr>
          <p:cNvSpPr txBox="1"/>
          <p:nvPr userDrawn="1"/>
        </p:nvSpPr>
        <p:spPr>
          <a:xfrm>
            <a:off x="189402" y="89411"/>
            <a:ext cx="8025581" cy="307777"/>
          </a:xfrm>
          <a:prstGeom prst="rect">
            <a:avLst/>
          </a:prstGeom>
          <a:noFill/>
        </p:spPr>
        <p:txBody>
          <a:bodyPr wrap="square">
            <a:spAutoFit/>
          </a:bodyPr>
          <a:lstStyle/>
          <a:p>
            <a:pPr marL="0" lvl="3" algn="l"/>
            <a:r>
              <a:rPr lang="en-US" sz="1400" b="0" dirty="0">
                <a:solidFill>
                  <a:schemeClr val="bg1">
                    <a:lumMod val="50000"/>
                  </a:schemeClr>
                </a:solidFill>
                <a:latin typeface="+mn-lt"/>
                <a:cs typeface="Arial" panose="020B0604020202020204" pitchFamily="34" charset="0"/>
              </a:rPr>
              <a:t>Anti-Money Laundering</a:t>
            </a:r>
            <a:endParaRPr lang="en-IN" sz="1400" b="0" dirty="0">
              <a:solidFill>
                <a:schemeClr val="bg1">
                  <a:lumMod val="50000"/>
                </a:schemeClr>
              </a:solidFill>
              <a:latin typeface="+mn-lt"/>
              <a:cs typeface="Arial" panose="020B0604020202020204" pitchFamily="34" charset="0"/>
            </a:endParaRPr>
          </a:p>
        </p:txBody>
      </p:sp>
    </p:spTree>
    <p:extLst>
      <p:ext uri="{BB962C8B-B14F-4D97-AF65-F5344CB8AC3E}">
        <p14:creationId xmlns:p14="http://schemas.microsoft.com/office/powerpoint/2010/main" val="3905260224"/>
      </p:ext>
    </p:extLst>
  </p:cSld>
  <p:clrMap bg1="lt1" tx1="dk1" bg2="lt2" tx2="dk2" accent1="accent1" accent2="accent2" accent3="accent3" accent4="accent4" accent5="accent5" accent6="accent6" hlink="hlink" folHlink="folHlink"/>
  <p:sldLayoutIdLst>
    <p:sldLayoutId id="2147483649" r:id="rId1"/>
    <p:sldLayoutId id="2147483656" r:id="rId2"/>
    <p:sldLayoutId id="2147483657" r:id="rId3"/>
    <p:sldLayoutId id="2147483658"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2.jpeg"/><Relationship Id="rId4" Type="http://schemas.openxmlformats.org/officeDocument/2006/relationships/image" Target="../media/image11.jpeg"/></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2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12.jpeg"/><Relationship Id="rId4" Type="http://schemas.openxmlformats.org/officeDocument/2006/relationships/image" Target="../media/image11.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6617D25-378B-B44C-456B-C4632D1FCF82}"/>
              </a:ext>
            </a:extLst>
          </p:cNvPr>
          <p:cNvSpPr/>
          <p:nvPr/>
        </p:nvSpPr>
        <p:spPr>
          <a:xfrm>
            <a:off x="180177" y="1012980"/>
            <a:ext cx="11118819" cy="1549781"/>
          </a:xfrm>
          <a:prstGeom prst="rect">
            <a:avLst/>
          </a:prstGeom>
          <a:noFill/>
          <a:ln w="9525">
            <a:noFill/>
          </a:ln>
        </p:spPr>
        <p:style>
          <a:lnRef idx="2">
            <a:schemeClr val="dk1"/>
          </a:lnRef>
          <a:fillRef idx="1">
            <a:schemeClr val="lt1"/>
          </a:fillRef>
          <a:effectRef idx="0">
            <a:schemeClr val="dk1"/>
          </a:effectRef>
          <a:fontRef idx="minor">
            <a:schemeClr val="dk1"/>
          </a:fontRef>
        </p:style>
        <p:txBody>
          <a:bodyPr lIns="229790" tIns="114897" rIns="229790" bIns="114897" anchor="t" anchorCtr="0"/>
          <a:lstStyle/>
          <a:p>
            <a:pPr marL="0" marR="0" lvl="0" indent="0" algn="l" defTabSz="914400" rtl="0" eaLnBrk="1" fontAlgn="auto" latinLnBrk="0" hangingPunct="1">
              <a:lnSpc>
                <a:spcPct val="100000"/>
              </a:lnSpc>
              <a:spcAft>
                <a:spcPts val="0"/>
              </a:spcAft>
              <a:buClrTx/>
              <a:buSzTx/>
              <a:buFontTx/>
              <a:buNone/>
              <a:tabLst/>
              <a:defRPr/>
            </a:pPr>
            <a:endParaRPr kumimoji="0" lang="en-US" b="0" i="0" u="none" strike="noStrike" kern="1200" cap="none" spc="0" normalizeH="0" baseline="0" noProof="0">
              <a:ln>
                <a:noFill/>
              </a:ln>
              <a:solidFill>
                <a:srgbClr val="283F5F"/>
              </a:solidFill>
              <a:effectLst/>
              <a:uLnTx/>
              <a:uFillTx/>
              <a:latin typeface="Arial" panose="020B0604020202020204" pitchFamily="34" charset="0"/>
              <a:ea typeface="+mn-ea"/>
              <a:cs typeface="Arial" panose="020B0604020202020204" pitchFamily="34" charset="0"/>
            </a:endParaRPr>
          </a:p>
        </p:txBody>
      </p:sp>
      <p:sp>
        <p:nvSpPr>
          <p:cNvPr id="6" name="TextBox 5">
            <a:extLst>
              <a:ext uri="{FF2B5EF4-FFF2-40B4-BE49-F238E27FC236}">
                <a16:creationId xmlns:a16="http://schemas.microsoft.com/office/drawing/2014/main" id="{6371FF33-B92C-01AF-7B95-9AD78ED04EA7}"/>
              </a:ext>
            </a:extLst>
          </p:cNvPr>
          <p:cNvSpPr txBox="1"/>
          <p:nvPr/>
        </p:nvSpPr>
        <p:spPr>
          <a:xfrm>
            <a:off x="180177" y="2792348"/>
            <a:ext cx="10758464" cy="2860976"/>
          </a:xfrm>
          <a:prstGeom prst="rect">
            <a:avLst/>
          </a:prstGeom>
          <a:noFill/>
        </p:spPr>
        <p:txBody>
          <a:bodyPr wrap="square">
            <a:spAutoFit/>
          </a:bodyPr>
          <a:lstStyle/>
          <a:p>
            <a:pPr marL="0" marR="0" lvl="0" indent="0" algn="l" defTabSz="914400" rtl="0" eaLnBrk="1" fontAlgn="auto" latinLnBrk="0" hangingPunct="1">
              <a:lnSpc>
                <a:spcPct val="100000"/>
              </a:lnSpc>
              <a:spcBef>
                <a:spcPct val="0"/>
              </a:spcBef>
              <a:spcAft>
                <a:spcPts val="453"/>
              </a:spcAft>
              <a:buClrTx/>
              <a:buSzTx/>
              <a:buFontTx/>
              <a:buNone/>
              <a:tabLst/>
              <a:defRPr/>
            </a:pPr>
            <a:r>
              <a:rPr kumimoji="0" lang="en-US" altLang="en-US" b="1" i="0" u="none" strike="noStrike" kern="1200" cap="none" spc="0" normalizeH="0" baseline="0" noProof="0">
                <a:ln>
                  <a:noFill/>
                </a:ln>
                <a:solidFill>
                  <a:srgbClr val="283F5F"/>
                </a:solidFill>
                <a:effectLst/>
                <a:uLnTx/>
                <a:uFillTx/>
                <a:latin typeface="Arial" panose="020B0604020202020204" pitchFamily="34" charset="0"/>
                <a:ea typeface="+mn-ea"/>
                <a:cs typeface="Arial" panose="020B0604020202020204" pitchFamily="34" charset="0"/>
              </a:rPr>
              <a:t>Notes Area</a:t>
            </a:r>
          </a:p>
          <a:p>
            <a:pPr marL="0" marR="0" lvl="0" indent="0" algn="l" defTabSz="914400" rtl="0" eaLnBrk="1" fontAlgn="auto" latinLnBrk="0" hangingPunct="1">
              <a:lnSpc>
                <a:spcPct val="100000"/>
              </a:lnSpc>
              <a:spcBef>
                <a:spcPts val="1071"/>
              </a:spcBef>
              <a:spcAft>
                <a:spcPts val="0"/>
              </a:spcAft>
              <a:buClrTx/>
              <a:buSzTx/>
              <a:buFontTx/>
              <a:buNone/>
              <a:tabLst/>
              <a:defRPr/>
            </a:pPr>
            <a:r>
              <a:rPr kumimoji="0" lang="en-US" b="0" i="0" u="none" strike="noStrike" kern="1200" cap="none" spc="0" normalizeH="0" baseline="0" noProof="0">
                <a:ln>
                  <a:noFill/>
                </a:ln>
                <a:solidFill>
                  <a:srgbClr val="283F5F"/>
                </a:solidFill>
                <a:effectLst/>
                <a:uLnTx/>
                <a:uFillTx/>
                <a:latin typeface="Arial" panose="020B0604020202020204" pitchFamily="34" charset="0"/>
                <a:ea typeface="+mn-ea"/>
                <a:cs typeface="Arial" panose="020B0604020202020204" pitchFamily="34" charset="0"/>
              </a:rPr>
              <a:t>This section contains the following details:</a:t>
            </a:r>
          </a:p>
          <a:p>
            <a:pPr marL="306004" marR="0" lvl="0" indent="-306004" algn="l" defTabSz="914400" rtl="0" eaLnBrk="1" fontAlgn="auto" latinLnBrk="0" hangingPunct="1">
              <a:lnSpc>
                <a:spcPct val="114000"/>
              </a:lnSpc>
              <a:spcBef>
                <a:spcPts val="1071"/>
              </a:spcBef>
              <a:spcAft>
                <a:spcPts val="0"/>
              </a:spcAft>
              <a:buClrTx/>
              <a:buSzTx/>
              <a:buFont typeface="Arial" panose="020B0604020202020204" pitchFamily="34" charset="0"/>
              <a:buChar char="•"/>
              <a:tabLst/>
              <a:defRPr/>
            </a:pPr>
            <a:r>
              <a:rPr kumimoji="0" lang="en-US" b="0" i="0" u="none" strike="noStrike" kern="1200" cap="none" spc="0" normalizeH="0" baseline="0" noProof="0">
                <a:ln>
                  <a:noFill/>
                </a:ln>
                <a:solidFill>
                  <a:srgbClr val="283F5F"/>
                </a:solidFill>
                <a:effectLst/>
                <a:uLnTx/>
                <a:uFillTx/>
                <a:latin typeface="Arial" panose="020B0604020202020204" pitchFamily="34" charset="0"/>
                <a:ea typeface="+mn-ea"/>
                <a:cs typeface="Arial" panose="020B0604020202020204" pitchFamily="34" charset="0"/>
              </a:rPr>
              <a:t>Notes to Reviewer: Queries/notes to reviewers </a:t>
            </a:r>
          </a:p>
          <a:p>
            <a:pPr marL="306004" marR="0" lvl="0" indent="-306004"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lang="en-US">
                <a:solidFill>
                  <a:srgbClr val="283F5F"/>
                </a:solidFill>
                <a:latin typeface="Arial" panose="020B0604020202020204" pitchFamily="34" charset="0"/>
                <a:cs typeface="Arial" panose="020B0604020202020204" pitchFamily="34" charset="0"/>
              </a:rPr>
              <a:t>Screen Type: Proposed treatment of the screen</a:t>
            </a:r>
          </a:p>
          <a:p>
            <a:pPr marL="306004" marR="0" lvl="0" indent="-306004"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b="0" i="0" u="none" strike="noStrike" kern="1200" cap="none" spc="0" normalizeH="0" baseline="0" noProof="0">
                <a:ln>
                  <a:noFill/>
                </a:ln>
                <a:solidFill>
                  <a:srgbClr val="283F5F"/>
                </a:solidFill>
                <a:effectLst/>
                <a:uLnTx/>
                <a:uFillTx/>
                <a:latin typeface="Arial" panose="020B0604020202020204" pitchFamily="34" charset="0"/>
                <a:ea typeface="+mn-ea"/>
                <a:cs typeface="Arial" panose="020B0604020202020204" pitchFamily="34" charset="0"/>
              </a:rPr>
              <a:t>Screen Duration: The estimated duration for a screen</a:t>
            </a:r>
          </a:p>
          <a:p>
            <a:pPr marL="306004" marR="0" lvl="0" indent="-306004"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b="0" i="0" u="none" strike="noStrike" kern="1200" cap="none" spc="0" normalizeH="0" baseline="0" noProof="0">
                <a:ln>
                  <a:noFill/>
                </a:ln>
                <a:solidFill>
                  <a:srgbClr val="283F5F"/>
                </a:solidFill>
                <a:effectLst/>
                <a:uLnTx/>
                <a:uFillTx/>
                <a:latin typeface="Arial" panose="020B0604020202020204" pitchFamily="34" charset="0"/>
                <a:ea typeface="+mn-ea"/>
                <a:cs typeface="Arial" panose="020B0604020202020204" pitchFamily="34" charset="0"/>
              </a:rPr>
              <a:t>Developer Notes: Specific functional development instructions</a:t>
            </a:r>
          </a:p>
          <a:p>
            <a:pPr marL="306004" marR="0" lvl="0" indent="-306004"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b="0" i="0" u="none" strike="noStrike" kern="1200" cap="none" spc="0" normalizeH="0" baseline="0" noProof="0">
                <a:ln>
                  <a:noFill/>
                </a:ln>
                <a:solidFill>
                  <a:srgbClr val="283F5F"/>
                </a:solidFill>
                <a:effectLst/>
                <a:uLnTx/>
                <a:uFillTx/>
                <a:latin typeface="Arial" panose="020B0604020202020204" pitchFamily="34" charset="0"/>
                <a:ea typeface="+mn-ea"/>
                <a:cs typeface="Arial" panose="020B0604020202020204" pitchFamily="34" charset="0"/>
              </a:rPr>
              <a:t>Graphics Notes: Specific visual development instructions</a:t>
            </a:r>
          </a:p>
          <a:p>
            <a:pPr marL="306004" marR="0" lvl="0" indent="-306004" algn="l" defTabSz="914400"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US" b="0" i="0" u="none" strike="noStrike" kern="1200" cap="none" spc="0" normalizeH="0" baseline="0" noProof="0">
                <a:ln>
                  <a:noFill/>
                </a:ln>
                <a:solidFill>
                  <a:srgbClr val="283F5F"/>
                </a:solidFill>
                <a:effectLst/>
                <a:uLnTx/>
                <a:uFillTx/>
                <a:latin typeface="Arial" panose="020B0604020202020204" pitchFamily="34" charset="0"/>
                <a:ea typeface="+mn-ea"/>
                <a:cs typeface="Arial" panose="020B0604020202020204" pitchFamily="34" charset="0"/>
              </a:rPr>
              <a:t>Image ID: Image ID from the image library</a:t>
            </a:r>
          </a:p>
        </p:txBody>
      </p:sp>
      <p:sp>
        <p:nvSpPr>
          <p:cNvPr id="2" name="Title 1">
            <a:extLst>
              <a:ext uri="{FF2B5EF4-FFF2-40B4-BE49-F238E27FC236}">
                <a16:creationId xmlns:a16="http://schemas.microsoft.com/office/drawing/2014/main" id="{84A0C3D8-4530-EF02-AAAB-44B741FE610E}"/>
              </a:ext>
            </a:extLst>
          </p:cNvPr>
          <p:cNvSpPr>
            <a:spLocks noGrp="1"/>
          </p:cNvSpPr>
          <p:nvPr>
            <p:ph type="title"/>
          </p:nvPr>
        </p:nvSpPr>
        <p:spPr/>
        <p:txBody>
          <a:bodyPr/>
          <a:lstStyle/>
          <a:p>
            <a:r>
              <a:rPr lang="en-US"/>
              <a:t>Notes to the Reviewers</a:t>
            </a:r>
          </a:p>
        </p:txBody>
      </p:sp>
      <p:sp>
        <p:nvSpPr>
          <p:cNvPr id="3" name="TextBox 2">
            <a:extLst>
              <a:ext uri="{FF2B5EF4-FFF2-40B4-BE49-F238E27FC236}">
                <a16:creationId xmlns:a16="http://schemas.microsoft.com/office/drawing/2014/main" id="{BE95299B-26B2-A12A-85F6-CD08A7514544}"/>
              </a:ext>
            </a:extLst>
          </p:cNvPr>
          <p:cNvSpPr txBox="1"/>
          <p:nvPr/>
        </p:nvSpPr>
        <p:spPr>
          <a:xfrm>
            <a:off x="180177" y="1068273"/>
            <a:ext cx="10758464" cy="1754326"/>
          </a:xfrm>
          <a:prstGeom prst="rect">
            <a:avLst/>
          </a:prstGeom>
          <a:noFill/>
        </p:spPr>
        <p:txBody>
          <a:bodyPr wrap="square">
            <a:spAutoFit/>
          </a:bodyPr>
          <a:lstStyle/>
          <a:p>
            <a:pPr marL="0" marR="0" lvl="0" indent="0" algn="l" defTabSz="914400" rtl="0" eaLnBrk="1" fontAlgn="auto" latinLnBrk="0" hangingPunct="1">
              <a:lnSpc>
                <a:spcPct val="100000"/>
              </a:lnSpc>
              <a:spcAft>
                <a:spcPts val="0"/>
              </a:spcAft>
              <a:buClrTx/>
              <a:buSzTx/>
              <a:buFontTx/>
              <a:buNone/>
              <a:tabLst/>
              <a:defRPr/>
            </a:pPr>
            <a:r>
              <a:rPr kumimoji="0" lang="en-US" altLang="en-US" b="1" i="0" u="none" strike="noStrike" kern="1200" cap="none" spc="0" normalizeH="0" baseline="0" noProof="0">
                <a:ln>
                  <a:noFill/>
                </a:ln>
                <a:solidFill>
                  <a:srgbClr val="283F5F"/>
                </a:solidFill>
                <a:effectLst/>
                <a:uLnTx/>
                <a:uFillTx/>
                <a:latin typeface="Arial" panose="020B0604020202020204" pitchFamily="34" charset="0"/>
                <a:ea typeface="+mn-ea"/>
                <a:cs typeface="Arial" panose="020B0604020202020204" pitchFamily="34" charset="0"/>
              </a:rPr>
              <a:t>Slide Area</a:t>
            </a:r>
          </a:p>
          <a:p>
            <a:pPr marL="0" marR="0" lvl="0" indent="0" algn="l" defTabSz="914400" rtl="0" eaLnBrk="1" fontAlgn="auto" latinLnBrk="0" hangingPunct="1">
              <a:lnSpc>
                <a:spcPct val="100000"/>
              </a:lnSpc>
              <a:spcAft>
                <a:spcPts val="0"/>
              </a:spcAft>
              <a:buClrTx/>
              <a:buSzTx/>
              <a:buFontTx/>
              <a:buNone/>
              <a:tabLst/>
              <a:defRPr/>
            </a:pPr>
            <a:endParaRPr kumimoji="0" lang="en-US" altLang="en-US" b="1" i="0" u="none" strike="noStrike" kern="1200" cap="none" spc="0" normalizeH="0" baseline="0" noProof="0">
              <a:ln>
                <a:noFill/>
              </a:ln>
              <a:solidFill>
                <a:srgbClr val="283F5F"/>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Aft>
                <a:spcPts val="0"/>
              </a:spcAft>
              <a:buClrTx/>
              <a:buSzTx/>
              <a:buFontTx/>
              <a:buNone/>
              <a:tabLst/>
              <a:defRPr/>
            </a:pPr>
            <a:r>
              <a:rPr kumimoji="0" lang="en-US" b="0" i="0" u="none" strike="noStrike" kern="1200" cap="none" spc="0" normalizeH="0" baseline="0" noProof="0">
                <a:ln>
                  <a:noFill/>
                </a:ln>
                <a:solidFill>
                  <a:srgbClr val="283F5F"/>
                </a:solidFill>
                <a:effectLst/>
                <a:uLnTx/>
                <a:uFillTx/>
                <a:latin typeface="Arial" panose="020B0604020202020204" pitchFamily="34" charset="0"/>
                <a:ea typeface="+mn-ea"/>
                <a:cs typeface="Arial" panose="020B0604020202020204" pitchFamily="34" charset="0"/>
              </a:rPr>
              <a:t>This section contains all the on-screen components including text, images, vectors and illustrations to be used for development. The layout, designs, look-and-feel, etc. will be </a:t>
            </a:r>
            <a:r>
              <a:rPr kumimoji="0" lang="en-GB" b="0" i="0" u="none" strike="noStrike" kern="1200" cap="none" spc="0" normalizeH="0" baseline="0" noProof="0">
                <a:ln>
                  <a:noFill/>
                </a:ln>
                <a:solidFill>
                  <a:srgbClr val="283F5F"/>
                </a:solidFill>
                <a:effectLst/>
                <a:uLnTx/>
                <a:uFillTx/>
                <a:latin typeface="Arial" panose="020B0604020202020204" pitchFamily="34" charset="0"/>
                <a:ea typeface="+mn-ea"/>
                <a:cs typeface="Arial" panose="020B0604020202020204" pitchFamily="34" charset="0"/>
              </a:rPr>
              <a:t>finalized</a:t>
            </a:r>
            <a:r>
              <a:rPr kumimoji="0" lang="en-US" b="0" i="0" u="none" strike="noStrike" kern="1200" cap="none" spc="0" normalizeH="0" baseline="0" noProof="0">
                <a:ln>
                  <a:noFill/>
                </a:ln>
                <a:solidFill>
                  <a:srgbClr val="283F5F"/>
                </a:solidFill>
                <a:effectLst/>
                <a:uLnTx/>
                <a:uFillTx/>
                <a:latin typeface="Arial" panose="020B0604020202020204" pitchFamily="34" charset="0"/>
                <a:ea typeface="+mn-ea"/>
                <a:cs typeface="Arial" panose="020B0604020202020204" pitchFamily="34" charset="0"/>
              </a:rPr>
              <a:t> during the development of the course. </a:t>
            </a:r>
          </a:p>
          <a:p>
            <a:pPr marL="0" marR="0" lvl="0" indent="0" algn="l" defTabSz="914400" rtl="0" eaLnBrk="1" fontAlgn="auto" latinLnBrk="0" hangingPunct="1">
              <a:lnSpc>
                <a:spcPct val="100000"/>
              </a:lnSpc>
              <a:spcAft>
                <a:spcPts val="0"/>
              </a:spcAft>
              <a:buClrTx/>
              <a:buSzTx/>
              <a:buFontTx/>
              <a:buNone/>
              <a:tabLst/>
              <a:defRPr/>
            </a:pPr>
            <a:endParaRPr kumimoji="0" lang="en-US" b="0" i="0" u="none" strike="noStrike" kern="1200" cap="none" spc="0" normalizeH="0" baseline="0" noProof="0">
              <a:ln>
                <a:noFill/>
              </a:ln>
              <a:solidFill>
                <a:srgbClr val="283F5F"/>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6909097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0FCBEA-712B-A905-75F1-DA47374373FF}"/>
              </a:ext>
            </a:extLst>
          </p:cNvPr>
          <p:cNvSpPr/>
          <p:nvPr/>
        </p:nvSpPr>
        <p:spPr>
          <a:xfrm>
            <a:off x="0" y="1027509"/>
            <a:ext cx="10719076" cy="4321629"/>
          </a:xfrm>
          <a:prstGeom prst="rect">
            <a:avLst/>
          </a:prstGeom>
          <a:noFill/>
          <a:ln w="9525">
            <a:noFill/>
          </a:ln>
        </p:spPr>
        <p:style>
          <a:lnRef idx="2">
            <a:schemeClr val="dk1"/>
          </a:lnRef>
          <a:fillRef idx="1">
            <a:schemeClr val="lt1"/>
          </a:fillRef>
          <a:effectRef idx="0">
            <a:schemeClr val="dk1"/>
          </a:effectRef>
          <a:fontRef idx="minor">
            <a:schemeClr val="dk1"/>
          </a:fontRef>
        </p:style>
        <p:txBody>
          <a:bodyPr lIns="229790" tIns="114897" rIns="229790" bIns="114897" anchor="t" anchorCtr="0"/>
          <a:lstStyle/>
          <a:p>
            <a:pPr marL="0" marR="0" lvl="0" indent="0" algn="l" defTabSz="914400" rtl="0" eaLnBrk="1" fontAlgn="auto" latinLnBrk="0" hangingPunct="1">
              <a:lnSpc>
                <a:spcPct val="100000"/>
              </a:lnSpc>
              <a:spcBef>
                <a:spcPct val="0"/>
              </a:spcBef>
              <a:spcAft>
                <a:spcPts val="0"/>
              </a:spcAft>
              <a:buClr>
                <a:srgbClr val="283F5F"/>
              </a:buClr>
              <a:buSzTx/>
              <a:buFontTx/>
              <a:buNone/>
              <a:tabLst/>
              <a:defRPr/>
            </a:pPr>
            <a:r>
              <a:rPr kumimoji="0" lang="en-US" sz="1800" b="0" i="0" u="none" strike="noStrike" kern="1200" cap="none" spc="0" normalizeH="0" baseline="0" noProof="0">
                <a:ln>
                  <a:noFill/>
                </a:ln>
                <a:solidFill>
                  <a:srgbClr val="283F5F"/>
                </a:solidFill>
                <a:effectLst/>
                <a:uLnTx/>
                <a:uFillTx/>
                <a:latin typeface="Proxima Nova"/>
                <a:cs typeface="Arial" panose="020B0604020202020204" pitchFamily="34" charset="0"/>
              </a:rPr>
              <a:t>Please follow these instructions when reviewing the storyboard:</a:t>
            </a:r>
          </a:p>
          <a:p>
            <a:pPr marL="0" marR="0" lvl="0" indent="0" algn="l" defTabSz="914400" rtl="0" eaLnBrk="1" fontAlgn="auto" latinLnBrk="0" hangingPunct="1">
              <a:lnSpc>
                <a:spcPct val="100000"/>
              </a:lnSpc>
              <a:spcBef>
                <a:spcPct val="0"/>
              </a:spcBef>
              <a:spcAft>
                <a:spcPts val="0"/>
              </a:spcAft>
              <a:buClr>
                <a:srgbClr val="283F5F"/>
              </a:buClr>
              <a:buSzTx/>
              <a:buFontTx/>
              <a:buNone/>
              <a:tabLst/>
              <a:defRPr/>
            </a:pPr>
            <a:endParaRPr kumimoji="0" lang="en-US" sz="1800" b="0" i="0" u="none" strike="noStrike" kern="1200" cap="none" spc="0" normalizeH="0" baseline="0" noProof="0">
              <a:ln>
                <a:noFill/>
              </a:ln>
              <a:solidFill>
                <a:srgbClr val="283F5F"/>
              </a:solidFill>
              <a:effectLst/>
              <a:uLnTx/>
              <a:uFillTx/>
              <a:latin typeface="Proxima Nova"/>
              <a:cs typeface="Arial" panose="020B0604020202020204" pitchFamily="34" charset="0"/>
            </a:endParaRPr>
          </a:p>
          <a:p>
            <a:pPr marL="310084" marR="0" lvl="1" indent="-306004" algn="l" defTabSz="914400" rtl="0" eaLnBrk="1" fontAlgn="auto" latinLnBrk="0" hangingPunct="1">
              <a:lnSpc>
                <a:spcPct val="100000"/>
              </a:lnSpc>
              <a:spcBef>
                <a:spcPct val="0"/>
              </a:spcBef>
              <a:spcAft>
                <a:spcPts val="0"/>
              </a:spcAft>
              <a:buClr>
                <a:srgbClr val="283F5F"/>
              </a:buClr>
              <a:buSzTx/>
              <a:buFont typeface="Arial" panose="020B0604020202020204" pitchFamily="34" charset="0"/>
              <a:buChar char="•"/>
              <a:tabLst/>
              <a:defRPr/>
            </a:pPr>
            <a:r>
              <a:rPr kumimoji="0" lang="en-US" sz="1800" b="0" i="0" u="none" strike="noStrike" kern="1200" cap="none" spc="0" normalizeH="0" baseline="0" noProof="0">
                <a:ln>
                  <a:noFill/>
                </a:ln>
                <a:solidFill>
                  <a:srgbClr val="283F5F"/>
                </a:solidFill>
                <a:effectLst/>
                <a:uLnTx/>
                <a:uFillTx/>
                <a:latin typeface="Proxima Nova"/>
                <a:cs typeface="Arial" panose="020B0604020202020204" pitchFamily="34" charset="0"/>
              </a:rPr>
              <a:t>Review both the slide area and notes area of each slide.</a:t>
            </a:r>
          </a:p>
          <a:p>
            <a:pPr marL="310084" marR="0" lvl="1" indent="-306004" algn="l" defTabSz="914400" rtl="0" eaLnBrk="1" fontAlgn="auto" latinLnBrk="0" hangingPunct="1">
              <a:lnSpc>
                <a:spcPct val="100000"/>
              </a:lnSpc>
              <a:spcBef>
                <a:spcPct val="0"/>
              </a:spcBef>
              <a:spcAft>
                <a:spcPts val="0"/>
              </a:spcAft>
              <a:buClr>
                <a:srgbClr val="283F5F"/>
              </a:buClr>
              <a:buSzTx/>
              <a:buFont typeface="Arial" panose="020B0604020202020204" pitchFamily="34" charset="0"/>
              <a:buChar char="•"/>
              <a:tabLst/>
              <a:defRPr/>
            </a:pPr>
            <a:r>
              <a:rPr kumimoji="0" lang="en-US" sz="1800" b="0" i="0" u="none" strike="noStrike" kern="1200" cap="none" spc="0" normalizeH="0" baseline="0" noProof="0">
                <a:ln>
                  <a:noFill/>
                </a:ln>
                <a:solidFill>
                  <a:srgbClr val="283F5F"/>
                </a:solidFill>
                <a:effectLst/>
                <a:uLnTx/>
                <a:uFillTx/>
                <a:latin typeface="Proxima Nova"/>
                <a:cs typeface="Arial" panose="020B0604020202020204" pitchFamily="34" charset="0"/>
              </a:rPr>
              <a:t>Note that the fonts, screen layouts, icon and illustration styles, animations, </a:t>
            </a:r>
            <a:r>
              <a:rPr kumimoji="0" lang="en-AU" sz="1800" b="0" i="0" u="none" strike="noStrike" kern="1200" cap="none" spc="0" normalizeH="0" baseline="0" noProof="0" err="1">
                <a:ln>
                  <a:noFill/>
                </a:ln>
                <a:solidFill>
                  <a:srgbClr val="283F5F"/>
                </a:solidFill>
                <a:effectLst/>
                <a:uLnTx/>
                <a:uFillTx/>
                <a:latin typeface="Proxima Nova"/>
                <a:cs typeface="Arial" panose="020B0604020202020204" pitchFamily="34" charset="0"/>
              </a:rPr>
              <a:t>colors</a:t>
            </a:r>
            <a:r>
              <a:rPr kumimoji="0" lang="en-US" sz="1800" b="0" i="0" u="none" strike="noStrike" kern="1200" cap="none" spc="0" normalizeH="0" baseline="0" noProof="0">
                <a:ln>
                  <a:noFill/>
                </a:ln>
                <a:solidFill>
                  <a:srgbClr val="283F5F"/>
                </a:solidFill>
                <a:effectLst/>
                <a:uLnTx/>
                <a:uFillTx/>
                <a:latin typeface="Proxima Nova"/>
                <a:cs typeface="Arial" panose="020B0604020202020204" pitchFamily="34" charset="0"/>
              </a:rPr>
              <a:t>, etc. will be finalized during development. This storyboard is just an indicator of visual elements that will appear on the screen. Please do not consider this layout as the final one.</a:t>
            </a:r>
          </a:p>
          <a:p>
            <a:pPr marL="310084" marR="0" lvl="1" indent="-306004" algn="l" defTabSz="914400" rtl="0" eaLnBrk="1" fontAlgn="auto" latinLnBrk="0" hangingPunct="1">
              <a:lnSpc>
                <a:spcPct val="100000"/>
              </a:lnSpc>
              <a:spcBef>
                <a:spcPct val="0"/>
              </a:spcBef>
              <a:spcAft>
                <a:spcPts val="0"/>
              </a:spcAft>
              <a:buClr>
                <a:srgbClr val="283F5F"/>
              </a:buClr>
              <a:buSzTx/>
              <a:buFont typeface="Arial" panose="020B0604020202020204" pitchFamily="34" charset="0"/>
              <a:buChar char="•"/>
              <a:tabLst/>
              <a:defRPr/>
            </a:pPr>
            <a:r>
              <a:rPr kumimoji="0" lang="en-US" sz="1800" b="0" i="0" u="none" strike="noStrike" kern="1200" cap="none" spc="0" normalizeH="0" baseline="0" noProof="0">
                <a:ln>
                  <a:noFill/>
                </a:ln>
                <a:solidFill>
                  <a:srgbClr val="283F5F"/>
                </a:solidFill>
                <a:effectLst/>
                <a:uLnTx/>
                <a:uFillTx/>
                <a:latin typeface="Proxima Nova"/>
                <a:cs typeface="Arial" panose="020B0604020202020204" pitchFamily="34" charset="0"/>
              </a:rPr>
              <a:t>You can suggest any edits by inserting a new comment at the relevant place (see below).</a:t>
            </a:r>
          </a:p>
          <a:p>
            <a:pPr marL="310084" marR="0" lvl="1" indent="-306004" algn="l" defTabSz="914400" rtl="0" eaLnBrk="1" fontAlgn="auto" latinLnBrk="0" hangingPunct="1">
              <a:lnSpc>
                <a:spcPct val="100000"/>
              </a:lnSpc>
              <a:spcBef>
                <a:spcPct val="0"/>
              </a:spcBef>
              <a:spcAft>
                <a:spcPts val="0"/>
              </a:spcAft>
              <a:buClr>
                <a:srgbClr val="283F5F"/>
              </a:buClr>
              <a:buSzTx/>
              <a:buFont typeface="Arial" panose="020B0604020202020204" pitchFamily="34" charset="0"/>
              <a:buChar char="•"/>
              <a:tabLst/>
              <a:defRPr/>
            </a:pPr>
            <a:r>
              <a:rPr kumimoji="0" lang="en-US" sz="1800" b="0" i="0" u="none" strike="noStrike" kern="1200" cap="none" spc="0" normalizeH="0" baseline="0" noProof="0">
                <a:ln>
                  <a:noFill/>
                </a:ln>
                <a:solidFill>
                  <a:srgbClr val="283F5F"/>
                </a:solidFill>
                <a:effectLst/>
                <a:uLnTx/>
                <a:uFillTx/>
                <a:latin typeface="Proxima Nova"/>
                <a:cs typeface="Arial" panose="020B0604020202020204" pitchFamily="34" charset="0"/>
              </a:rPr>
              <a:t>If you are making any edits directly on the slide, please use a </a:t>
            </a:r>
            <a:r>
              <a:rPr kumimoji="0" lang="en-US" sz="1800" b="1" i="0" u="none" strike="noStrike" kern="1200" cap="none" spc="0" normalizeH="0" baseline="0" noProof="0">
                <a:ln>
                  <a:noFill/>
                </a:ln>
                <a:solidFill>
                  <a:srgbClr val="FF0000"/>
                </a:solidFill>
                <a:effectLst/>
                <a:uLnTx/>
                <a:uFillTx/>
                <a:latin typeface="Proxima Nova"/>
                <a:cs typeface="Arial" panose="020B0604020202020204" pitchFamily="34" charset="0"/>
              </a:rPr>
              <a:t>bold red </a:t>
            </a:r>
            <a:r>
              <a:rPr kumimoji="0" lang="en-US" sz="1800" b="0" i="0" u="none" strike="noStrike" kern="1200" cap="none" spc="0" normalizeH="0" baseline="0" noProof="0">
                <a:ln>
                  <a:noFill/>
                </a:ln>
                <a:solidFill>
                  <a:srgbClr val="283F5F"/>
                </a:solidFill>
                <a:effectLst/>
                <a:uLnTx/>
                <a:uFillTx/>
                <a:latin typeface="Proxima Nova"/>
                <a:cs typeface="Arial" panose="020B0604020202020204" pitchFamily="34" charset="0"/>
              </a:rPr>
              <a:t>font.</a:t>
            </a:r>
          </a:p>
          <a:p>
            <a:pPr marL="310084" marR="0" lvl="1" indent="-306004" algn="l" defTabSz="914400" rtl="0" eaLnBrk="1" fontAlgn="auto" latinLnBrk="0" hangingPunct="1">
              <a:lnSpc>
                <a:spcPct val="100000"/>
              </a:lnSpc>
              <a:spcBef>
                <a:spcPct val="0"/>
              </a:spcBef>
              <a:spcAft>
                <a:spcPts val="0"/>
              </a:spcAft>
              <a:buClr>
                <a:srgbClr val="283F5F"/>
              </a:buClr>
              <a:buSzTx/>
              <a:buFont typeface="Arial" panose="020B0604020202020204" pitchFamily="34" charset="0"/>
              <a:buChar char="•"/>
              <a:tabLst/>
              <a:defRPr/>
            </a:pPr>
            <a:r>
              <a:rPr kumimoji="0" lang="en-US" sz="1800" b="0" i="0" u="none" strike="noStrike" kern="1200" cap="none" spc="0" normalizeH="0" baseline="0" noProof="0">
                <a:ln>
                  <a:noFill/>
                </a:ln>
                <a:solidFill>
                  <a:srgbClr val="283F5F"/>
                </a:solidFill>
                <a:effectLst/>
                <a:uLnTx/>
                <a:uFillTx/>
                <a:latin typeface="Proxima Nova"/>
                <a:cs typeface="Arial" panose="020B0604020202020204" pitchFamily="34" charset="0"/>
              </a:rPr>
              <a:t>Throughout the document, there may be </a:t>
            </a:r>
            <a:r>
              <a:rPr kumimoji="0" lang="en-IN" sz="1800" b="1" i="0" u="none" strike="noStrike" kern="1200" cap="none" spc="0" normalizeH="0" baseline="0" noProof="0">
                <a:ln>
                  <a:noFill/>
                </a:ln>
                <a:solidFill>
                  <a:srgbClr val="283F5F"/>
                </a:solidFill>
                <a:effectLst/>
                <a:uLnTx/>
                <a:uFillTx/>
                <a:latin typeface="Proxima Nova"/>
                <a:cs typeface="Arial" panose="020B0604020202020204" pitchFamily="34" charset="0"/>
              </a:rPr>
              <a:t>Notes to Reviewers</a:t>
            </a:r>
            <a:r>
              <a:rPr kumimoji="0" lang="en-IN" sz="1800" b="0" i="0" u="none" strike="noStrike" kern="1200" cap="none" spc="0" normalizeH="0" baseline="0" noProof="0">
                <a:ln>
                  <a:noFill/>
                </a:ln>
                <a:solidFill>
                  <a:srgbClr val="283F5F"/>
                </a:solidFill>
                <a:effectLst/>
                <a:uLnTx/>
                <a:uFillTx/>
                <a:latin typeface="Proxima Nova"/>
                <a:cs typeface="Arial" panose="020B0604020202020204" pitchFamily="34" charset="0"/>
              </a:rPr>
              <a:t> </a:t>
            </a:r>
            <a:r>
              <a:rPr kumimoji="0" lang="en-US" sz="1800" b="0" i="0" u="none" strike="noStrike" kern="1200" cap="none" spc="0" normalizeH="0" baseline="0" noProof="0">
                <a:ln>
                  <a:noFill/>
                </a:ln>
                <a:solidFill>
                  <a:srgbClr val="283F5F"/>
                </a:solidFill>
                <a:effectLst/>
                <a:uLnTx/>
                <a:uFillTx/>
                <a:latin typeface="Proxima Nova"/>
                <a:cs typeface="Arial" panose="020B0604020202020204" pitchFamily="34" charset="0"/>
              </a:rPr>
              <a:t>placed in the </a:t>
            </a:r>
            <a:r>
              <a:rPr kumimoji="0" lang="en-US" sz="1800" b="1" i="0" u="none" strike="noStrike" kern="1200" cap="none" spc="0" normalizeH="0" baseline="0" noProof="0">
                <a:ln>
                  <a:noFill/>
                </a:ln>
                <a:solidFill>
                  <a:srgbClr val="283F5F"/>
                </a:solidFill>
                <a:effectLst/>
                <a:uLnTx/>
                <a:uFillTx/>
                <a:latin typeface="Proxima Nova"/>
                <a:cs typeface="Arial" panose="020B0604020202020204" pitchFamily="34" charset="0"/>
              </a:rPr>
              <a:t>Notes</a:t>
            </a:r>
            <a:r>
              <a:rPr kumimoji="0" lang="en-US" sz="1800" b="0" i="0" u="none" strike="noStrike" kern="1200" cap="none" spc="0" normalizeH="0" baseline="0" noProof="0">
                <a:ln>
                  <a:noFill/>
                </a:ln>
                <a:solidFill>
                  <a:srgbClr val="283F5F"/>
                </a:solidFill>
                <a:effectLst/>
                <a:uLnTx/>
                <a:uFillTx/>
                <a:latin typeface="Proxima Nova"/>
                <a:cs typeface="Arial" panose="020B0604020202020204" pitchFamily="34" charset="0"/>
              </a:rPr>
              <a:t> section. It reflects either a question, a gap in content, or outstanding items. You can include your response next to the note.</a:t>
            </a:r>
          </a:p>
        </p:txBody>
      </p:sp>
      <p:pic>
        <p:nvPicPr>
          <p:cNvPr id="5" name="Picture 4">
            <a:extLst>
              <a:ext uri="{FF2B5EF4-FFF2-40B4-BE49-F238E27FC236}">
                <a16:creationId xmlns:a16="http://schemas.microsoft.com/office/drawing/2014/main" id="{3B5929FE-8F63-A5E6-4484-5F23EBFEB334}"/>
              </a:ext>
            </a:extLst>
          </p:cNvPr>
          <p:cNvPicPr>
            <a:picLocks noChangeAspect="1"/>
          </p:cNvPicPr>
          <p:nvPr/>
        </p:nvPicPr>
        <p:blipFill rotWithShape="1">
          <a:blip r:embed="rId3"/>
          <a:srcRect t="15381"/>
          <a:stretch/>
        </p:blipFill>
        <p:spPr>
          <a:xfrm>
            <a:off x="923483" y="5025097"/>
            <a:ext cx="10100913" cy="1295213"/>
          </a:xfrm>
          <a:prstGeom prst="rect">
            <a:avLst/>
          </a:prstGeom>
        </p:spPr>
      </p:pic>
      <p:sp>
        <p:nvSpPr>
          <p:cNvPr id="2" name="Title 1">
            <a:extLst>
              <a:ext uri="{FF2B5EF4-FFF2-40B4-BE49-F238E27FC236}">
                <a16:creationId xmlns:a16="http://schemas.microsoft.com/office/drawing/2014/main" id="{EBD5B7B8-0DF2-079E-2CB0-0988395B642D}"/>
              </a:ext>
            </a:extLst>
          </p:cNvPr>
          <p:cNvSpPr>
            <a:spLocks noGrp="1"/>
          </p:cNvSpPr>
          <p:nvPr>
            <p:ph type="title"/>
          </p:nvPr>
        </p:nvSpPr>
        <p:spPr/>
        <p:txBody>
          <a:bodyPr/>
          <a:lstStyle/>
          <a:p>
            <a:r>
              <a:rPr lang="en-US"/>
              <a:t>Notes to the Reviewers</a:t>
            </a:r>
          </a:p>
        </p:txBody>
      </p:sp>
    </p:spTree>
    <p:extLst>
      <p:ext uri="{BB962C8B-B14F-4D97-AF65-F5344CB8AC3E}">
        <p14:creationId xmlns:p14="http://schemas.microsoft.com/office/powerpoint/2010/main" val="31243177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AC359EE-23FE-F420-A190-11069AEA9037}"/>
              </a:ext>
            </a:extLst>
          </p:cNvPr>
          <p:cNvSpPr txBox="1">
            <a:spLocks/>
          </p:cNvSpPr>
          <p:nvPr/>
        </p:nvSpPr>
        <p:spPr>
          <a:xfrm>
            <a:off x="2591129" y="3170373"/>
            <a:ext cx="7009743" cy="1187450"/>
          </a:xfrm>
          <a:prstGeom prst="rect">
            <a:avLst/>
          </a:prstGeom>
        </p:spPr>
        <p:txBody>
          <a:bodyPr vert="horz" lIns="108841" tIns="54421" rIns="108841" bIns="54421" rtlCol="0" anchor="ctr">
            <a:normAutofit/>
          </a:bodyPr>
          <a:lstStyle>
            <a:lvl1pPr algn="l" defTabSz="609813" rtl="0" eaLnBrk="1" latinLnBrk="0" hangingPunct="1">
              <a:spcBef>
                <a:spcPct val="0"/>
              </a:spcBef>
              <a:buNone/>
              <a:defRPr sz="1000" kern="1200">
                <a:solidFill>
                  <a:srgbClr val="148B89"/>
                </a:solidFill>
                <a:latin typeface="Gotham Medium" panose="02000603030000020004" pitchFamily="2" charset="0"/>
                <a:ea typeface="+mj-ea"/>
                <a:cs typeface="Arial" panose="020B0604020202020204" pitchFamily="34" charset="0"/>
              </a:defRPr>
            </a:lvl1pPr>
          </a:lstStyle>
          <a:p>
            <a:pPr algn="ctr">
              <a:defRPr/>
            </a:pPr>
            <a:r>
              <a:rPr lang="en-US" sz="2400" b="1">
                <a:solidFill>
                  <a:srgbClr val="283F5F"/>
                </a:solidFill>
                <a:latin typeface="Proxima Nova"/>
              </a:rPr>
              <a:t>The storyboard begins from the next slide.</a:t>
            </a:r>
          </a:p>
        </p:txBody>
      </p:sp>
    </p:spTree>
    <p:extLst>
      <p:ext uri="{BB962C8B-B14F-4D97-AF65-F5344CB8AC3E}">
        <p14:creationId xmlns:p14="http://schemas.microsoft.com/office/powerpoint/2010/main" val="10256589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1513068C-AF92-E882-A1C6-ED400D3B29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0080" b="10080"/>
          <a:stretch/>
        </p:blipFill>
        <p:spPr bwMode="auto">
          <a:xfrm>
            <a:off x="0" y="731955"/>
            <a:ext cx="12192000" cy="612604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Rounded Corners 2">
            <a:extLst>
              <a:ext uri="{FF2B5EF4-FFF2-40B4-BE49-F238E27FC236}">
                <a16:creationId xmlns:a16="http://schemas.microsoft.com/office/drawing/2014/main" id="{91F11720-C0DF-150C-5519-CC5F864670A6}"/>
              </a:ext>
            </a:extLst>
          </p:cNvPr>
          <p:cNvSpPr/>
          <p:nvPr/>
        </p:nvSpPr>
        <p:spPr>
          <a:xfrm>
            <a:off x="9961678" y="5155217"/>
            <a:ext cx="1906038" cy="481132"/>
          </a:xfrm>
          <a:prstGeom prst="roundRect">
            <a:avLst>
              <a:gd name="adj" fmla="val 500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Start Course</a:t>
            </a:r>
            <a:endParaRPr lang="en-UG" b="1" dirty="0">
              <a:solidFill>
                <a:schemeClr val="tx1"/>
              </a:solidFill>
            </a:endParaRPr>
          </a:p>
        </p:txBody>
      </p:sp>
      <p:sp>
        <p:nvSpPr>
          <p:cNvPr id="9" name="Text Placeholder 8">
            <a:extLst>
              <a:ext uri="{FF2B5EF4-FFF2-40B4-BE49-F238E27FC236}">
                <a16:creationId xmlns:a16="http://schemas.microsoft.com/office/drawing/2014/main" id="{27DEDF1B-75DF-EE6E-90E4-83B063849772}"/>
              </a:ext>
            </a:extLst>
          </p:cNvPr>
          <p:cNvSpPr>
            <a:spLocks noGrp="1"/>
          </p:cNvSpPr>
          <p:nvPr>
            <p:ph type="body" sz="quarter" idx="10"/>
          </p:nvPr>
        </p:nvSpPr>
        <p:spPr>
          <a:xfrm>
            <a:off x="7983940" y="3429000"/>
            <a:ext cx="3905534" cy="1570392"/>
          </a:xfrm>
          <a:solidFill>
            <a:schemeClr val="bg1">
              <a:alpha val="62000"/>
            </a:schemeClr>
          </a:solidFill>
        </p:spPr>
        <p:txBody>
          <a:bodyPr/>
          <a:lstStyle/>
          <a:p>
            <a:pPr algn="l"/>
            <a:r>
              <a:rPr lang="en-US" sz="2800" dirty="0">
                <a:latin typeface="+mj-lt"/>
                <a:cs typeface="Arial" panose="020B0604020202020204" pitchFamily="34" charset="0"/>
              </a:rPr>
              <a:t>Anti-Money Laundering</a:t>
            </a:r>
            <a:endParaRPr lang="en-US" sz="2800" dirty="0">
              <a:latin typeface="+mj-lt"/>
            </a:endParaRPr>
          </a:p>
        </p:txBody>
      </p:sp>
      <p:sp>
        <p:nvSpPr>
          <p:cNvPr id="2" name="Rectangle 1">
            <a:extLst>
              <a:ext uri="{FF2B5EF4-FFF2-40B4-BE49-F238E27FC236}">
                <a16:creationId xmlns:a16="http://schemas.microsoft.com/office/drawing/2014/main" id="{6E85B680-9B5B-B23F-D8EE-5F7E607EF0E7}"/>
              </a:ext>
            </a:extLst>
          </p:cNvPr>
          <p:cNvSpPr/>
          <p:nvPr/>
        </p:nvSpPr>
        <p:spPr>
          <a:xfrm>
            <a:off x="7983940" y="2948683"/>
            <a:ext cx="3883776" cy="4803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5" name="TextBox 4">
            <a:extLst>
              <a:ext uri="{FF2B5EF4-FFF2-40B4-BE49-F238E27FC236}">
                <a16:creationId xmlns:a16="http://schemas.microsoft.com/office/drawing/2014/main" id="{E9639A79-5907-4903-A07A-5D8E604C683D}"/>
              </a:ext>
            </a:extLst>
          </p:cNvPr>
          <p:cNvSpPr txBox="1"/>
          <p:nvPr/>
        </p:nvSpPr>
        <p:spPr>
          <a:xfrm>
            <a:off x="8805862" y="3004175"/>
            <a:ext cx="2485593" cy="400110"/>
          </a:xfrm>
          <a:prstGeom prst="rect">
            <a:avLst/>
          </a:prstGeom>
          <a:noFill/>
        </p:spPr>
        <p:txBody>
          <a:bodyPr wrap="square">
            <a:spAutoFit/>
          </a:bodyPr>
          <a:lstStyle/>
          <a:p>
            <a:r>
              <a:rPr lang="en-UG" sz="2000" b="1" dirty="0">
                <a:solidFill>
                  <a:schemeClr val="bg1"/>
                </a:solidFill>
              </a:rPr>
              <a:t>GlobalFin Corp</a:t>
            </a:r>
            <a:r>
              <a:rPr lang="en-US" sz="2000" b="1" dirty="0">
                <a:solidFill>
                  <a:schemeClr val="bg1"/>
                </a:solidFill>
              </a:rPr>
              <a:t>.</a:t>
            </a:r>
            <a:endParaRPr lang="en-UG" sz="2000" b="1" dirty="0">
              <a:solidFill>
                <a:schemeClr val="bg1"/>
              </a:solidFill>
            </a:endParaRPr>
          </a:p>
        </p:txBody>
      </p:sp>
    </p:spTree>
    <p:extLst>
      <p:ext uri="{BB962C8B-B14F-4D97-AF65-F5344CB8AC3E}">
        <p14:creationId xmlns:p14="http://schemas.microsoft.com/office/powerpoint/2010/main" val="39473639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appy elementary school teacher using touchpad in the classroom and looking at camera. Her students are learning in the background.">
            <a:extLst>
              <a:ext uri="{FF2B5EF4-FFF2-40B4-BE49-F238E27FC236}">
                <a16:creationId xmlns:a16="http://schemas.microsoft.com/office/drawing/2014/main" id="{A86BE8B4-8EB7-46D8-0EC1-CE7C0E2746A1}"/>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b="27381"/>
          <a:stretch>
            <a:fillRect/>
          </a:stretch>
        </p:blipFill>
        <p:spPr bwMode="auto">
          <a:xfrm>
            <a:off x="265500" y="606447"/>
            <a:ext cx="11667747" cy="621345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3A638FC0-CC54-CD30-ED89-E934C9CA6DCA}"/>
              </a:ext>
            </a:extLst>
          </p:cNvPr>
          <p:cNvSpPr/>
          <p:nvPr/>
        </p:nvSpPr>
        <p:spPr>
          <a:xfrm>
            <a:off x="258753" y="597040"/>
            <a:ext cx="1093822" cy="140691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03AC2335-6206-3595-F63F-EF63D55170C3}"/>
              </a:ext>
            </a:extLst>
          </p:cNvPr>
          <p:cNvSpPr/>
          <p:nvPr/>
        </p:nvSpPr>
        <p:spPr>
          <a:xfrm>
            <a:off x="1425272" y="597039"/>
            <a:ext cx="2232117" cy="1409627"/>
          </a:xfrm>
          <a:prstGeom prst="rect">
            <a:avLst/>
          </a:prstGeom>
          <a:solidFill>
            <a:srgbClr val="72767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43AC221-0D0A-0A67-70DD-343F63EF9DDD}"/>
              </a:ext>
            </a:extLst>
          </p:cNvPr>
          <p:cNvSpPr/>
          <p:nvPr/>
        </p:nvSpPr>
        <p:spPr>
          <a:xfrm>
            <a:off x="3730085" y="606447"/>
            <a:ext cx="8196415" cy="1409628"/>
          </a:xfrm>
          <a:prstGeom prst="rect">
            <a:avLst/>
          </a:prstGeom>
          <a:solidFill>
            <a:srgbClr val="00B4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C5CA41E-CC2E-D156-5BAB-01C82C877442}"/>
              </a:ext>
            </a:extLst>
          </p:cNvPr>
          <p:cNvSpPr txBox="1"/>
          <p:nvPr/>
        </p:nvSpPr>
        <p:spPr>
          <a:xfrm>
            <a:off x="191060" y="1112117"/>
            <a:ext cx="122480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solidFill>
                  <a:schemeClr val="bg1"/>
                </a:solidFill>
              </a:rPr>
              <a:t>Scenario 1</a:t>
            </a:r>
          </a:p>
        </p:txBody>
      </p:sp>
      <p:sp>
        <p:nvSpPr>
          <p:cNvPr id="8" name="TextBox 7">
            <a:extLst>
              <a:ext uri="{FF2B5EF4-FFF2-40B4-BE49-F238E27FC236}">
                <a16:creationId xmlns:a16="http://schemas.microsoft.com/office/drawing/2014/main" id="{E5A916B9-B425-7494-D7A8-E5681CC38037}"/>
              </a:ext>
            </a:extLst>
          </p:cNvPr>
          <p:cNvSpPr txBox="1"/>
          <p:nvPr/>
        </p:nvSpPr>
        <p:spPr>
          <a:xfrm>
            <a:off x="1460194" y="987414"/>
            <a:ext cx="219025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kern="0" dirty="0">
                <a:solidFill>
                  <a:schemeClr val="bg1"/>
                </a:solidFill>
                <a:effectLst/>
                <a:latin typeface="+mj-lt"/>
                <a:ea typeface="Yu Mincho" panose="02020400000000000000" pitchFamily="18" charset="-128"/>
                <a:cs typeface="Arial" panose="020B0604020202020204" pitchFamily="34" charset="0"/>
              </a:rPr>
              <a:t>The Inconsistent Profile</a:t>
            </a:r>
            <a:endParaRPr lang="en-US" sz="1600" dirty="0">
              <a:solidFill>
                <a:schemeClr val="bg1"/>
              </a:solidFill>
              <a:latin typeface="+mj-lt"/>
            </a:endParaRPr>
          </a:p>
        </p:txBody>
      </p:sp>
      <p:sp>
        <p:nvSpPr>
          <p:cNvPr id="10" name="TextBox 9">
            <a:extLst>
              <a:ext uri="{FF2B5EF4-FFF2-40B4-BE49-F238E27FC236}">
                <a16:creationId xmlns:a16="http://schemas.microsoft.com/office/drawing/2014/main" id="{732078C3-E423-451B-E867-498581C2BA79}"/>
              </a:ext>
            </a:extLst>
          </p:cNvPr>
          <p:cNvSpPr txBox="1"/>
          <p:nvPr/>
        </p:nvSpPr>
        <p:spPr>
          <a:xfrm>
            <a:off x="3889356" y="819729"/>
            <a:ext cx="716468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Learning Objective: </a:t>
            </a:r>
            <a:r>
              <a:rPr lang="en-US" dirty="0"/>
              <a:t>Recognize when customer profile and transaction activity don't align</a:t>
            </a:r>
          </a:p>
          <a:p>
            <a:r>
              <a:rPr lang="en-US" b="1" dirty="0"/>
              <a:t>Estimated Time: </a:t>
            </a:r>
            <a:r>
              <a:rPr lang="en-US" dirty="0"/>
              <a:t>3-4 minutes</a:t>
            </a:r>
          </a:p>
        </p:txBody>
      </p:sp>
      <p:sp>
        <p:nvSpPr>
          <p:cNvPr id="24" name="Rectangle 23">
            <a:extLst>
              <a:ext uri="{FF2B5EF4-FFF2-40B4-BE49-F238E27FC236}">
                <a16:creationId xmlns:a16="http://schemas.microsoft.com/office/drawing/2014/main" id="{0CFB7FEE-37B1-6F9B-D6AE-89F574C8B315}"/>
              </a:ext>
            </a:extLst>
          </p:cNvPr>
          <p:cNvSpPr/>
          <p:nvPr/>
        </p:nvSpPr>
        <p:spPr>
          <a:xfrm>
            <a:off x="258753" y="5874595"/>
            <a:ext cx="11680446" cy="41510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74F1BED4-47BB-B027-36A4-76127DCCFE70}"/>
              </a:ext>
            </a:extLst>
          </p:cNvPr>
          <p:cNvSpPr txBox="1"/>
          <p:nvPr/>
        </p:nvSpPr>
        <p:spPr>
          <a:xfrm>
            <a:off x="295952" y="5907672"/>
            <a:ext cx="492374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dirty="0">
                <a:solidFill>
                  <a:schemeClr val="bg1"/>
                </a:solidFill>
              </a:rPr>
              <a:t>Select the Launch button to begin.</a:t>
            </a:r>
          </a:p>
        </p:txBody>
      </p:sp>
      <p:sp>
        <p:nvSpPr>
          <p:cNvPr id="2" name="Rectangle: Rounded Corners 1">
            <a:extLst>
              <a:ext uri="{FF2B5EF4-FFF2-40B4-BE49-F238E27FC236}">
                <a16:creationId xmlns:a16="http://schemas.microsoft.com/office/drawing/2014/main" id="{8EA65866-FF48-3638-0071-0CC678EB3B28}"/>
              </a:ext>
            </a:extLst>
          </p:cNvPr>
          <p:cNvSpPr/>
          <p:nvPr/>
        </p:nvSpPr>
        <p:spPr>
          <a:xfrm>
            <a:off x="9867844" y="5920372"/>
            <a:ext cx="1186192" cy="369332"/>
          </a:xfrm>
          <a:prstGeom prst="roundRect">
            <a:avLst>
              <a:gd name="adj" fmla="val 40738"/>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Launch</a:t>
            </a:r>
          </a:p>
        </p:txBody>
      </p:sp>
    </p:spTree>
    <p:extLst>
      <p:ext uri="{BB962C8B-B14F-4D97-AF65-F5344CB8AC3E}">
        <p14:creationId xmlns:p14="http://schemas.microsoft.com/office/powerpoint/2010/main" val="1267268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B12A507B-6493-8943-72E7-E4232732A873}"/>
              </a:ext>
            </a:extLst>
          </p:cNvPr>
          <p:cNvSpPr/>
          <p:nvPr/>
        </p:nvSpPr>
        <p:spPr>
          <a:xfrm>
            <a:off x="5651444" y="5788988"/>
            <a:ext cx="1765356" cy="375537"/>
          </a:xfrm>
          <a:prstGeom prst="roundRect">
            <a:avLst>
              <a:gd name="adj" fmla="val 40738"/>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Transaction</a:t>
            </a:r>
          </a:p>
        </p:txBody>
      </p:sp>
      <p:sp>
        <p:nvSpPr>
          <p:cNvPr id="23" name="TextBox 22">
            <a:extLst>
              <a:ext uri="{FF2B5EF4-FFF2-40B4-BE49-F238E27FC236}">
                <a16:creationId xmlns:a16="http://schemas.microsoft.com/office/drawing/2014/main" id="{983AE181-84C0-D440-4F98-D3ACB0159B08}"/>
              </a:ext>
            </a:extLst>
          </p:cNvPr>
          <p:cNvSpPr txBox="1"/>
          <p:nvPr/>
        </p:nvSpPr>
        <p:spPr>
          <a:xfrm>
            <a:off x="381000" y="5651422"/>
            <a:ext cx="492374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dirty="0">
                <a:solidFill>
                  <a:schemeClr val="accent1"/>
                </a:solidFill>
              </a:rPr>
              <a:t>Select the button to see the transaction request from Maria.</a:t>
            </a:r>
          </a:p>
        </p:txBody>
      </p:sp>
      <p:sp>
        <p:nvSpPr>
          <p:cNvPr id="24" name="Rectangle: Rounded Corners 23">
            <a:extLst>
              <a:ext uri="{FF2B5EF4-FFF2-40B4-BE49-F238E27FC236}">
                <a16:creationId xmlns:a16="http://schemas.microsoft.com/office/drawing/2014/main" id="{8105EE33-D4EA-F66E-FE0F-E774EEBD2CA4}"/>
              </a:ext>
            </a:extLst>
          </p:cNvPr>
          <p:cNvSpPr/>
          <p:nvPr/>
        </p:nvSpPr>
        <p:spPr>
          <a:xfrm>
            <a:off x="381000" y="1270001"/>
            <a:ext cx="7035800" cy="4066430"/>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25" name="Text Placeholder 8">
            <a:extLst>
              <a:ext uri="{FF2B5EF4-FFF2-40B4-BE49-F238E27FC236}">
                <a16:creationId xmlns:a16="http://schemas.microsoft.com/office/drawing/2014/main" id="{171723AE-ABDE-1FC4-B83E-C57321A6522D}"/>
              </a:ext>
            </a:extLst>
          </p:cNvPr>
          <p:cNvSpPr txBox="1">
            <a:spLocks/>
          </p:cNvSpPr>
          <p:nvPr/>
        </p:nvSpPr>
        <p:spPr>
          <a:xfrm>
            <a:off x="714804" y="1405524"/>
            <a:ext cx="5197475" cy="423862"/>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a:solidFill>
                  <a:schemeClr val="accent1"/>
                </a:solidFill>
                <a:latin typeface="+mj-lt"/>
                <a:cs typeface="Arial"/>
              </a:rPr>
              <a:t>Customer Profile</a:t>
            </a:r>
            <a:endParaRPr lang="en-US" sz="2000" b="1" dirty="0">
              <a:solidFill>
                <a:schemeClr val="accent1"/>
              </a:solidFill>
              <a:latin typeface="+mj-lt"/>
              <a:cs typeface="Arial"/>
            </a:endParaRPr>
          </a:p>
        </p:txBody>
      </p:sp>
      <p:sp>
        <p:nvSpPr>
          <p:cNvPr id="27" name="TextBox 26">
            <a:extLst>
              <a:ext uri="{FF2B5EF4-FFF2-40B4-BE49-F238E27FC236}">
                <a16:creationId xmlns:a16="http://schemas.microsoft.com/office/drawing/2014/main" id="{1A99E50A-9E5E-BA22-EAFD-B6F07E763137}"/>
              </a:ext>
            </a:extLst>
          </p:cNvPr>
          <p:cNvSpPr txBox="1"/>
          <p:nvPr/>
        </p:nvSpPr>
        <p:spPr>
          <a:xfrm>
            <a:off x="3083750" y="1901669"/>
            <a:ext cx="3947121" cy="707886"/>
          </a:xfrm>
          <a:prstGeom prst="rect">
            <a:avLst/>
          </a:prstGeom>
          <a:noFill/>
        </p:spPr>
        <p:txBody>
          <a:bodyPr wrap="square" lIns="91440" tIns="45720" rIns="91440" bIns="45720" anchor="t">
            <a:spAutoFit/>
          </a:bodyPr>
          <a:lstStyle/>
          <a:p>
            <a:r>
              <a:rPr lang="en-US" sz="2000" b="1" dirty="0">
                <a:solidFill>
                  <a:schemeClr val="accent2"/>
                </a:solidFill>
              </a:rPr>
              <a:t>Maria Santos</a:t>
            </a:r>
          </a:p>
          <a:p>
            <a:r>
              <a:rPr lang="en-US" sz="2000" dirty="0"/>
              <a:t>Elementary School Teacher</a:t>
            </a:r>
          </a:p>
        </p:txBody>
      </p:sp>
      <p:grpSp>
        <p:nvGrpSpPr>
          <p:cNvPr id="28" name="Group 27">
            <a:extLst>
              <a:ext uri="{FF2B5EF4-FFF2-40B4-BE49-F238E27FC236}">
                <a16:creationId xmlns:a16="http://schemas.microsoft.com/office/drawing/2014/main" id="{A41CA10F-189F-326C-704E-60116A325D6A}"/>
              </a:ext>
            </a:extLst>
          </p:cNvPr>
          <p:cNvGrpSpPr/>
          <p:nvPr/>
        </p:nvGrpSpPr>
        <p:grpSpPr>
          <a:xfrm>
            <a:off x="553442" y="1901669"/>
            <a:ext cx="2240558" cy="2416331"/>
            <a:chOff x="1036042" y="1901669"/>
            <a:chExt cx="2240558" cy="2416331"/>
          </a:xfrm>
        </p:grpSpPr>
        <p:sp>
          <p:nvSpPr>
            <p:cNvPr id="29" name="Rectangle: Rounded Corners 28">
              <a:extLst>
                <a:ext uri="{FF2B5EF4-FFF2-40B4-BE49-F238E27FC236}">
                  <a16:creationId xmlns:a16="http://schemas.microsoft.com/office/drawing/2014/main" id="{CE9BA34F-1059-778D-981B-14AC2450D389}"/>
                </a:ext>
              </a:extLst>
            </p:cNvPr>
            <p:cNvSpPr/>
            <p:nvPr/>
          </p:nvSpPr>
          <p:spPr>
            <a:xfrm>
              <a:off x="1036042" y="1901669"/>
              <a:ext cx="2240558" cy="24163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pic>
          <p:nvPicPr>
            <p:cNvPr id="30" name="Picture 2" descr="Happy primary school teacher standing in the classroom and looking at camera.">
              <a:extLst>
                <a:ext uri="{FF2B5EF4-FFF2-40B4-BE49-F238E27FC236}">
                  <a16:creationId xmlns:a16="http://schemas.microsoft.com/office/drawing/2014/main" id="{9E8EBAF5-2A7F-46C1-FF0B-5780270C7EF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6394" r="8029" b="23022"/>
            <a:stretch>
              <a:fillRect/>
            </a:stretch>
          </p:blipFill>
          <p:spPr bwMode="auto">
            <a:xfrm>
              <a:off x="1197404" y="2116059"/>
              <a:ext cx="1948655" cy="1979281"/>
            </a:xfrm>
            <a:prstGeom prst="roundRect">
              <a:avLst/>
            </a:prstGeom>
            <a:noFill/>
            <a:extLst>
              <a:ext uri="{909E8E84-426E-40DD-AFC4-6F175D3DCCD1}">
                <a14:hiddenFill xmlns:a14="http://schemas.microsoft.com/office/drawing/2010/main">
                  <a:solidFill>
                    <a:srgbClr val="FFFFFF"/>
                  </a:solidFill>
                </a14:hiddenFill>
              </a:ext>
            </a:extLst>
          </p:spPr>
        </p:pic>
      </p:grpSp>
      <p:sp>
        <p:nvSpPr>
          <p:cNvPr id="31" name="TextBox 30">
            <a:extLst>
              <a:ext uri="{FF2B5EF4-FFF2-40B4-BE49-F238E27FC236}">
                <a16:creationId xmlns:a16="http://schemas.microsoft.com/office/drawing/2014/main" id="{552EB73A-9DE6-F150-C4E9-C4B66CBF87D2}"/>
              </a:ext>
            </a:extLst>
          </p:cNvPr>
          <p:cNvSpPr txBox="1"/>
          <p:nvPr/>
        </p:nvSpPr>
        <p:spPr>
          <a:xfrm>
            <a:off x="3083750" y="3105700"/>
            <a:ext cx="4142550" cy="1077218"/>
          </a:xfrm>
          <a:prstGeom prst="rect">
            <a:avLst/>
          </a:prstGeom>
          <a:noFill/>
        </p:spPr>
        <p:txBody>
          <a:bodyPr wrap="square">
            <a:spAutoFit/>
          </a:bodyPr>
          <a:lstStyle/>
          <a:p>
            <a:pPr algn="l">
              <a:buNone/>
            </a:pPr>
            <a:r>
              <a:rPr lang="en-US" b="1" i="0" dirty="0">
                <a:effectLst/>
                <a:latin typeface="+mj-lt"/>
              </a:rPr>
              <a:t>Account Age: </a:t>
            </a:r>
            <a:r>
              <a:rPr lang="en-US" b="0" i="0" dirty="0">
                <a:effectLst/>
                <a:latin typeface="+mj-lt"/>
              </a:rPr>
              <a:t>3 years</a:t>
            </a:r>
          </a:p>
          <a:p>
            <a:pPr algn="l">
              <a:spcBef>
                <a:spcPts val="600"/>
              </a:spcBef>
              <a:buNone/>
            </a:pPr>
            <a:r>
              <a:rPr lang="en-US" b="1" i="0" dirty="0">
                <a:effectLst/>
                <a:latin typeface="+mj-lt"/>
              </a:rPr>
              <a:t>Monthly Deposits: </a:t>
            </a:r>
            <a:r>
              <a:rPr lang="en-US" b="0" i="0" dirty="0">
                <a:effectLst/>
                <a:latin typeface="+mj-lt"/>
              </a:rPr>
              <a:t>$3,200</a:t>
            </a:r>
          </a:p>
          <a:p>
            <a:pPr algn="l">
              <a:spcBef>
                <a:spcPts val="600"/>
              </a:spcBef>
              <a:buNone/>
            </a:pPr>
            <a:r>
              <a:rPr lang="en-US" b="1" i="0" dirty="0">
                <a:effectLst/>
                <a:latin typeface="+mj-lt"/>
              </a:rPr>
              <a:t>Balance Range: </a:t>
            </a:r>
            <a:r>
              <a:rPr lang="en-US" b="0" i="0" dirty="0">
                <a:effectLst/>
                <a:latin typeface="+mj-lt"/>
              </a:rPr>
              <a:t>$2K - $8K</a:t>
            </a:r>
          </a:p>
        </p:txBody>
      </p:sp>
    </p:spTree>
    <p:extLst>
      <p:ext uri="{BB962C8B-B14F-4D97-AF65-F5344CB8AC3E}">
        <p14:creationId xmlns:p14="http://schemas.microsoft.com/office/powerpoint/2010/main" val="11132541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10A45-EB4E-32FC-B064-9ECF84F35D48}"/>
            </a:ext>
          </a:extLst>
        </p:cNvPr>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E2DDBBD4-1C41-8464-2B1D-D767D3B591C4}"/>
              </a:ext>
            </a:extLst>
          </p:cNvPr>
          <p:cNvSpPr/>
          <p:nvPr/>
        </p:nvSpPr>
        <p:spPr>
          <a:xfrm>
            <a:off x="381000" y="1270001"/>
            <a:ext cx="7035800" cy="4066430"/>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9" name="Text Placeholder 8">
            <a:extLst>
              <a:ext uri="{FF2B5EF4-FFF2-40B4-BE49-F238E27FC236}">
                <a16:creationId xmlns:a16="http://schemas.microsoft.com/office/drawing/2014/main" id="{A43930F7-5C87-CAE0-D2FA-60F64CCB37E1}"/>
              </a:ext>
            </a:extLst>
          </p:cNvPr>
          <p:cNvSpPr>
            <a:spLocks noGrp="1"/>
          </p:cNvSpPr>
          <p:nvPr>
            <p:ph type="body" sz="quarter" idx="4294967295"/>
          </p:nvPr>
        </p:nvSpPr>
        <p:spPr>
          <a:xfrm>
            <a:off x="714804" y="1405524"/>
            <a:ext cx="5197475" cy="423862"/>
          </a:xfrm>
          <a:prstGeom prst="rect">
            <a:avLst/>
          </a:prstGeom>
        </p:spPr>
        <p:txBody>
          <a:bodyPr lIns="91440" tIns="45720" rIns="91440" bIns="45720" anchor="t"/>
          <a:lstStyle/>
          <a:p>
            <a:pPr marL="0" indent="0">
              <a:buNone/>
            </a:pPr>
            <a:r>
              <a:rPr lang="en-US" sz="2000" b="1" dirty="0">
                <a:solidFill>
                  <a:schemeClr val="accent1"/>
                </a:solidFill>
                <a:latin typeface="+mj-lt"/>
                <a:cs typeface="Arial"/>
              </a:rPr>
              <a:t>Customer Profile</a:t>
            </a:r>
          </a:p>
        </p:txBody>
      </p:sp>
      <p:sp>
        <p:nvSpPr>
          <p:cNvPr id="7" name="TextBox 6">
            <a:extLst>
              <a:ext uri="{FF2B5EF4-FFF2-40B4-BE49-F238E27FC236}">
                <a16:creationId xmlns:a16="http://schemas.microsoft.com/office/drawing/2014/main" id="{EF940AD4-CE6E-9DD1-E6E2-1AECDC4A84C9}"/>
              </a:ext>
            </a:extLst>
          </p:cNvPr>
          <p:cNvSpPr txBox="1"/>
          <p:nvPr/>
        </p:nvSpPr>
        <p:spPr>
          <a:xfrm>
            <a:off x="3083750" y="1901669"/>
            <a:ext cx="3947121" cy="707886"/>
          </a:xfrm>
          <a:prstGeom prst="rect">
            <a:avLst/>
          </a:prstGeom>
          <a:noFill/>
        </p:spPr>
        <p:txBody>
          <a:bodyPr wrap="square" lIns="91440" tIns="45720" rIns="91440" bIns="45720" anchor="t">
            <a:spAutoFit/>
          </a:bodyPr>
          <a:lstStyle/>
          <a:p>
            <a:r>
              <a:rPr lang="en-US" sz="2000" b="1" dirty="0">
                <a:solidFill>
                  <a:schemeClr val="accent2"/>
                </a:solidFill>
              </a:rPr>
              <a:t>Maria Santos</a:t>
            </a:r>
          </a:p>
          <a:p>
            <a:r>
              <a:rPr lang="en-US" sz="2000" dirty="0"/>
              <a:t>Elementary School Teacher</a:t>
            </a:r>
          </a:p>
        </p:txBody>
      </p:sp>
      <p:grpSp>
        <p:nvGrpSpPr>
          <p:cNvPr id="15" name="Group 14">
            <a:extLst>
              <a:ext uri="{FF2B5EF4-FFF2-40B4-BE49-F238E27FC236}">
                <a16:creationId xmlns:a16="http://schemas.microsoft.com/office/drawing/2014/main" id="{F0113B96-51FD-6DBA-33F8-29F7C312E616}"/>
              </a:ext>
            </a:extLst>
          </p:cNvPr>
          <p:cNvGrpSpPr/>
          <p:nvPr/>
        </p:nvGrpSpPr>
        <p:grpSpPr>
          <a:xfrm>
            <a:off x="553442" y="1901669"/>
            <a:ext cx="2240558" cy="2416331"/>
            <a:chOff x="1036042" y="1901669"/>
            <a:chExt cx="2240558" cy="2416331"/>
          </a:xfrm>
        </p:grpSpPr>
        <p:sp>
          <p:nvSpPr>
            <p:cNvPr id="2" name="Rectangle: Rounded Corners 1">
              <a:extLst>
                <a:ext uri="{FF2B5EF4-FFF2-40B4-BE49-F238E27FC236}">
                  <a16:creationId xmlns:a16="http://schemas.microsoft.com/office/drawing/2014/main" id="{35B69168-C8E5-5BC2-79F4-4282975786C4}"/>
                </a:ext>
              </a:extLst>
            </p:cNvPr>
            <p:cNvSpPr/>
            <p:nvPr/>
          </p:nvSpPr>
          <p:spPr>
            <a:xfrm>
              <a:off x="1036042" y="1901669"/>
              <a:ext cx="2240558" cy="24163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pic>
          <p:nvPicPr>
            <p:cNvPr id="3074" name="Picture 2" descr="Happy primary school teacher standing in the classroom and looking at camera.">
              <a:extLst>
                <a:ext uri="{FF2B5EF4-FFF2-40B4-BE49-F238E27FC236}">
                  <a16:creationId xmlns:a16="http://schemas.microsoft.com/office/drawing/2014/main" id="{4A769BA8-87AD-1D5F-CF66-F4D9D73CEB5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6394" r="8029" b="23022"/>
            <a:stretch>
              <a:fillRect/>
            </a:stretch>
          </p:blipFill>
          <p:spPr bwMode="auto">
            <a:xfrm>
              <a:off x="1197404" y="2116059"/>
              <a:ext cx="1948655" cy="1979281"/>
            </a:xfrm>
            <a:prstGeom prst="roundRect">
              <a:avLst/>
            </a:prstGeom>
            <a:noFill/>
            <a:extLst>
              <a:ext uri="{909E8E84-426E-40DD-AFC4-6F175D3DCCD1}">
                <a14:hiddenFill xmlns:a14="http://schemas.microsoft.com/office/drawing/2010/main">
                  <a:solidFill>
                    <a:srgbClr val="FFFFFF"/>
                  </a:solidFill>
                </a14:hiddenFill>
              </a:ext>
            </a:extLst>
          </p:spPr>
        </p:pic>
      </p:grpSp>
      <p:sp>
        <p:nvSpPr>
          <p:cNvPr id="11" name="TextBox 10">
            <a:extLst>
              <a:ext uri="{FF2B5EF4-FFF2-40B4-BE49-F238E27FC236}">
                <a16:creationId xmlns:a16="http://schemas.microsoft.com/office/drawing/2014/main" id="{09903181-24FD-D2E7-4CB9-2F9B66C43659}"/>
              </a:ext>
            </a:extLst>
          </p:cNvPr>
          <p:cNvSpPr txBox="1"/>
          <p:nvPr/>
        </p:nvSpPr>
        <p:spPr>
          <a:xfrm>
            <a:off x="3083750" y="3105700"/>
            <a:ext cx="4142550" cy="1077218"/>
          </a:xfrm>
          <a:prstGeom prst="rect">
            <a:avLst/>
          </a:prstGeom>
          <a:noFill/>
        </p:spPr>
        <p:txBody>
          <a:bodyPr wrap="square">
            <a:spAutoFit/>
          </a:bodyPr>
          <a:lstStyle/>
          <a:p>
            <a:pPr algn="l">
              <a:buNone/>
            </a:pPr>
            <a:r>
              <a:rPr lang="en-US" b="1" i="0" dirty="0">
                <a:effectLst/>
                <a:latin typeface="+mj-lt"/>
              </a:rPr>
              <a:t>Account Age: </a:t>
            </a:r>
            <a:r>
              <a:rPr lang="en-US" b="0" i="0" dirty="0">
                <a:effectLst/>
                <a:latin typeface="+mj-lt"/>
              </a:rPr>
              <a:t>3 years</a:t>
            </a:r>
          </a:p>
          <a:p>
            <a:pPr algn="l">
              <a:spcBef>
                <a:spcPts val="600"/>
              </a:spcBef>
              <a:buNone/>
            </a:pPr>
            <a:r>
              <a:rPr lang="en-US" b="1" i="0" dirty="0">
                <a:effectLst/>
                <a:latin typeface="+mj-lt"/>
              </a:rPr>
              <a:t>Monthly Deposits: </a:t>
            </a:r>
            <a:r>
              <a:rPr lang="en-US" b="0" i="0" dirty="0">
                <a:effectLst/>
                <a:latin typeface="+mj-lt"/>
              </a:rPr>
              <a:t>$3,200</a:t>
            </a:r>
          </a:p>
          <a:p>
            <a:pPr algn="l">
              <a:spcBef>
                <a:spcPts val="600"/>
              </a:spcBef>
              <a:buNone/>
            </a:pPr>
            <a:r>
              <a:rPr lang="en-US" b="1" i="0" dirty="0">
                <a:effectLst/>
                <a:latin typeface="+mj-lt"/>
              </a:rPr>
              <a:t>Balance Range: </a:t>
            </a:r>
            <a:r>
              <a:rPr lang="en-US" b="0" i="0" dirty="0">
                <a:effectLst/>
                <a:latin typeface="+mj-lt"/>
              </a:rPr>
              <a:t>$2K - $8K</a:t>
            </a:r>
          </a:p>
        </p:txBody>
      </p:sp>
      <p:sp>
        <p:nvSpPr>
          <p:cNvPr id="3" name="Rectangle: Rounded Corners 2">
            <a:extLst>
              <a:ext uri="{FF2B5EF4-FFF2-40B4-BE49-F238E27FC236}">
                <a16:creationId xmlns:a16="http://schemas.microsoft.com/office/drawing/2014/main" id="{FB84276F-87D8-BD0C-AA50-C1D8D51DACFA}"/>
              </a:ext>
            </a:extLst>
          </p:cNvPr>
          <p:cNvSpPr/>
          <p:nvPr/>
        </p:nvSpPr>
        <p:spPr>
          <a:xfrm>
            <a:off x="7719616" y="1270001"/>
            <a:ext cx="4045942" cy="4066430"/>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4" name="Text Placeholder 8">
            <a:extLst>
              <a:ext uri="{FF2B5EF4-FFF2-40B4-BE49-F238E27FC236}">
                <a16:creationId xmlns:a16="http://schemas.microsoft.com/office/drawing/2014/main" id="{FDF41542-D6CF-D647-7246-A18A407F52EC}"/>
              </a:ext>
            </a:extLst>
          </p:cNvPr>
          <p:cNvSpPr txBox="1">
            <a:spLocks/>
          </p:cNvSpPr>
          <p:nvPr/>
        </p:nvSpPr>
        <p:spPr>
          <a:xfrm>
            <a:off x="8262342" y="1477807"/>
            <a:ext cx="3214854" cy="423862"/>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chemeClr val="accent1"/>
                </a:solidFill>
                <a:latin typeface="+mj-lt"/>
                <a:cs typeface="Arial"/>
              </a:rPr>
              <a:t>Transaction Request</a:t>
            </a:r>
          </a:p>
        </p:txBody>
      </p:sp>
      <p:sp>
        <p:nvSpPr>
          <p:cNvPr id="8" name="Oval 7">
            <a:extLst>
              <a:ext uri="{FF2B5EF4-FFF2-40B4-BE49-F238E27FC236}">
                <a16:creationId xmlns:a16="http://schemas.microsoft.com/office/drawing/2014/main" id="{B7E7EA8B-A116-2B54-055B-E4F90C13C235}"/>
              </a:ext>
            </a:extLst>
          </p:cNvPr>
          <p:cNvSpPr/>
          <p:nvPr/>
        </p:nvSpPr>
        <p:spPr>
          <a:xfrm>
            <a:off x="9201150" y="1901669"/>
            <a:ext cx="892331" cy="8923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pic>
        <p:nvPicPr>
          <p:cNvPr id="6" name="Picture 5">
            <a:extLst>
              <a:ext uri="{FF2B5EF4-FFF2-40B4-BE49-F238E27FC236}">
                <a16:creationId xmlns:a16="http://schemas.microsoft.com/office/drawing/2014/main" id="{399AB586-72DB-B425-A5ED-ECF5AB0CE805}"/>
              </a:ext>
            </a:extLst>
          </p:cNvPr>
          <p:cNvPicPr>
            <a:picLocks noChangeAspect="1"/>
          </p:cNvPicPr>
          <p:nvPr/>
        </p:nvPicPr>
        <p:blipFill>
          <a:blip r:embed="rId4"/>
          <a:stretch>
            <a:fillRect/>
          </a:stretch>
        </p:blipFill>
        <p:spPr>
          <a:xfrm>
            <a:off x="9274575" y="1975084"/>
            <a:ext cx="755406" cy="744378"/>
          </a:xfrm>
          <a:prstGeom prst="ellipse">
            <a:avLst/>
          </a:prstGeom>
        </p:spPr>
      </p:pic>
      <p:sp>
        <p:nvSpPr>
          <p:cNvPr id="13" name="TextBox 12">
            <a:extLst>
              <a:ext uri="{FF2B5EF4-FFF2-40B4-BE49-F238E27FC236}">
                <a16:creationId xmlns:a16="http://schemas.microsoft.com/office/drawing/2014/main" id="{F76415C5-4F5D-B158-15AD-38F584771EEC}"/>
              </a:ext>
            </a:extLst>
          </p:cNvPr>
          <p:cNvSpPr txBox="1"/>
          <p:nvPr/>
        </p:nvSpPr>
        <p:spPr>
          <a:xfrm>
            <a:off x="8407394" y="2972718"/>
            <a:ext cx="2479842" cy="646331"/>
          </a:xfrm>
          <a:prstGeom prst="rect">
            <a:avLst/>
          </a:prstGeom>
          <a:noFill/>
        </p:spPr>
        <p:txBody>
          <a:bodyPr wrap="square">
            <a:spAutoFit/>
          </a:bodyPr>
          <a:lstStyle/>
          <a:p>
            <a:pPr algn="ctr">
              <a:buNone/>
            </a:pPr>
            <a:r>
              <a:rPr lang="en-US" b="1" i="0" dirty="0">
                <a:solidFill>
                  <a:schemeClr val="accent2"/>
                </a:solidFill>
                <a:effectLst/>
                <a:latin typeface="+mj-lt"/>
              </a:rPr>
              <a:t>$45,000</a:t>
            </a:r>
          </a:p>
          <a:p>
            <a:pPr algn="ctr">
              <a:buNone/>
            </a:pPr>
            <a:r>
              <a:rPr lang="en-US" b="0" i="0" dirty="0">
                <a:solidFill>
                  <a:schemeClr val="accent1"/>
                </a:solidFill>
                <a:effectLst/>
                <a:latin typeface="+mj-lt"/>
              </a:rPr>
              <a:t>Cash Deposit</a:t>
            </a:r>
          </a:p>
        </p:txBody>
      </p:sp>
      <p:sp>
        <p:nvSpPr>
          <p:cNvPr id="17" name="TextBox 16">
            <a:extLst>
              <a:ext uri="{FF2B5EF4-FFF2-40B4-BE49-F238E27FC236}">
                <a16:creationId xmlns:a16="http://schemas.microsoft.com/office/drawing/2014/main" id="{7AB459D9-6FAF-21ED-2E7E-0C2736DEE84D}"/>
              </a:ext>
            </a:extLst>
          </p:cNvPr>
          <p:cNvSpPr txBox="1"/>
          <p:nvPr/>
        </p:nvSpPr>
        <p:spPr>
          <a:xfrm>
            <a:off x="7770729" y="3817863"/>
            <a:ext cx="3914942" cy="1000274"/>
          </a:xfrm>
          <a:prstGeom prst="rect">
            <a:avLst/>
          </a:prstGeom>
          <a:noFill/>
        </p:spPr>
        <p:txBody>
          <a:bodyPr wrap="square">
            <a:spAutoFit/>
          </a:bodyPr>
          <a:lstStyle/>
          <a:p>
            <a:pPr algn="l">
              <a:buNone/>
            </a:pPr>
            <a:r>
              <a:rPr lang="en-US" b="0" i="0" dirty="0">
                <a:solidFill>
                  <a:schemeClr val="accent1"/>
                </a:solidFill>
                <a:effectLst/>
                <a:latin typeface="+mj-lt"/>
              </a:rPr>
              <a:t>Form: Cash (bundled $100 bills)</a:t>
            </a:r>
          </a:p>
          <a:p>
            <a:pPr algn="l">
              <a:spcBef>
                <a:spcPts val="300"/>
              </a:spcBef>
              <a:buNone/>
            </a:pPr>
            <a:r>
              <a:rPr lang="en-US" b="0" i="0" dirty="0">
                <a:solidFill>
                  <a:schemeClr val="accent1"/>
                </a:solidFill>
                <a:effectLst/>
                <a:latin typeface="+mj-lt"/>
              </a:rPr>
              <a:t>Deposit Type: Checking Account</a:t>
            </a:r>
          </a:p>
          <a:p>
            <a:pPr algn="l">
              <a:spcBef>
                <a:spcPts val="300"/>
              </a:spcBef>
              <a:buNone/>
            </a:pPr>
            <a:r>
              <a:rPr lang="en-US" b="0" i="0" dirty="0">
                <a:solidFill>
                  <a:schemeClr val="accent1"/>
                </a:solidFill>
                <a:effectLst/>
                <a:latin typeface="+mj-lt"/>
              </a:rPr>
              <a:t>Source: [Not Specified]</a:t>
            </a:r>
          </a:p>
        </p:txBody>
      </p:sp>
      <p:sp>
        <p:nvSpPr>
          <p:cNvPr id="18" name="Rectangle: Rounded Corners 17">
            <a:extLst>
              <a:ext uri="{FF2B5EF4-FFF2-40B4-BE49-F238E27FC236}">
                <a16:creationId xmlns:a16="http://schemas.microsoft.com/office/drawing/2014/main" id="{E02A0E41-0566-0694-7015-06CA4AA23EC7}"/>
              </a:ext>
            </a:extLst>
          </p:cNvPr>
          <p:cNvSpPr/>
          <p:nvPr/>
        </p:nvSpPr>
        <p:spPr>
          <a:xfrm>
            <a:off x="5651444" y="5788988"/>
            <a:ext cx="1765356" cy="375537"/>
          </a:xfrm>
          <a:prstGeom prst="roundRect">
            <a:avLst>
              <a:gd name="adj" fmla="val 40738"/>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Transaction</a:t>
            </a:r>
          </a:p>
        </p:txBody>
      </p:sp>
      <p:sp>
        <p:nvSpPr>
          <p:cNvPr id="19" name="TextBox 18">
            <a:extLst>
              <a:ext uri="{FF2B5EF4-FFF2-40B4-BE49-F238E27FC236}">
                <a16:creationId xmlns:a16="http://schemas.microsoft.com/office/drawing/2014/main" id="{09D65027-352E-BF33-5538-4CE8B54EDC10}"/>
              </a:ext>
            </a:extLst>
          </p:cNvPr>
          <p:cNvSpPr txBox="1"/>
          <p:nvPr/>
        </p:nvSpPr>
        <p:spPr>
          <a:xfrm>
            <a:off x="381000" y="5651422"/>
            <a:ext cx="492374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dirty="0">
                <a:solidFill>
                  <a:schemeClr val="accent1"/>
                </a:solidFill>
              </a:rPr>
              <a:t>Select the button to see the transaction request from Maria.</a:t>
            </a:r>
          </a:p>
        </p:txBody>
      </p:sp>
    </p:spTree>
    <p:extLst>
      <p:ext uri="{BB962C8B-B14F-4D97-AF65-F5344CB8AC3E}">
        <p14:creationId xmlns:p14="http://schemas.microsoft.com/office/powerpoint/2010/main" val="817312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5F7FF-A48C-0C02-2EDC-855DAD4F8CEA}"/>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5E94D411-46F3-A298-F253-3864E109EF2C}"/>
              </a:ext>
            </a:extLst>
          </p:cNvPr>
          <p:cNvSpPr/>
          <p:nvPr/>
        </p:nvSpPr>
        <p:spPr>
          <a:xfrm>
            <a:off x="4970873" y="4706683"/>
            <a:ext cx="6052725" cy="6541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32" name="Rectangle 31">
            <a:extLst>
              <a:ext uri="{FF2B5EF4-FFF2-40B4-BE49-F238E27FC236}">
                <a16:creationId xmlns:a16="http://schemas.microsoft.com/office/drawing/2014/main" id="{79E96E23-CC07-BEA2-51FF-5D98DCE54CB6}"/>
              </a:ext>
            </a:extLst>
          </p:cNvPr>
          <p:cNvSpPr/>
          <p:nvPr/>
        </p:nvSpPr>
        <p:spPr>
          <a:xfrm>
            <a:off x="4970874" y="3926762"/>
            <a:ext cx="6052724" cy="6541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31" name="Rectangle 30">
            <a:extLst>
              <a:ext uri="{FF2B5EF4-FFF2-40B4-BE49-F238E27FC236}">
                <a16:creationId xmlns:a16="http://schemas.microsoft.com/office/drawing/2014/main" id="{CE7D17F3-8089-401A-6B0D-52BB33A5832D}"/>
              </a:ext>
            </a:extLst>
          </p:cNvPr>
          <p:cNvSpPr/>
          <p:nvPr/>
        </p:nvSpPr>
        <p:spPr>
          <a:xfrm>
            <a:off x="4970874" y="3135386"/>
            <a:ext cx="6052724" cy="6541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30" name="Rectangle 29">
            <a:extLst>
              <a:ext uri="{FF2B5EF4-FFF2-40B4-BE49-F238E27FC236}">
                <a16:creationId xmlns:a16="http://schemas.microsoft.com/office/drawing/2014/main" id="{8FCEA25C-08A6-30C6-C85A-0F715422ED43}"/>
              </a:ext>
            </a:extLst>
          </p:cNvPr>
          <p:cNvSpPr/>
          <p:nvPr/>
        </p:nvSpPr>
        <p:spPr>
          <a:xfrm>
            <a:off x="4970874" y="2336019"/>
            <a:ext cx="6052724" cy="6541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3" name="Rectangle: Rounded Corners 2">
            <a:extLst>
              <a:ext uri="{FF2B5EF4-FFF2-40B4-BE49-F238E27FC236}">
                <a16:creationId xmlns:a16="http://schemas.microsoft.com/office/drawing/2014/main" id="{CC5DCA0A-04F8-CC45-F3E4-0B710C81EA90}"/>
              </a:ext>
            </a:extLst>
          </p:cNvPr>
          <p:cNvSpPr/>
          <p:nvPr/>
        </p:nvSpPr>
        <p:spPr>
          <a:xfrm>
            <a:off x="381000" y="1395785"/>
            <a:ext cx="4045942" cy="4066430"/>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4" name="Text Placeholder 8">
            <a:extLst>
              <a:ext uri="{FF2B5EF4-FFF2-40B4-BE49-F238E27FC236}">
                <a16:creationId xmlns:a16="http://schemas.microsoft.com/office/drawing/2014/main" id="{894CAA05-F751-F324-DA1D-B08887F333C5}"/>
              </a:ext>
            </a:extLst>
          </p:cNvPr>
          <p:cNvSpPr txBox="1">
            <a:spLocks/>
          </p:cNvSpPr>
          <p:nvPr/>
        </p:nvSpPr>
        <p:spPr>
          <a:xfrm>
            <a:off x="923726" y="1603591"/>
            <a:ext cx="3214854" cy="423862"/>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chemeClr val="accent1"/>
                </a:solidFill>
                <a:latin typeface="+mj-lt"/>
                <a:cs typeface="Arial"/>
              </a:rPr>
              <a:t>Transaction Request</a:t>
            </a:r>
          </a:p>
        </p:txBody>
      </p:sp>
      <p:sp>
        <p:nvSpPr>
          <p:cNvPr id="8" name="Oval 7">
            <a:extLst>
              <a:ext uri="{FF2B5EF4-FFF2-40B4-BE49-F238E27FC236}">
                <a16:creationId xmlns:a16="http://schemas.microsoft.com/office/drawing/2014/main" id="{866F5F36-B004-5417-3261-BF8102D7C241}"/>
              </a:ext>
            </a:extLst>
          </p:cNvPr>
          <p:cNvSpPr/>
          <p:nvPr/>
        </p:nvSpPr>
        <p:spPr>
          <a:xfrm>
            <a:off x="1862534" y="2027453"/>
            <a:ext cx="892331" cy="8923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pic>
        <p:nvPicPr>
          <p:cNvPr id="6" name="Picture 5">
            <a:extLst>
              <a:ext uri="{FF2B5EF4-FFF2-40B4-BE49-F238E27FC236}">
                <a16:creationId xmlns:a16="http://schemas.microsoft.com/office/drawing/2014/main" id="{1EB2CF46-E31D-07DD-422D-3BCC8C120D62}"/>
              </a:ext>
            </a:extLst>
          </p:cNvPr>
          <p:cNvPicPr>
            <a:picLocks noChangeAspect="1"/>
          </p:cNvPicPr>
          <p:nvPr/>
        </p:nvPicPr>
        <p:blipFill>
          <a:blip r:embed="rId3"/>
          <a:stretch>
            <a:fillRect/>
          </a:stretch>
        </p:blipFill>
        <p:spPr>
          <a:xfrm>
            <a:off x="1935959" y="2100868"/>
            <a:ext cx="755406" cy="744378"/>
          </a:xfrm>
          <a:prstGeom prst="ellipse">
            <a:avLst/>
          </a:prstGeom>
        </p:spPr>
      </p:pic>
      <p:sp>
        <p:nvSpPr>
          <p:cNvPr id="13" name="TextBox 12">
            <a:extLst>
              <a:ext uri="{FF2B5EF4-FFF2-40B4-BE49-F238E27FC236}">
                <a16:creationId xmlns:a16="http://schemas.microsoft.com/office/drawing/2014/main" id="{4F91A20A-5907-99FA-1DC0-AFCBD1FA15F9}"/>
              </a:ext>
            </a:extLst>
          </p:cNvPr>
          <p:cNvSpPr txBox="1"/>
          <p:nvPr/>
        </p:nvSpPr>
        <p:spPr>
          <a:xfrm>
            <a:off x="1068778" y="3098502"/>
            <a:ext cx="2479842" cy="646331"/>
          </a:xfrm>
          <a:prstGeom prst="rect">
            <a:avLst/>
          </a:prstGeom>
          <a:noFill/>
        </p:spPr>
        <p:txBody>
          <a:bodyPr wrap="square">
            <a:spAutoFit/>
          </a:bodyPr>
          <a:lstStyle/>
          <a:p>
            <a:pPr algn="ctr">
              <a:buNone/>
            </a:pPr>
            <a:r>
              <a:rPr lang="en-US" b="1" i="0" dirty="0">
                <a:solidFill>
                  <a:schemeClr val="accent2"/>
                </a:solidFill>
                <a:effectLst/>
                <a:latin typeface="+mj-lt"/>
              </a:rPr>
              <a:t>$45,000</a:t>
            </a:r>
          </a:p>
          <a:p>
            <a:pPr algn="ctr">
              <a:buNone/>
            </a:pPr>
            <a:r>
              <a:rPr lang="en-US" b="0" i="0" dirty="0">
                <a:solidFill>
                  <a:schemeClr val="accent1"/>
                </a:solidFill>
                <a:effectLst/>
                <a:latin typeface="+mj-lt"/>
              </a:rPr>
              <a:t>Cash Deposit</a:t>
            </a:r>
          </a:p>
        </p:txBody>
      </p:sp>
      <p:sp>
        <p:nvSpPr>
          <p:cNvPr id="17" name="TextBox 16">
            <a:extLst>
              <a:ext uri="{FF2B5EF4-FFF2-40B4-BE49-F238E27FC236}">
                <a16:creationId xmlns:a16="http://schemas.microsoft.com/office/drawing/2014/main" id="{0D7FB85B-C11E-3567-84F5-1BAC523C57AE}"/>
              </a:ext>
            </a:extLst>
          </p:cNvPr>
          <p:cNvSpPr txBox="1"/>
          <p:nvPr/>
        </p:nvSpPr>
        <p:spPr>
          <a:xfrm>
            <a:off x="432113" y="3943647"/>
            <a:ext cx="3914942" cy="1000274"/>
          </a:xfrm>
          <a:prstGeom prst="rect">
            <a:avLst/>
          </a:prstGeom>
          <a:noFill/>
        </p:spPr>
        <p:txBody>
          <a:bodyPr wrap="square">
            <a:spAutoFit/>
          </a:bodyPr>
          <a:lstStyle/>
          <a:p>
            <a:pPr algn="l">
              <a:buNone/>
            </a:pPr>
            <a:r>
              <a:rPr lang="en-US" b="0" i="0" dirty="0">
                <a:solidFill>
                  <a:schemeClr val="accent1"/>
                </a:solidFill>
                <a:effectLst/>
                <a:latin typeface="+mj-lt"/>
              </a:rPr>
              <a:t>Form: Cash (bundled $100 bills)</a:t>
            </a:r>
          </a:p>
          <a:p>
            <a:pPr algn="l">
              <a:spcBef>
                <a:spcPts val="300"/>
              </a:spcBef>
              <a:buNone/>
            </a:pPr>
            <a:r>
              <a:rPr lang="en-US" b="0" i="0" dirty="0">
                <a:solidFill>
                  <a:schemeClr val="accent1"/>
                </a:solidFill>
                <a:effectLst/>
                <a:latin typeface="+mj-lt"/>
              </a:rPr>
              <a:t>Deposit Type: Checking Account</a:t>
            </a:r>
          </a:p>
          <a:p>
            <a:pPr algn="l">
              <a:spcBef>
                <a:spcPts val="300"/>
              </a:spcBef>
              <a:buNone/>
            </a:pPr>
            <a:r>
              <a:rPr lang="en-US" b="0" i="0" dirty="0">
                <a:solidFill>
                  <a:schemeClr val="accent1"/>
                </a:solidFill>
                <a:effectLst/>
                <a:latin typeface="+mj-lt"/>
              </a:rPr>
              <a:t>Source: [Not Specified]</a:t>
            </a:r>
          </a:p>
        </p:txBody>
      </p:sp>
      <p:sp>
        <p:nvSpPr>
          <p:cNvPr id="19" name="TextBox 18">
            <a:extLst>
              <a:ext uri="{FF2B5EF4-FFF2-40B4-BE49-F238E27FC236}">
                <a16:creationId xmlns:a16="http://schemas.microsoft.com/office/drawing/2014/main" id="{06FA6A21-BD3B-35AF-B9CA-6B7D670C875F}"/>
              </a:ext>
            </a:extLst>
          </p:cNvPr>
          <p:cNvSpPr txBox="1"/>
          <p:nvPr/>
        </p:nvSpPr>
        <p:spPr>
          <a:xfrm>
            <a:off x="4851400" y="1403602"/>
            <a:ext cx="6858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dirty="0">
                <a:solidFill>
                  <a:schemeClr val="accent1"/>
                </a:solidFill>
              </a:rPr>
              <a:t>Select each tab to review information before making your decision.</a:t>
            </a:r>
          </a:p>
        </p:txBody>
      </p:sp>
      <p:sp>
        <p:nvSpPr>
          <p:cNvPr id="10" name="TextBox 9">
            <a:extLst>
              <a:ext uri="{FF2B5EF4-FFF2-40B4-BE49-F238E27FC236}">
                <a16:creationId xmlns:a16="http://schemas.microsoft.com/office/drawing/2014/main" id="{9616E9EA-94A9-3DAB-86A3-254ACF2EBA85}"/>
              </a:ext>
            </a:extLst>
          </p:cNvPr>
          <p:cNvSpPr txBox="1"/>
          <p:nvPr/>
        </p:nvSpPr>
        <p:spPr>
          <a:xfrm>
            <a:off x="432112" y="605513"/>
            <a:ext cx="10591487" cy="369332"/>
          </a:xfrm>
          <a:prstGeom prst="rect">
            <a:avLst/>
          </a:prstGeom>
          <a:noFill/>
        </p:spPr>
        <p:txBody>
          <a:bodyPr wrap="square">
            <a:spAutoFit/>
          </a:bodyPr>
          <a:lstStyle/>
          <a:p>
            <a:r>
              <a:rPr lang="en-US" b="0" dirty="0">
                <a:effectLst/>
                <a:latin typeface="+mj-lt"/>
              </a:rPr>
              <a:t>Before you process the transaction, it’s your duty to review Maria's profile. </a:t>
            </a:r>
            <a:endParaRPr lang="en-UG" dirty="0">
              <a:latin typeface="+mj-lt"/>
            </a:endParaRPr>
          </a:p>
        </p:txBody>
      </p:sp>
      <p:pic>
        <p:nvPicPr>
          <p:cNvPr id="16" name="Picture 15">
            <a:extLst>
              <a:ext uri="{FF2B5EF4-FFF2-40B4-BE49-F238E27FC236}">
                <a16:creationId xmlns:a16="http://schemas.microsoft.com/office/drawing/2014/main" id="{835E26A0-32A3-F4B4-7946-1FAF366B0856}"/>
              </a:ext>
            </a:extLst>
          </p:cNvPr>
          <p:cNvPicPr>
            <a:picLocks noChangeAspect="1"/>
          </p:cNvPicPr>
          <p:nvPr/>
        </p:nvPicPr>
        <p:blipFill>
          <a:blip r:embed="rId4"/>
          <a:stretch>
            <a:fillRect/>
          </a:stretch>
        </p:blipFill>
        <p:spPr>
          <a:xfrm>
            <a:off x="4948649" y="2336018"/>
            <a:ext cx="628662" cy="654148"/>
          </a:xfrm>
          <a:prstGeom prst="rect">
            <a:avLst/>
          </a:prstGeom>
        </p:spPr>
      </p:pic>
      <p:pic>
        <p:nvPicPr>
          <p:cNvPr id="21" name="Picture 20">
            <a:extLst>
              <a:ext uri="{FF2B5EF4-FFF2-40B4-BE49-F238E27FC236}">
                <a16:creationId xmlns:a16="http://schemas.microsoft.com/office/drawing/2014/main" id="{29CD8C54-98F5-54B4-0D8C-E94E43EE600B}"/>
              </a:ext>
            </a:extLst>
          </p:cNvPr>
          <p:cNvPicPr>
            <a:picLocks noChangeAspect="1"/>
          </p:cNvPicPr>
          <p:nvPr/>
        </p:nvPicPr>
        <p:blipFill>
          <a:blip r:embed="rId5"/>
          <a:stretch>
            <a:fillRect/>
          </a:stretch>
        </p:blipFill>
        <p:spPr>
          <a:xfrm>
            <a:off x="4970874" y="3143304"/>
            <a:ext cx="606437" cy="657685"/>
          </a:xfrm>
          <a:prstGeom prst="rect">
            <a:avLst/>
          </a:prstGeom>
        </p:spPr>
      </p:pic>
      <p:pic>
        <p:nvPicPr>
          <p:cNvPr id="23" name="Picture 22">
            <a:extLst>
              <a:ext uri="{FF2B5EF4-FFF2-40B4-BE49-F238E27FC236}">
                <a16:creationId xmlns:a16="http://schemas.microsoft.com/office/drawing/2014/main" id="{E1B3C596-98BE-DBD2-7524-B5BB7F2FCFC9}"/>
              </a:ext>
            </a:extLst>
          </p:cNvPr>
          <p:cNvPicPr>
            <a:picLocks noChangeAspect="1"/>
          </p:cNvPicPr>
          <p:nvPr/>
        </p:nvPicPr>
        <p:blipFill>
          <a:blip r:embed="rId6"/>
          <a:stretch>
            <a:fillRect/>
          </a:stretch>
        </p:blipFill>
        <p:spPr>
          <a:xfrm>
            <a:off x="4970874" y="3938217"/>
            <a:ext cx="606437" cy="648551"/>
          </a:xfrm>
          <a:prstGeom prst="rect">
            <a:avLst/>
          </a:prstGeom>
        </p:spPr>
      </p:pic>
      <p:pic>
        <p:nvPicPr>
          <p:cNvPr id="25" name="Picture 24">
            <a:extLst>
              <a:ext uri="{FF2B5EF4-FFF2-40B4-BE49-F238E27FC236}">
                <a16:creationId xmlns:a16="http://schemas.microsoft.com/office/drawing/2014/main" id="{8F782BB4-156D-29F2-590D-1EFF3CAA6566}"/>
              </a:ext>
            </a:extLst>
          </p:cNvPr>
          <p:cNvPicPr>
            <a:picLocks noChangeAspect="1"/>
          </p:cNvPicPr>
          <p:nvPr/>
        </p:nvPicPr>
        <p:blipFill>
          <a:blip r:embed="rId7"/>
          <a:stretch>
            <a:fillRect/>
          </a:stretch>
        </p:blipFill>
        <p:spPr>
          <a:xfrm>
            <a:off x="4970874" y="4723996"/>
            <a:ext cx="606437" cy="649144"/>
          </a:xfrm>
          <a:prstGeom prst="rect">
            <a:avLst/>
          </a:prstGeom>
        </p:spPr>
      </p:pic>
      <p:sp>
        <p:nvSpPr>
          <p:cNvPr id="26" name="TextBox 25">
            <a:extLst>
              <a:ext uri="{FF2B5EF4-FFF2-40B4-BE49-F238E27FC236}">
                <a16:creationId xmlns:a16="http://schemas.microsoft.com/office/drawing/2014/main" id="{CE705DD0-EB9E-D4BA-4338-4EF59C53895A}"/>
              </a:ext>
            </a:extLst>
          </p:cNvPr>
          <p:cNvSpPr txBox="1"/>
          <p:nvPr/>
        </p:nvSpPr>
        <p:spPr>
          <a:xfrm>
            <a:off x="5577311" y="2475913"/>
            <a:ext cx="3020589" cy="369332"/>
          </a:xfrm>
          <a:prstGeom prst="rect">
            <a:avLst/>
          </a:prstGeom>
          <a:noFill/>
        </p:spPr>
        <p:txBody>
          <a:bodyPr wrap="square">
            <a:spAutoFit/>
          </a:bodyPr>
          <a:lstStyle/>
          <a:p>
            <a:r>
              <a:rPr lang="en-US" b="0" dirty="0">
                <a:solidFill>
                  <a:schemeClr val="bg1"/>
                </a:solidFill>
                <a:effectLst/>
                <a:latin typeface="+mj-lt"/>
              </a:rPr>
              <a:t>Account History</a:t>
            </a:r>
            <a:endParaRPr lang="en-UG" dirty="0">
              <a:solidFill>
                <a:schemeClr val="bg1"/>
              </a:solidFill>
              <a:latin typeface="+mj-lt"/>
            </a:endParaRPr>
          </a:p>
        </p:txBody>
      </p:sp>
      <p:sp>
        <p:nvSpPr>
          <p:cNvPr id="27" name="TextBox 26">
            <a:extLst>
              <a:ext uri="{FF2B5EF4-FFF2-40B4-BE49-F238E27FC236}">
                <a16:creationId xmlns:a16="http://schemas.microsoft.com/office/drawing/2014/main" id="{9D072005-73BD-BFE5-8284-34B95C8B38C0}"/>
              </a:ext>
            </a:extLst>
          </p:cNvPr>
          <p:cNvSpPr txBox="1"/>
          <p:nvPr/>
        </p:nvSpPr>
        <p:spPr>
          <a:xfrm>
            <a:off x="5577311" y="3292380"/>
            <a:ext cx="3020590" cy="369332"/>
          </a:xfrm>
          <a:prstGeom prst="rect">
            <a:avLst/>
          </a:prstGeom>
          <a:noFill/>
        </p:spPr>
        <p:txBody>
          <a:bodyPr wrap="square">
            <a:spAutoFit/>
          </a:bodyPr>
          <a:lstStyle/>
          <a:p>
            <a:r>
              <a:rPr lang="en-US" b="0" dirty="0">
                <a:solidFill>
                  <a:schemeClr val="bg1"/>
                </a:solidFill>
                <a:effectLst/>
                <a:latin typeface="+mj-lt"/>
              </a:rPr>
              <a:t>Recent Activity</a:t>
            </a:r>
            <a:endParaRPr lang="en-UG" dirty="0">
              <a:solidFill>
                <a:schemeClr val="bg1"/>
              </a:solidFill>
              <a:latin typeface="+mj-lt"/>
            </a:endParaRPr>
          </a:p>
        </p:txBody>
      </p:sp>
      <p:sp>
        <p:nvSpPr>
          <p:cNvPr id="28" name="TextBox 27">
            <a:extLst>
              <a:ext uri="{FF2B5EF4-FFF2-40B4-BE49-F238E27FC236}">
                <a16:creationId xmlns:a16="http://schemas.microsoft.com/office/drawing/2014/main" id="{507125FF-3E18-7B7A-1E06-7B11440B6848}"/>
              </a:ext>
            </a:extLst>
          </p:cNvPr>
          <p:cNvSpPr txBox="1"/>
          <p:nvPr/>
        </p:nvSpPr>
        <p:spPr>
          <a:xfrm>
            <a:off x="5657865" y="4078140"/>
            <a:ext cx="2736835" cy="369332"/>
          </a:xfrm>
          <a:prstGeom prst="rect">
            <a:avLst/>
          </a:prstGeom>
          <a:noFill/>
        </p:spPr>
        <p:txBody>
          <a:bodyPr wrap="square">
            <a:spAutoFit/>
          </a:bodyPr>
          <a:lstStyle/>
          <a:p>
            <a:r>
              <a:rPr lang="en-US" b="0" dirty="0">
                <a:solidFill>
                  <a:schemeClr val="bg1"/>
                </a:solidFill>
                <a:effectLst/>
                <a:latin typeface="+mj-lt"/>
              </a:rPr>
              <a:t>Occupation</a:t>
            </a:r>
            <a:endParaRPr lang="en-UG" dirty="0">
              <a:solidFill>
                <a:schemeClr val="bg1"/>
              </a:solidFill>
              <a:latin typeface="+mj-lt"/>
            </a:endParaRPr>
          </a:p>
        </p:txBody>
      </p:sp>
      <p:sp>
        <p:nvSpPr>
          <p:cNvPr id="29" name="TextBox 28">
            <a:extLst>
              <a:ext uri="{FF2B5EF4-FFF2-40B4-BE49-F238E27FC236}">
                <a16:creationId xmlns:a16="http://schemas.microsoft.com/office/drawing/2014/main" id="{C597804C-25CD-DD77-DC8A-5C90BD106E45}"/>
              </a:ext>
            </a:extLst>
          </p:cNvPr>
          <p:cNvSpPr txBox="1"/>
          <p:nvPr/>
        </p:nvSpPr>
        <p:spPr>
          <a:xfrm>
            <a:off x="5657865" y="4863902"/>
            <a:ext cx="2736835" cy="368498"/>
          </a:xfrm>
          <a:prstGeom prst="rect">
            <a:avLst/>
          </a:prstGeom>
          <a:noFill/>
        </p:spPr>
        <p:txBody>
          <a:bodyPr wrap="square">
            <a:spAutoFit/>
          </a:bodyPr>
          <a:lstStyle/>
          <a:p>
            <a:r>
              <a:rPr lang="en-US" b="0" dirty="0">
                <a:solidFill>
                  <a:schemeClr val="bg1"/>
                </a:solidFill>
                <a:effectLst/>
                <a:latin typeface="+mj-lt"/>
              </a:rPr>
              <a:t>Profile Details</a:t>
            </a:r>
            <a:endParaRPr lang="en-UG" dirty="0">
              <a:solidFill>
                <a:schemeClr val="bg1"/>
              </a:solidFill>
              <a:latin typeface="+mj-lt"/>
            </a:endParaRPr>
          </a:p>
        </p:txBody>
      </p:sp>
    </p:spTree>
    <p:extLst>
      <p:ext uri="{BB962C8B-B14F-4D97-AF65-F5344CB8AC3E}">
        <p14:creationId xmlns:p14="http://schemas.microsoft.com/office/powerpoint/2010/main" val="29928828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2F72E-B84C-1B26-16B7-2E486CC5AD02}"/>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9F8B1226-D553-F741-7A40-AC8E90761769}"/>
              </a:ext>
            </a:extLst>
          </p:cNvPr>
          <p:cNvSpPr/>
          <p:nvPr/>
        </p:nvSpPr>
        <p:spPr>
          <a:xfrm>
            <a:off x="4970873" y="4706683"/>
            <a:ext cx="6052725" cy="6541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32" name="Rectangle 31">
            <a:extLst>
              <a:ext uri="{FF2B5EF4-FFF2-40B4-BE49-F238E27FC236}">
                <a16:creationId xmlns:a16="http://schemas.microsoft.com/office/drawing/2014/main" id="{5B7A3DE3-327E-148F-9F46-5C71D8488D99}"/>
              </a:ext>
            </a:extLst>
          </p:cNvPr>
          <p:cNvSpPr/>
          <p:nvPr/>
        </p:nvSpPr>
        <p:spPr>
          <a:xfrm>
            <a:off x="4970874" y="3926762"/>
            <a:ext cx="6052724" cy="6541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31" name="Rectangle 30">
            <a:extLst>
              <a:ext uri="{FF2B5EF4-FFF2-40B4-BE49-F238E27FC236}">
                <a16:creationId xmlns:a16="http://schemas.microsoft.com/office/drawing/2014/main" id="{ED0DC5E3-A241-D069-09E4-A308CC1E9C2C}"/>
              </a:ext>
            </a:extLst>
          </p:cNvPr>
          <p:cNvSpPr/>
          <p:nvPr/>
        </p:nvSpPr>
        <p:spPr>
          <a:xfrm>
            <a:off x="4970874" y="3135386"/>
            <a:ext cx="6052724" cy="6541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30" name="Rectangle 29">
            <a:extLst>
              <a:ext uri="{FF2B5EF4-FFF2-40B4-BE49-F238E27FC236}">
                <a16:creationId xmlns:a16="http://schemas.microsoft.com/office/drawing/2014/main" id="{931DC6DA-37F0-5586-AC33-10C21C6C9DE3}"/>
              </a:ext>
            </a:extLst>
          </p:cNvPr>
          <p:cNvSpPr/>
          <p:nvPr/>
        </p:nvSpPr>
        <p:spPr>
          <a:xfrm>
            <a:off x="4970874" y="2336019"/>
            <a:ext cx="6052724" cy="6541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3" name="Rectangle: Rounded Corners 2">
            <a:extLst>
              <a:ext uri="{FF2B5EF4-FFF2-40B4-BE49-F238E27FC236}">
                <a16:creationId xmlns:a16="http://schemas.microsoft.com/office/drawing/2014/main" id="{D91A2C36-78FA-946C-60B2-4EA940F5D43C}"/>
              </a:ext>
            </a:extLst>
          </p:cNvPr>
          <p:cNvSpPr/>
          <p:nvPr/>
        </p:nvSpPr>
        <p:spPr>
          <a:xfrm>
            <a:off x="381000" y="1395785"/>
            <a:ext cx="4045942" cy="4066430"/>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4" name="Text Placeholder 8">
            <a:extLst>
              <a:ext uri="{FF2B5EF4-FFF2-40B4-BE49-F238E27FC236}">
                <a16:creationId xmlns:a16="http://schemas.microsoft.com/office/drawing/2014/main" id="{03ED2CC3-69F5-B494-6E93-91E9BC6AA95C}"/>
              </a:ext>
            </a:extLst>
          </p:cNvPr>
          <p:cNvSpPr txBox="1">
            <a:spLocks/>
          </p:cNvSpPr>
          <p:nvPr/>
        </p:nvSpPr>
        <p:spPr>
          <a:xfrm>
            <a:off x="923726" y="1603591"/>
            <a:ext cx="3214854" cy="423862"/>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chemeClr val="accent1"/>
                </a:solidFill>
                <a:latin typeface="+mj-lt"/>
                <a:cs typeface="Arial"/>
              </a:rPr>
              <a:t>Transaction Request</a:t>
            </a:r>
          </a:p>
        </p:txBody>
      </p:sp>
      <p:sp>
        <p:nvSpPr>
          <p:cNvPr id="8" name="Oval 7">
            <a:extLst>
              <a:ext uri="{FF2B5EF4-FFF2-40B4-BE49-F238E27FC236}">
                <a16:creationId xmlns:a16="http://schemas.microsoft.com/office/drawing/2014/main" id="{9D54D8FB-3678-55A7-6E96-0282032B5FD8}"/>
              </a:ext>
            </a:extLst>
          </p:cNvPr>
          <p:cNvSpPr/>
          <p:nvPr/>
        </p:nvSpPr>
        <p:spPr>
          <a:xfrm>
            <a:off x="1862534" y="2027453"/>
            <a:ext cx="892331" cy="8923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pic>
        <p:nvPicPr>
          <p:cNvPr id="6" name="Picture 5">
            <a:extLst>
              <a:ext uri="{FF2B5EF4-FFF2-40B4-BE49-F238E27FC236}">
                <a16:creationId xmlns:a16="http://schemas.microsoft.com/office/drawing/2014/main" id="{0F928518-6B86-5C08-565E-1D20BC6AC8AC}"/>
              </a:ext>
            </a:extLst>
          </p:cNvPr>
          <p:cNvPicPr>
            <a:picLocks noChangeAspect="1"/>
          </p:cNvPicPr>
          <p:nvPr/>
        </p:nvPicPr>
        <p:blipFill>
          <a:blip r:embed="rId3"/>
          <a:stretch>
            <a:fillRect/>
          </a:stretch>
        </p:blipFill>
        <p:spPr>
          <a:xfrm>
            <a:off x="1935959" y="2100868"/>
            <a:ext cx="755406" cy="744378"/>
          </a:xfrm>
          <a:prstGeom prst="ellipse">
            <a:avLst/>
          </a:prstGeom>
        </p:spPr>
      </p:pic>
      <p:sp>
        <p:nvSpPr>
          <p:cNvPr id="13" name="TextBox 12">
            <a:extLst>
              <a:ext uri="{FF2B5EF4-FFF2-40B4-BE49-F238E27FC236}">
                <a16:creationId xmlns:a16="http://schemas.microsoft.com/office/drawing/2014/main" id="{53DA7BCD-42BE-B46A-02E1-D09C1712F43F}"/>
              </a:ext>
            </a:extLst>
          </p:cNvPr>
          <p:cNvSpPr txBox="1"/>
          <p:nvPr/>
        </p:nvSpPr>
        <p:spPr>
          <a:xfrm>
            <a:off x="1068778" y="3098502"/>
            <a:ext cx="2479842" cy="646331"/>
          </a:xfrm>
          <a:prstGeom prst="rect">
            <a:avLst/>
          </a:prstGeom>
          <a:noFill/>
        </p:spPr>
        <p:txBody>
          <a:bodyPr wrap="square">
            <a:spAutoFit/>
          </a:bodyPr>
          <a:lstStyle/>
          <a:p>
            <a:pPr algn="ctr">
              <a:buNone/>
            </a:pPr>
            <a:r>
              <a:rPr lang="en-US" b="1" i="0" dirty="0">
                <a:solidFill>
                  <a:schemeClr val="accent2"/>
                </a:solidFill>
                <a:effectLst/>
                <a:latin typeface="+mj-lt"/>
              </a:rPr>
              <a:t>$45,000</a:t>
            </a:r>
          </a:p>
          <a:p>
            <a:pPr algn="ctr">
              <a:buNone/>
            </a:pPr>
            <a:r>
              <a:rPr lang="en-US" b="0" i="0" dirty="0">
                <a:solidFill>
                  <a:schemeClr val="accent1"/>
                </a:solidFill>
                <a:effectLst/>
                <a:latin typeface="+mj-lt"/>
              </a:rPr>
              <a:t>Cash Deposit</a:t>
            </a:r>
          </a:p>
        </p:txBody>
      </p:sp>
      <p:sp>
        <p:nvSpPr>
          <p:cNvPr id="17" name="TextBox 16">
            <a:extLst>
              <a:ext uri="{FF2B5EF4-FFF2-40B4-BE49-F238E27FC236}">
                <a16:creationId xmlns:a16="http://schemas.microsoft.com/office/drawing/2014/main" id="{7A7EFE71-29B0-76B7-9833-A32E7C586B1D}"/>
              </a:ext>
            </a:extLst>
          </p:cNvPr>
          <p:cNvSpPr txBox="1"/>
          <p:nvPr/>
        </p:nvSpPr>
        <p:spPr>
          <a:xfrm>
            <a:off x="432113" y="3943647"/>
            <a:ext cx="3914942" cy="1000274"/>
          </a:xfrm>
          <a:prstGeom prst="rect">
            <a:avLst/>
          </a:prstGeom>
          <a:noFill/>
        </p:spPr>
        <p:txBody>
          <a:bodyPr wrap="square">
            <a:spAutoFit/>
          </a:bodyPr>
          <a:lstStyle/>
          <a:p>
            <a:pPr algn="l">
              <a:buNone/>
            </a:pPr>
            <a:r>
              <a:rPr lang="en-US" b="0" i="0" dirty="0">
                <a:solidFill>
                  <a:schemeClr val="accent1"/>
                </a:solidFill>
                <a:effectLst/>
                <a:latin typeface="+mj-lt"/>
              </a:rPr>
              <a:t>Form: Cash (bundled $100 bills)</a:t>
            </a:r>
          </a:p>
          <a:p>
            <a:pPr algn="l">
              <a:spcBef>
                <a:spcPts val="300"/>
              </a:spcBef>
              <a:buNone/>
            </a:pPr>
            <a:r>
              <a:rPr lang="en-US" b="0" i="0" dirty="0">
                <a:solidFill>
                  <a:schemeClr val="accent1"/>
                </a:solidFill>
                <a:effectLst/>
                <a:latin typeface="+mj-lt"/>
              </a:rPr>
              <a:t>Deposit Type: Checking Account</a:t>
            </a:r>
          </a:p>
          <a:p>
            <a:pPr algn="l">
              <a:spcBef>
                <a:spcPts val="300"/>
              </a:spcBef>
              <a:buNone/>
            </a:pPr>
            <a:r>
              <a:rPr lang="en-US" b="0" i="0" dirty="0">
                <a:solidFill>
                  <a:schemeClr val="accent1"/>
                </a:solidFill>
                <a:effectLst/>
                <a:latin typeface="+mj-lt"/>
              </a:rPr>
              <a:t>Source: [Not Specified]</a:t>
            </a:r>
          </a:p>
        </p:txBody>
      </p:sp>
      <p:sp>
        <p:nvSpPr>
          <p:cNvPr id="19" name="TextBox 18">
            <a:extLst>
              <a:ext uri="{FF2B5EF4-FFF2-40B4-BE49-F238E27FC236}">
                <a16:creationId xmlns:a16="http://schemas.microsoft.com/office/drawing/2014/main" id="{88EBE5F5-CD37-792B-E7B1-B1EC4C422A42}"/>
              </a:ext>
            </a:extLst>
          </p:cNvPr>
          <p:cNvSpPr txBox="1"/>
          <p:nvPr/>
        </p:nvSpPr>
        <p:spPr>
          <a:xfrm>
            <a:off x="4851400" y="1403602"/>
            <a:ext cx="6858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dirty="0">
                <a:solidFill>
                  <a:schemeClr val="accent1"/>
                </a:solidFill>
              </a:rPr>
              <a:t>Select each tab to review information before making your decision.</a:t>
            </a:r>
          </a:p>
        </p:txBody>
      </p:sp>
      <p:sp>
        <p:nvSpPr>
          <p:cNvPr id="10" name="TextBox 9">
            <a:extLst>
              <a:ext uri="{FF2B5EF4-FFF2-40B4-BE49-F238E27FC236}">
                <a16:creationId xmlns:a16="http://schemas.microsoft.com/office/drawing/2014/main" id="{67B5E081-9AD4-E29A-4CAA-1F7E66FEEAC9}"/>
              </a:ext>
            </a:extLst>
          </p:cNvPr>
          <p:cNvSpPr txBox="1"/>
          <p:nvPr/>
        </p:nvSpPr>
        <p:spPr>
          <a:xfrm>
            <a:off x="432112" y="605513"/>
            <a:ext cx="10591487" cy="369332"/>
          </a:xfrm>
          <a:prstGeom prst="rect">
            <a:avLst/>
          </a:prstGeom>
          <a:noFill/>
        </p:spPr>
        <p:txBody>
          <a:bodyPr wrap="square">
            <a:spAutoFit/>
          </a:bodyPr>
          <a:lstStyle/>
          <a:p>
            <a:r>
              <a:rPr lang="en-US" b="0" dirty="0">
                <a:effectLst/>
                <a:latin typeface="+mj-lt"/>
              </a:rPr>
              <a:t>Before you process the transaction, it’s your duty to review Maria's profile. </a:t>
            </a:r>
            <a:endParaRPr lang="en-UG" dirty="0">
              <a:latin typeface="+mj-lt"/>
            </a:endParaRPr>
          </a:p>
        </p:txBody>
      </p:sp>
      <p:pic>
        <p:nvPicPr>
          <p:cNvPr id="16" name="Picture 15">
            <a:extLst>
              <a:ext uri="{FF2B5EF4-FFF2-40B4-BE49-F238E27FC236}">
                <a16:creationId xmlns:a16="http://schemas.microsoft.com/office/drawing/2014/main" id="{2D9C9A7D-0310-E0DA-1252-F28C6E64AE12}"/>
              </a:ext>
            </a:extLst>
          </p:cNvPr>
          <p:cNvPicPr>
            <a:picLocks noChangeAspect="1"/>
          </p:cNvPicPr>
          <p:nvPr/>
        </p:nvPicPr>
        <p:blipFill>
          <a:blip r:embed="rId4"/>
          <a:stretch>
            <a:fillRect/>
          </a:stretch>
        </p:blipFill>
        <p:spPr>
          <a:xfrm>
            <a:off x="4948649" y="2336018"/>
            <a:ext cx="628662" cy="654148"/>
          </a:xfrm>
          <a:prstGeom prst="rect">
            <a:avLst/>
          </a:prstGeom>
        </p:spPr>
      </p:pic>
      <p:pic>
        <p:nvPicPr>
          <p:cNvPr id="21" name="Picture 20">
            <a:extLst>
              <a:ext uri="{FF2B5EF4-FFF2-40B4-BE49-F238E27FC236}">
                <a16:creationId xmlns:a16="http://schemas.microsoft.com/office/drawing/2014/main" id="{B17BEDAD-AD9C-FAC9-AA97-53DAE590F618}"/>
              </a:ext>
            </a:extLst>
          </p:cNvPr>
          <p:cNvPicPr>
            <a:picLocks noChangeAspect="1"/>
          </p:cNvPicPr>
          <p:nvPr/>
        </p:nvPicPr>
        <p:blipFill>
          <a:blip r:embed="rId5"/>
          <a:stretch>
            <a:fillRect/>
          </a:stretch>
        </p:blipFill>
        <p:spPr>
          <a:xfrm>
            <a:off x="4970874" y="3143304"/>
            <a:ext cx="606437" cy="657685"/>
          </a:xfrm>
          <a:prstGeom prst="rect">
            <a:avLst/>
          </a:prstGeom>
        </p:spPr>
      </p:pic>
      <p:pic>
        <p:nvPicPr>
          <p:cNvPr id="23" name="Picture 22">
            <a:extLst>
              <a:ext uri="{FF2B5EF4-FFF2-40B4-BE49-F238E27FC236}">
                <a16:creationId xmlns:a16="http://schemas.microsoft.com/office/drawing/2014/main" id="{9EACDDD6-3C7E-E196-457F-89F5410A3DBE}"/>
              </a:ext>
            </a:extLst>
          </p:cNvPr>
          <p:cNvPicPr>
            <a:picLocks noChangeAspect="1"/>
          </p:cNvPicPr>
          <p:nvPr/>
        </p:nvPicPr>
        <p:blipFill>
          <a:blip r:embed="rId6"/>
          <a:stretch>
            <a:fillRect/>
          </a:stretch>
        </p:blipFill>
        <p:spPr>
          <a:xfrm>
            <a:off x="4970874" y="3938217"/>
            <a:ext cx="606437" cy="648551"/>
          </a:xfrm>
          <a:prstGeom prst="rect">
            <a:avLst/>
          </a:prstGeom>
        </p:spPr>
      </p:pic>
      <p:pic>
        <p:nvPicPr>
          <p:cNvPr id="25" name="Picture 24">
            <a:extLst>
              <a:ext uri="{FF2B5EF4-FFF2-40B4-BE49-F238E27FC236}">
                <a16:creationId xmlns:a16="http://schemas.microsoft.com/office/drawing/2014/main" id="{A97A3942-9C7D-C5D6-77C7-6FD6337015AA}"/>
              </a:ext>
            </a:extLst>
          </p:cNvPr>
          <p:cNvPicPr>
            <a:picLocks noChangeAspect="1"/>
          </p:cNvPicPr>
          <p:nvPr/>
        </p:nvPicPr>
        <p:blipFill>
          <a:blip r:embed="rId7"/>
          <a:stretch>
            <a:fillRect/>
          </a:stretch>
        </p:blipFill>
        <p:spPr>
          <a:xfrm>
            <a:off x="4970874" y="4723996"/>
            <a:ext cx="606437" cy="649144"/>
          </a:xfrm>
          <a:prstGeom prst="rect">
            <a:avLst/>
          </a:prstGeom>
        </p:spPr>
      </p:pic>
      <p:sp>
        <p:nvSpPr>
          <p:cNvPr id="26" name="TextBox 25">
            <a:extLst>
              <a:ext uri="{FF2B5EF4-FFF2-40B4-BE49-F238E27FC236}">
                <a16:creationId xmlns:a16="http://schemas.microsoft.com/office/drawing/2014/main" id="{7C87E242-8000-FB8D-2308-E9557BEE0A57}"/>
              </a:ext>
            </a:extLst>
          </p:cNvPr>
          <p:cNvSpPr txBox="1"/>
          <p:nvPr/>
        </p:nvSpPr>
        <p:spPr>
          <a:xfrm>
            <a:off x="5577311" y="2475913"/>
            <a:ext cx="3020589" cy="369332"/>
          </a:xfrm>
          <a:prstGeom prst="rect">
            <a:avLst/>
          </a:prstGeom>
          <a:noFill/>
        </p:spPr>
        <p:txBody>
          <a:bodyPr wrap="square">
            <a:spAutoFit/>
          </a:bodyPr>
          <a:lstStyle/>
          <a:p>
            <a:r>
              <a:rPr lang="en-US" b="0" dirty="0">
                <a:solidFill>
                  <a:schemeClr val="bg1"/>
                </a:solidFill>
                <a:effectLst/>
                <a:latin typeface="+mj-lt"/>
              </a:rPr>
              <a:t>Account History</a:t>
            </a:r>
            <a:endParaRPr lang="en-UG" dirty="0">
              <a:solidFill>
                <a:schemeClr val="bg1"/>
              </a:solidFill>
              <a:latin typeface="+mj-lt"/>
            </a:endParaRPr>
          </a:p>
        </p:txBody>
      </p:sp>
      <p:sp>
        <p:nvSpPr>
          <p:cNvPr id="27" name="TextBox 26">
            <a:extLst>
              <a:ext uri="{FF2B5EF4-FFF2-40B4-BE49-F238E27FC236}">
                <a16:creationId xmlns:a16="http://schemas.microsoft.com/office/drawing/2014/main" id="{36F29802-6798-2929-0355-224F62B84778}"/>
              </a:ext>
            </a:extLst>
          </p:cNvPr>
          <p:cNvSpPr txBox="1"/>
          <p:nvPr/>
        </p:nvSpPr>
        <p:spPr>
          <a:xfrm>
            <a:off x="5577311" y="3292380"/>
            <a:ext cx="3020590" cy="369332"/>
          </a:xfrm>
          <a:prstGeom prst="rect">
            <a:avLst/>
          </a:prstGeom>
          <a:noFill/>
        </p:spPr>
        <p:txBody>
          <a:bodyPr wrap="square">
            <a:spAutoFit/>
          </a:bodyPr>
          <a:lstStyle/>
          <a:p>
            <a:r>
              <a:rPr lang="en-US" b="0" dirty="0">
                <a:solidFill>
                  <a:schemeClr val="bg1"/>
                </a:solidFill>
                <a:effectLst/>
                <a:latin typeface="+mj-lt"/>
              </a:rPr>
              <a:t>Recent Activity</a:t>
            </a:r>
            <a:endParaRPr lang="en-UG" dirty="0">
              <a:solidFill>
                <a:schemeClr val="bg1"/>
              </a:solidFill>
              <a:latin typeface="+mj-lt"/>
            </a:endParaRPr>
          </a:p>
        </p:txBody>
      </p:sp>
      <p:sp>
        <p:nvSpPr>
          <p:cNvPr id="28" name="TextBox 27">
            <a:extLst>
              <a:ext uri="{FF2B5EF4-FFF2-40B4-BE49-F238E27FC236}">
                <a16:creationId xmlns:a16="http://schemas.microsoft.com/office/drawing/2014/main" id="{F53E0BD4-B36C-B816-3950-D562624B0B85}"/>
              </a:ext>
            </a:extLst>
          </p:cNvPr>
          <p:cNvSpPr txBox="1"/>
          <p:nvPr/>
        </p:nvSpPr>
        <p:spPr>
          <a:xfrm>
            <a:off x="5657865" y="4078140"/>
            <a:ext cx="2736835" cy="369332"/>
          </a:xfrm>
          <a:prstGeom prst="rect">
            <a:avLst/>
          </a:prstGeom>
          <a:noFill/>
        </p:spPr>
        <p:txBody>
          <a:bodyPr wrap="square">
            <a:spAutoFit/>
          </a:bodyPr>
          <a:lstStyle/>
          <a:p>
            <a:r>
              <a:rPr lang="en-US" b="0" dirty="0">
                <a:solidFill>
                  <a:schemeClr val="bg1"/>
                </a:solidFill>
                <a:effectLst/>
                <a:latin typeface="+mj-lt"/>
              </a:rPr>
              <a:t>Occupation</a:t>
            </a:r>
            <a:endParaRPr lang="en-UG" dirty="0">
              <a:solidFill>
                <a:schemeClr val="bg1"/>
              </a:solidFill>
              <a:latin typeface="+mj-lt"/>
            </a:endParaRPr>
          </a:p>
        </p:txBody>
      </p:sp>
      <p:sp>
        <p:nvSpPr>
          <p:cNvPr id="29" name="TextBox 28">
            <a:extLst>
              <a:ext uri="{FF2B5EF4-FFF2-40B4-BE49-F238E27FC236}">
                <a16:creationId xmlns:a16="http://schemas.microsoft.com/office/drawing/2014/main" id="{2D808601-678A-4E80-E004-622CA7702B77}"/>
              </a:ext>
            </a:extLst>
          </p:cNvPr>
          <p:cNvSpPr txBox="1"/>
          <p:nvPr/>
        </p:nvSpPr>
        <p:spPr>
          <a:xfrm>
            <a:off x="5657865" y="4863902"/>
            <a:ext cx="2736835" cy="368498"/>
          </a:xfrm>
          <a:prstGeom prst="rect">
            <a:avLst/>
          </a:prstGeom>
          <a:noFill/>
        </p:spPr>
        <p:txBody>
          <a:bodyPr wrap="square">
            <a:spAutoFit/>
          </a:bodyPr>
          <a:lstStyle/>
          <a:p>
            <a:r>
              <a:rPr lang="en-US" b="0" dirty="0">
                <a:solidFill>
                  <a:schemeClr val="bg1"/>
                </a:solidFill>
                <a:effectLst/>
                <a:latin typeface="+mj-lt"/>
              </a:rPr>
              <a:t>Profile Details</a:t>
            </a:r>
            <a:endParaRPr lang="en-UG" dirty="0">
              <a:solidFill>
                <a:schemeClr val="bg1"/>
              </a:solidFill>
              <a:latin typeface="+mj-lt"/>
            </a:endParaRPr>
          </a:p>
        </p:txBody>
      </p:sp>
      <p:sp>
        <p:nvSpPr>
          <p:cNvPr id="2" name="Rectangle: Rounded Corners 1">
            <a:extLst>
              <a:ext uri="{FF2B5EF4-FFF2-40B4-BE49-F238E27FC236}">
                <a16:creationId xmlns:a16="http://schemas.microsoft.com/office/drawing/2014/main" id="{0AD2A3C4-43D4-E231-7857-5ABB10180AB0}"/>
              </a:ext>
            </a:extLst>
          </p:cNvPr>
          <p:cNvSpPr/>
          <p:nvPr/>
        </p:nvSpPr>
        <p:spPr>
          <a:xfrm>
            <a:off x="4970873" y="2336018"/>
            <a:ext cx="6052724" cy="3037122"/>
          </a:xfrm>
          <a:prstGeom prst="roundRect">
            <a:avLst>
              <a:gd name="adj" fmla="val 663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Account History</a:t>
            </a:r>
          </a:p>
          <a:p>
            <a:endParaRPr lang="en-US" b="1" dirty="0">
              <a:solidFill>
                <a:schemeClr val="tx1"/>
              </a:solidFill>
            </a:endParaRPr>
          </a:p>
          <a:p>
            <a:r>
              <a:rPr lang="en-US" dirty="0">
                <a:solidFill>
                  <a:schemeClr val="tx1"/>
                </a:solidFill>
              </a:rPr>
              <a:t>Typical deposits of </a:t>
            </a:r>
            <a:r>
              <a:rPr lang="en-US" b="1" dirty="0">
                <a:solidFill>
                  <a:schemeClr val="accent2"/>
                </a:solidFill>
              </a:rPr>
              <a:t>$3,200 </a:t>
            </a:r>
            <a:r>
              <a:rPr lang="en-US" dirty="0">
                <a:solidFill>
                  <a:schemeClr val="tx1"/>
                </a:solidFill>
              </a:rPr>
              <a:t>monthly with consistent direct deposit pattern. No large cash transactions in account history.</a:t>
            </a:r>
          </a:p>
        </p:txBody>
      </p:sp>
      <p:sp>
        <p:nvSpPr>
          <p:cNvPr id="5" name="Oval 4">
            <a:extLst>
              <a:ext uri="{FF2B5EF4-FFF2-40B4-BE49-F238E27FC236}">
                <a16:creationId xmlns:a16="http://schemas.microsoft.com/office/drawing/2014/main" id="{8A356E58-D9A0-3E41-7322-3BAC17026776}"/>
              </a:ext>
            </a:extLst>
          </p:cNvPr>
          <p:cNvSpPr/>
          <p:nvPr/>
        </p:nvSpPr>
        <p:spPr>
          <a:xfrm>
            <a:off x="10444046" y="2458877"/>
            <a:ext cx="386368" cy="38636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X</a:t>
            </a:r>
            <a:endParaRPr lang="en-UG" dirty="0"/>
          </a:p>
        </p:txBody>
      </p:sp>
    </p:spTree>
    <p:extLst>
      <p:ext uri="{BB962C8B-B14F-4D97-AF65-F5344CB8AC3E}">
        <p14:creationId xmlns:p14="http://schemas.microsoft.com/office/powerpoint/2010/main" val="22797828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C2F87-5D09-BEE2-82D2-5A5EE5F56EF4}"/>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76815A28-AC90-312F-7680-13F2C5384D78}"/>
              </a:ext>
            </a:extLst>
          </p:cNvPr>
          <p:cNvSpPr/>
          <p:nvPr/>
        </p:nvSpPr>
        <p:spPr>
          <a:xfrm>
            <a:off x="4970873" y="4706683"/>
            <a:ext cx="6052725" cy="6541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32" name="Rectangle 31">
            <a:extLst>
              <a:ext uri="{FF2B5EF4-FFF2-40B4-BE49-F238E27FC236}">
                <a16:creationId xmlns:a16="http://schemas.microsoft.com/office/drawing/2014/main" id="{41E84F5A-0DAC-0B67-361E-C136A4B8F863}"/>
              </a:ext>
            </a:extLst>
          </p:cNvPr>
          <p:cNvSpPr/>
          <p:nvPr/>
        </p:nvSpPr>
        <p:spPr>
          <a:xfrm>
            <a:off x="4970874" y="3926762"/>
            <a:ext cx="6052724" cy="6541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31" name="Rectangle 30">
            <a:extLst>
              <a:ext uri="{FF2B5EF4-FFF2-40B4-BE49-F238E27FC236}">
                <a16:creationId xmlns:a16="http://schemas.microsoft.com/office/drawing/2014/main" id="{D5EB28EF-5A7F-E7EE-4F9D-90EC4D721C65}"/>
              </a:ext>
            </a:extLst>
          </p:cNvPr>
          <p:cNvSpPr/>
          <p:nvPr/>
        </p:nvSpPr>
        <p:spPr>
          <a:xfrm>
            <a:off x="4970874" y="3135386"/>
            <a:ext cx="6052724" cy="6541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30" name="Rectangle 29">
            <a:extLst>
              <a:ext uri="{FF2B5EF4-FFF2-40B4-BE49-F238E27FC236}">
                <a16:creationId xmlns:a16="http://schemas.microsoft.com/office/drawing/2014/main" id="{766DB0A4-6358-3E25-8BCD-46CC4A2E145A}"/>
              </a:ext>
            </a:extLst>
          </p:cNvPr>
          <p:cNvSpPr/>
          <p:nvPr/>
        </p:nvSpPr>
        <p:spPr>
          <a:xfrm>
            <a:off x="4970874" y="2336019"/>
            <a:ext cx="6052724" cy="6541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3" name="Rectangle: Rounded Corners 2">
            <a:extLst>
              <a:ext uri="{FF2B5EF4-FFF2-40B4-BE49-F238E27FC236}">
                <a16:creationId xmlns:a16="http://schemas.microsoft.com/office/drawing/2014/main" id="{C0444ACD-E4E1-D85A-018C-5F971E932E0B}"/>
              </a:ext>
            </a:extLst>
          </p:cNvPr>
          <p:cNvSpPr/>
          <p:nvPr/>
        </p:nvSpPr>
        <p:spPr>
          <a:xfrm>
            <a:off x="381000" y="1395785"/>
            <a:ext cx="4045942" cy="4066430"/>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4" name="Text Placeholder 8">
            <a:extLst>
              <a:ext uri="{FF2B5EF4-FFF2-40B4-BE49-F238E27FC236}">
                <a16:creationId xmlns:a16="http://schemas.microsoft.com/office/drawing/2014/main" id="{0814B6D7-BF8F-C6A6-DE3B-8415D69A169D}"/>
              </a:ext>
            </a:extLst>
          </p:cNvPr>
          <p:cNvSpPr txBox="1">
            <a:spLocks/>
          </p:cNvSpPr>
          <p:nvPr/>
        </p:nvSpPr>
        <p:spPr>
          <a:xfrm>
            <a:off x="923726" y="1603591"/>
            <a:ext cx="3214854" cy="423862"/>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chemeClr val="accent1"/>
                </a:solidFill>
                <a:latin typeface="+mj-lt"/>
                <a:cs typeface="Arial"/>
              </a:rPr>
              <a:t>Transaction Request</a:t>
            </a:r>
          </a:p>
        </p:txBody>
      </p:sp>
      <p:sp>
        <p:nvSpPr>
          <p:cNvPr id="8" name="Oval 7">
            <a:extLst>
              <a:ext uri="{FF2B5EF4-FFF2-40B4-BE49-F238E27FC236}">
                <a16:creationId xmlns:a16="http://schemas.microsoft.com/office/drawing/2014/main" id="{E618B968-CCE0-B10D-F411-9929B3C1D484}"/>
              </a:ext>
            </a:extLst>
          </p:cNvPr>
          <p:cNvSpPr/>
          <p:nvPr/>
        </p:nvSpPr>
        <p:spPr>
          <a:xfrm>
            <a:off x="1862534" y="2027453"/>
            <a:ext cx="892331" cy="8923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pic>
        <p:nvPicPr>
          <p:cNvPr id="6" name="Picture 5">
            <a:extLst>
              <a:ext uri="{FF2B5EF4-FFF2-40B4-BE49-F238E27FC236}">
                <a16:creationId xmlns:a16="http://schemas.microsoft.com/office/drawing/2014/main" id="{E96C3C3F-94C3-346D-5103-A90C114558B5}"/>
              </a:ext>
            </a:extLst>
          </p:cNvPr>
          <p:cNvPicPr>
            <a:picLocks noChangeAspect="1"/>
          </p:cNvPicPr>
          <p:nvPr/>
        </p:nvPicPr>
        <p:blipFill>
          <a:blip r:embed="rId3"/>
          <a:stretch>
            <a:fillRect/>
          </a:stretch>
        </p:blipFill>
        <p:spPr>
          <a:xfrm>
            <a:off x="1935959" y="2100868"/>
            <a:ext cx="755406" cy="744378"/>
          </a:xfrm>
          <a:prstGeom prst="ellipse">
            <a:avLst/>
          </a:prstGeom>
        </p:spPr>
      </p:pic>
      <p:sp>
        <p:nvSpPr>
          <p:cNvPr id="13" name="TextBox 12">
            <a:extLst>
              <a:ext uri="{FF2B5EF4-FFF2-40B4-BE49-F238E27FC236}">
                <a16:creationId xmlns:a16="http://schemas.microsoft.com/office/drawing/2014/main" id="{FB7B3972-CAFC-F3C6-79E5-88AAE927F89D}"/>
              </a:ext>
            </a:extLst>
          </p:cNvPr>
          <p:cNvSpPr txBox="1"/>
          <p:nvPr/>
        </p:nvSpPr>
        <p:spPr>
          <a:xfrm>
            <a:off x="1068778" y="3098502"/>
            <a:ext cx="2479842" cy="646331"/>
          </a:xfrm>
          <a:prstGeom prst="rect">
            <a:avLst/>
          </a:prstGeom>
          <a:noFill/>
        </p:spPr>
        <p:txBody>
          <a:bodyPr wrap="square">
            <a:spAutoFit/>
          </a:bodyPr>
          <a:lstStyle/>
          <a:p>
            <a:pPr algn="ctr">
              <a:buNone/>
            </a:pPr>
            <a:r>
              <a:rPr lang="en-US" b="1" i="0" dirty="0">
                <a:solidFill>
                  <a:schemeClr val="accent2"/>
                </a:solidFill>
                <a:effectLst/>
                <a:latin typeface="+mj-lt"/>
              </a:rPr>
              <a:t>$45,000</a:t>
            </a:r>
          </a:p>
          <a:p>
            <a:pPr algn="ctr">
              <a:buNone/>
            </a:pPr>
            <a:r>
              <a:rPr lang="en-US" b="0" i="0" dirty="0">
                <a:solidFill>
                  <a:schemeClr val="accent1"/>
                </a:solidFill>
                <a:effectLst/>
                <a:latin typeface="+mj-lt"/>
              </a:rPr>
              <a:t>Cash Deposit</a:t>
            </a:r>
          </a:p>
        </p:txBody>
      </p:sp>
      <p:sp>
        <p:nvSpPr>
          <p:cNvPr id="17" name="TextBox 16">
            <a:extLst>
              <a:ext uri="{FF2B5EF4-FFF2-40B4-BE49-F238E27FC236}">
                <a16:creationId xmlns:a16="http://schemas.microsoft.com/office/drawing/2014/main" id="{4FF30215-2466-2BC2-B20A-B3F8035C321B}"/>
              </a:ext>
            </a:extLst>
          </p:cNvPr>
          <p:cNvSpPr txBox="1"/>
          <p:nvPr/>
        </p:nvSpPr>
        <p:spPr>
          <a:xfrm>
            <a:off x="432113" y="3943647"/>
            <a:ext cx="3914942" cy="1000274"/>
          </a:xfrm>
          <a:prstGeom prst="rect">
            <a:avLst/>
          </a:prstGeom>
          <a:noFill/>
        </p:spPr>
        <p:txBody>
          <a:bodyPr wrap="square">
            <a:spAutoFit/>
          </a:bodyPr>
          <a:lstStyle/>
          <a:p>
            <a:pPr algn="l">
              <a:buNone/>
            </a:pPr>
            <a:r>
              <a:rPr lang="en-US" b="0" i="0" dirty="0">
                <a:solidFill>
                  <a:schemeClr val="accent1"/>
                </a:solidFill>
                <a:effectLst/>
                <a:latin typeface="+mj-lt"/>
              </a:rPr>
              <a:t>Form: Cash (bundled $100 bills)</a:t>
            </a:r>
          </a:p>
          <a:p>
            <a:pPr algn="l">
              <a:spcBef>
                <a:spcPts val="300"/>
              </a:spcBef>
              <a:buNone/>
            </a:pPr>
            <a:r>
              <a:rPr lang="en-US" b="0" i="0" dirty="0">
                <a:solidFill>
                  <a:schemeClr val="accent1"/>
                </a:solidFill>
                <a:effectLst/>
                <a:latin typeface="+mj-lt"/>
              </a:rPr>
              <a:t>Deposit Type: Checking Account</a:t>
            </a:r>
          </a:p>
          <a:p>
            <a:pPr algn="l">
              <a:spcBef>
                <a:spcPts val="300"/>
              </a:spcBef>
              <a:buNone/>
            </a:pPr>
            <a:r>
              <a:rPr lang="en-US" b="0" i="0" dirty="0">
                <a:solidFill>
                  <a:schemeClr val="accent1"/>
                </a:solidFill>
                <a:effectLst/>
                <a:latin typeface="+mj-lt"/>
              </a:rPr>
              <a:t>Source: [Not Specified]</a:t>
            </a:r>
          </a:p>
        </p:txBody>
      </p:sp>
      <p:sp>
        <p:nvSpPr>
          <p:cNvPr id="19" name="TextBox 18">
            <a:extLst>
              <a:ext uri="{FF2B5EF4-FFF2-40B4-BE49-F238E27FC236}">
                <a16:creationId xmlns:a16="http://schemas.microsoft.com/office/drawing/2014/main" id="{14BA03AB-8803-7A9D-621E-2B654175CC9F}"/>
              </a:ext>
            </a:extLst>
          </p:cNvPr>
          <p:cNvSpPr txBox="1"/>
          <p:nvPr/>
        </p:nvSpPr>
        <p:spPr>
          <a:xfrm>
            <a:off x="4851400" y="1403602"/>
            <a:ext cx="6858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dirty="0">
                <a:solidFill>
                  <a:schemeClr val="accent1"/>
                </a:solidFill>
              </a:rPr>
              <a:t>Select each tab to review information before making your decision.</a:t>
            </a:r>
          </a:p>
        </p:txBody>
      </p:sp>
      <p:sp>
        <p:nvSpPr>
          <p:cNvPr id="10" name="TextBox 9">
            <a:extLst>
              <a:ext uri="{FF2B5EF4-FFF2-40B4-BE49-F238E27FC236}">
                <a16:creationId xmlns:a16="http://schemas.microsoft.com/office/drawing/2014/main" id="{DE499AB7-5B14-F8F5-67F3-A80F458F240C}"/>
              </a:ext>
            </a:extLst>
          </p:cNvPr>
          <p:cNvSpPr txBox="1"/>
          <p:nvPr/>
        </p:nvSpPr>
        <p:spPr>
          <a:xfrm>
            <a:off x="432112" y="605513"/>
            <a:ext cx="10591487" cy="369332"/>
          </a:xfrm>
          <a:prstGeom prst="rect">
            <a:avLst/>
          </a:prstGeom>
          <a:noFill/>
        </p:spPr>
        <p:txBody>
          <a:bodyPr wrap="square">
            <a:spAutoFit/>
          </a:bodyPr>
          <a:lstStyle/>
          <a:p>
            <a:r>
              <a:rPr lang="en-US" b="0" dirty="0">
                <a:effectLst/>
                <a:latin typeface="+mj-lt"/>
              </a:rPr>
              <a:t>Before you process the transaction, it’s your duty to review Maria's profile. </a:t>
            </a:r>
            <a:endParaRPr lang="en-UG" dirty="0">
              <a:latin typeface="+mj-lt"/>
            </a:endParaRPr>
          </a:p>
        </p:txBody>
      </p:sp>
      <p:pic>
        <p:nvPicPr>
          <p:cNvPr id="16" name="Picture 15">
            <a:extLst>
              <a:ext uri="{FF2B5EF4-FFF2-40B4-BE49-F238E27FC236}">
                <a16:creationId xmlns:a16="http://schemas.microsoft.com/office/drawing/2014/main" id="{35CF8A23-91BE-E4C6-A681-6CAC9F281216}"/>
              </a:ext>
            </a:extLst>
          </p:cNvPr>
          <p:cNvPicPr>
            <a:picLocks noChangeAspect="1"/>
          </p:cNvPicPr>
          <p:nvPr/>
        </p:nvPicPr>
        <p:blipFill>
          <a:blip r:embed="rId4"/>
          <a:stretch>
            <a:fillRect/>
          </a:stretch>
        </p:blipFill>
        <p:spPr>
          <a:xfrm>
            <a:off x="4948649" y="2336018"/>
            <a:ext cx="628662" cy="654148"/>
          </a:xfrm>
          <a:prstGeom prst="rect">
            <a:avLst/>
          </a:prstGeom>
        </p:spPr>
      </p:pic>
      <p:pic>
        <p:nvPicPr>
          <p:cNvPr id="21" name="Picture 20">
            <a:extLst>
              <a:ext uri="{FF2B5EF4-FFF2-40B4-BE49-F238E27FC236}">
                <a16:creationId xmlns:a16="http://schemas.microsoft.com/office/drawing/2014/main" id="{72719965-4D8B-7B41-A729-7D7DA0C50C90}"/>
              </a:ext>
            </a:extLst>
          </p:cNvPr>
          <p:cNvPicPr>
            <a:picLocks noChangeAspect="1"/>
          </p:cNvPicPr>
          <p:nvPr/>
        </p:nvPicPr>
        <p:blipFill>
          <a:blip r:embed="rId5"/>
          <a:stretch>
            <a:fillRect/>
          </a:stretch>
        </p:blipFill>
        <p:spPr>
          <a:xfrm>
            <a:off x="4970874" y="3143304"/>
            <a:ext cx="606437" cy="657685"/>
          </a:xfrm>
          <a:prstGeom prst="rect">
            <a:avLst/>
          </a:prstGeom>
        </p:spPr>
      </p:pic>
      <p:pic>
        <p:nvPicPr>
          <p:cNvPr id="23" name="Picture 22">
            <a:extLst>
              <a:ext uri="{FF2B5EF4-FFF2-40B4-BE49-F238E27FC236}">
                <a16:creationId xmlns:a16="http://schemas.microsoft.com/office/drawing/2014/main" id="{1FAFAA4D-EE70-12AF-9BC7-0DA47CDB1CD6}"/>
              </a:ext>
            </a:extLst>
          </p:cNvPr>
          <p:cNvPicPr>
            <a:picLocks noChangeAspect="1"/>
          </p:cNvPicPr>
          <p:nvPr/>
        </p:nvPicPr>
        <p:blipFill>
          <a:blip r:embed="rId6"/>
          <a:stretch>
            <a:fillRect/>
          </a:stretch>
        </p:blipFill>
        <p:spPr>
          <a:xfrm>
            <a:off x="4970874" y="3938217"/>
            <a:ext cx="606437" cy="648551"/>
          </a:xfrm>
          <a:prstGeom prst="rect">
            <a:avLst/>
          </a:prstGeom>
        </p:spPr>
      </p:pic>
      <p:pic>
        <p:nvPicPr>
          <p:cNvPr id="25" name="Picture 24">
            <a:extLst>
              <a:ext uri="{FF2B5EF4-FFF2-40B4-BE49-F238E27FC236}">
                <a16:creationId xmlns:a16="http://schemas.microsoft.com/office/drawing/2014/main" id="{B291B933-9128-F780-3F18-0B4389C80695}"/>
              </a:ext>
            </a:extLst>
          </p:cNvPr>
          <p:cNvPicPr>
            <a:picLocks noChangeAspect="1"/>
          </p:cNvPicPr>
          <p:nvPr/>
        </p:nvPicPr>
        <p:blipFill>
          <a:blip r:embed="rId7"/>
          <a:stretch>
            <a:fillRect/>
          </a:stretch>
        </p:blipFill>
        <p:spPr>
          <a:xfrm>
            <a:off x="4970874" y="4723996"/>
            <a:ext cx="606437" cy="649144"/>
          </a:xfrm>
          <a:prstGeom prst="rect">
            <a:avLst/>
          </a:prstGeom>
        </p:spPr>
      </p:pic>
      <p:sp>
        <p:nvSpPr>
          <p:cNvPr id="26" name="TextBox 25">
            <a:extLst>
              <a:ext uri="{FF2B5EF4-FFF2-40B4-BE49-F238E27FC236}">
                <a16:creationId xmlns:a16="http://schemas.microsoft.com/office/drawing/2014/main" id="{5C5120A8-0F88-A170-F69C-29A9348F7D38}"/>
              </a:ext>
            </a:extLst>
          </p:cNvPr>
          <p:cNvSpPr txBox="1"/>
          <p:nvPr/>
        </p:nvSpPr>
        <p:spPr>
          <a:xfrm>
            <a:off x="5577311" y="2475913"/>
            <a:ext cx="3020589" cy="369332"/>
          </a:xfrm>
          <a:prstGeom prst="rect">
            <a:avLst/>
          </a:prstGeom>
          <a:noFill/>
        </p:spPr>
        <p:txBody>
          <a:bodyPr wrap="square">
            <a:spAutoFit/>
          </a:bodyPr>
          <a:lstStyle/>
          <a:p>
            <a:r>
              <a:rPr lang="en-US" b="0" dirty="0">
                <a:solidFill>
                  <a:schemeClr val="bg1"/>
                </a:solidFill>
                <a:effectLst/>
                <a:latin typeface="+mj-lt"/>
              </a:rPr>
              <a:t>Account History</a:t>
            </a:r>
            <a:endParaRPr lang="en-UG" dirty="0">
              <a:solidFill>
                <a:schemeClr val="bg1"/>
              </a:solidFill>
              <a:latin typeface="+mj-lt"/>
            </a:endParaRPr>
          </a:p>
        </p:txBody>
      </p:sp>
      <p:sp>
        <p:nvSpPr>
          <p:cNvPr id="27" name="TextBox 26">
            <a:extLst>
              <a:ext uri="{FF2B5EF4-FFF2-40B4-BE49-F238E27FC236}">
                <a16:creationId xmlns:a16="http://schemas.microsoft.com/office/drawing/2014/main" id="{7CAF0B4D-0489-E763-A3C8-B8D07C59DAC0}"/>
              </a:ext>
            </a:extLst>
          </p:cNvPr>
          <p:cNvSpPr txBox="1"/>
          <p:nvPr/>
        </p:nvSpPr>
        <p:spPr>
          <a:xfrm>
            <a:off x="5577311" y="3292380"/>
            <a:ext cx="3020590" cy="369332"/>
          </a:xfrm>
          <a:prstGeom prst="rect">
            <a:avLst/>
          </a:prstGeom>
          <a:noFill/>
        </p:spPr>
        <p:txBody>
          <a:bodyPr wrap="square">
            <a:spAutoFit/>
          </a:bodyPr>
          <a:lstStyle/>
          <a:p>
            <a:r>
              <a:rPr lang="en-US" b="0" dirty="0">
                <a:solidFill>
                  <a:schemeClr val="bg1"/>
                </a:solidFill>
                <a:effectLst/>
                <a:latin typeface="+mj-lt"/>
              </a:rPr>
              <a:t>Recent Activity</a:t>
            </a:r>
            <a:endParaRPr lang="en-UG" dirty="0">
              <a:solidFill>
                <a:schemeClr val="bg1"/>
              </a:solidFill>
              <a:latin typeface="+mj-lt"/>
            </a:endParaRPr>
          </a:p>
        </p:txBody>
      </p:sp>
      <p:sp>
        <p:nvSpPr>
          <p:cNvPr id="28" name="TextBox 27">
            <a:extLst>
              <a:ext uri="{FF2B5EF4-FFF2-40B4-BE49-F238E27FC236}">
                <a16:creationId xmlns:a16="http://schemas.microsoft.com/office/drawing/2014/main" id="{A8355889-FA29-F348-E01B-55747E2958BB}"/>
              </a:ext>
            </a:extLst>
          </p:cNvPr>
          <p:cNvSpPr txBox="1"/>
          <p:nvPr/>
        </p:nvSpPr>
        <p:spPr>
          <a:xfrm>
            <a:off x="5657865" y="4078140"/>
            <a:ext cx="2736835" cy="369332"/>
          </a:xfrm>
          <a:prstGeom prst="rect">
            <a:avLst/>
          </a:prstGeom>
          <a:noFill/>
        </p:spPr>
        <p:txBody>
          <a:bodyPr wrap="square">
            <a:spAutoFit/>
          </a:bodyPr>
          <a:lstStyle/>
          <a:p>
            <a:r>
              <a:rPr lang="en-US" b="0" dirty="0">
                <a:solidFill>
                  <a:schemeClr val="bg1"/>
                </a:solidFill>
                <a:effectLst/>
                <a:latin typeface="+mj-lt"/>
              </a:rPr>
              <a:t>Occupation</a:t>
            </a:r>
            <a:endParaRPr lang="en-UG" dirty="0">
              <a:solidFill>
                <a:schemeClr val="bg1"/>
              </a:solidFill>
              <a:latin typeface="+mj-lt"/>
            </a:endParaRPr>
          </a:p>
        </p:txBody>
      </p:sp>
      <p:sp>
        <p:nvSpPr>
          <p:cNvPr id="29" name="TextBox 28">
            <a:extLst>
              <a:ext uri="{FF2B5EF4-FFF2-40B4-BE49-F238E27FC236}">
                <a16:creationId xmlns:a16="http://schemas.microsoft.com/office/drawing/2014/main" id="{7FC21DC3-1767-5278-7BF0-34B37B2E955F}"/>
              </a:ext>
            </a:extLst>
          </p:cNvPr>
          <p:cNvSpPr txBox="1"/>
          <p:nvPr/>
        </p:nvSpPr>
        <p:spPr>
          <a:xfrm>
            <a:off x="5657865" y="4863902"/>
            <a:ext cx="2736835" cy="368498"/>
          </a:xfrm>
          <a:prstGeom prst="rect">
            <a:avLst/>
          </a:prstGeom>
          <a:noFill/>
        </p:spPr>
        <p:txBody>
          <a:bodyPr wrap="square">
            <a:spAutoFit/>
          </a:bodyPr>
          <a:lstStyle/>
          <a:p>
            <a:r>
              <a:rPr lang="en-US" b="0" dirty="0">
                <a:solidFill>
                  <a:schemeClr val="bg1"/>
                </a:solidFill>
                <a:effectLst/>
                <a:latin typeface="+mj-lt"/>
              </a:rPr>
              <a:t>Profile Details</a:t>
            </a:r>
            <a:endParaRPr lang="en-UG" dirty="0">
              <a:solidFill>
                <a:schemeClr val="bg1"/>
              </a:solidFill>
              <a:latin typeface="+mj-lt"/>
            </a:endParaRPr>
          </a:p>
        </p:txBody>
      </p:sp>
      <p:sp>
        <p:nvSpPr>
          <p:cNvPr id="2" name="Rectangle: Rounded Corners 1">
            <a:extLst>
              <a:ext uri="{FF2B5EF4-FFF2-40B4-BE49-F238E27FC236}">
                <a16:creationId xmlns:a16="http://schemas.microsoft.com/office/drawing/2014/main" id="{1A74EBB7-9107-E232-CBC7-ED710A4D2ADB}"/>
              </a:ext>
            </a:extLst>
          </p:cNvPr>
          <p:cNvSpPr/>
          <p:nvPr/>
        </p:nvSpPr>
        <p:spPr>
          <a:xfrm>
            <a:off x="4970873" y="2336018"/>
            <a:ext cx="6052724" cy="3037122"/>
          </a:xfrm>
          <a:prstGeom prst="roundRect">
            <a:avLst>
              <a:gd name="adj" fmla="val 663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Recent Activity</a:t>
            </a:r>
          </a:p>
          <a:p>
            <a:endParaRPr lang="en-US" b="1" dirty="0">
              <a:solidFill>
                <a:schemeClr val="tx1"/>
              </a:solidFill>
            </a:endParaRPr>
          </a:p>
          <a:p>
            <a:r>
              <a:rPr lang="en-US" dirty="0">
                <a:solidFill>
                  <a:schemeClr val="tx1"/>
                </a:solidFill>
              </a:rPr>
              <a:t>No unusual withdrawals or transfers in the past 6 months. Regular, predictable transaction patterns consistent with employment income.</a:t>
            </a:r>
          </a:p>
        </p:txBody>
      </p:sp>
      <p:sp>
        <p:nvSpPr>
          <p:cNvPr id="5" name="Oval 4">
            <a:extLst>
              <a:ext uri="{FF2B5EF4-FFF2-40B4-BE49-F238E27FC236}">
                <a16:creationId xmlns:a16="http://schemas.microsoft.com/office/drawing/2014/main" id="{5712D645-35C2-B331-8E1D-961CBD0DE845}"/>
              </a:ext>
            </a:extLst>
          </p:cNvPr>
          <p:cNvSpPr/>
          <p:nvPr/>
        </p:nvSpPr>
        <p:spPr>
          <a:xfrm>
            <a:off x="10444046" y="2458877"/>
            <a:ext cx="386368" cy="38636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X</a:t>
            </a:r>
            <a:endParaRPr lang="en-UG" dirty="0"/>
          </a:p>
        </p:txBody>
      </p:sp>
    </p:spTree>
    <p:extLst>
      <p:ext uri="{BB962C8B-B14F-4D97-AF65-F5344CB8AC3E}">
        <p14:creationId xmlns:p14="http://schemas.microsoft.com/office/powerpoint/2010/main" val="1236152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F33A7-B4FD-83A6-342B-74B30C1AE4C9}"/>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B8546D18-5442-27A4-55C3-B83C5ACDCFF5}"/>
              </a:ext>
            </a:extLst>
          </p:cNvPr>
          <p:cNvSpPr/>
          <p:nvPr/>
        </p:nvSpPr>
        <p:spPr>
          <a:xfrm>
            <a:off x="4970873" y="4706683"/>
            <a:ext cx="6052725" cy="6541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32" name="Rectangle 31">
            <a:extLst>
              <a:ext uri="{FF2B5EF4-FFF2-40B4-BE49-F238E27FC236}">
                <a16:creationId xmlns:a16="http://schemas.microsoft.com/office/drawing/2014/main" id="{598BD9B3-631E-D59A-6603-E5FE78F631F1}"/>
              </a:ext>
            </a:extLst>
          </p:cNvPr>
          <p:cNvSpPr/>
          <p:nvPr/>
        </p:nvSpPr>
        <p:spPr>
          <a:xfrm>
            <a:off x="4970874" y="3926762"/>
            <a:ext cx="6052724" cy="6541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31" name="Rectangle 30">
            <a:extLst>
              <a:ext uri="{FF2B5EF4-FFF2-40B4-BE49-F238E27FC236}">
                <a16:creationId xmlns:a16="http://schemas.microsoft.com/office/drawing/2014/main" id="{63B29D57-A7F0-2D11-6F95-192EF560D3E8}"/>
              </a:ext>
            </a:extLst>
          </p:cNvPr>
          <p:cNvSpPr/>
          <p:nvPr/>
        </p:nvSpPr>
        <p:spPr>
          <a:xfrm>
            <a:off x="4970874" y="3135386"/>
            <a:ext cx="6052724" cy="6541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30" name="Rectangle 29">
            <a:extLst>
              <a:ext uri="{FF2B5EF4-FFF2-40B4-BE49-F238E27FC236}">
                <a16:creationId xmlns:a16="http://schemas.microsoft.com/office/drawing/2014/main" id="{85E60127-4C21-88E3-1954-D15458FB53BD}"/>
              </a:ext>
            </a:extLst>
          </p:cNvPr>
          <p:cNvSpPr/>
          <p:nvPr/>
        </p:nvSpPr>
        <p:spPr>
          <a:xfrm>
            <a:off x="4970874" y="2336019"/>
            <a:ext cx="6052724" cy="6541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3" name="Rectangle: Rounded Corners 2">
            <a:extLst>
              <a:ext uri="{FF2B5EF4-FFF2-40B4-BE49-F238E27FC236}">
                <a16:creationId xmlns:a16="http://schemas.microsoft.com/office/drawing/2014/main" id="{08CAA298-62B3-C4AB-DE51-CE8FDB732751}"/>
              </a:ext>
            </a:extLst>
          </p:cNvPr>
          <p:cNvSpPr/>
          <p:nvPr/>
        </p:nvSpPr>
        <p:spPr>
          <a:xfrm>
            <a:off x="381000" y="1395785"/>
            <a:ext cx="4045942" cy="4066430"/>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4" name="Text Placeholder 8">
            <a:extLst>
              <a:ext uri="{FF2B5EF4-FFF2-40B4-BE49-F238E27FC236}">
                <a16:creationId xmlns:a16="http://schemas.microsoft.com/office/drawing/2014/main" id="{253C3BF2-9E74-CD42-3303-0C7F54968A3D}"/>
              </a:ext>
            </a:extLst>
          </p:cNvPr>
          <p:cNvSpPr txBox="1">
            <a:spLocks/>
          </p:cNvSpPr>
          <p:nvPr/>
        </p:nvSpPr>
        <p:spPr>
          <a:xfrm>
            <a:off x="923726" y="1603591"/>
            <a:ext cx="3214854" cy="423862"/>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chemeClr val="accent1"/>
                </a:solidFill>
                <a:latin typeface="+mj-lt"/>
                <a:cs typeface="Arial"/>
              </a:rPr>
              <a:t>Transaction Request</a:t>
            </a:r>
          </a:p>
        </p:txBody>
      </p:sp>
      <p:sp>
        <p:nvSpPr>
          <p:cNvPr id="8" name="Oval 7">
            <a:extLst>
              <a:ext uri="{FF2B5EF4-FFF2-40B4-BE49-F238E27FC236}">
                <a16:creationId xmlns:a16="http://schemas.microsoft.com/office/drawing/2014/main" id="{DB893FD0-BC72-FCE3-F9B5-EA8963B112DA}"/>
              </a:ext>
            </a:extLst>
          </p:cNvPr>
          <p:cNvSpPr/>
          <p:nvPr/>
        </p:nvSpPr>
        <p:spPr>
          <a:xfrm>
            <a:off x="1862534" y="2027453"/>
            <a:ext cx="892331" cy="8923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pic>
        <p:nvPicPr>
          <p:cNvPr id="6" name="Picture 5">
            <a:extLst>
              <a:ext uri="{FF2B5EF4-FFF2-40B4-BE49-F238E27FC236}">
                <a16:creationId xmlns:a16="http://schemas.microsoft.com/office/drawing/2014/main" id="{15D08BA6-7C8D-A0C9-7170-82AC45603129}"/>
              </a:ext>
            </a:extLst>
          </p:cNvPr>
          <p:cNvPicPr>
            <a:picLocks noChangeAspect="1"/>
          </p:cNvPicPr>
          <p:nvPr/>
        </p:nvPicPr>
        <p:blipFill>
          <a:blip r:embed="rId3"/>
          <a:stretch>
            <a:fillRect/>
          </a:stretch>
        </p:blipFill>
        <p:spPr>
          <a:xfrm>
            <a:off x="1935959" y="2100868"/>
            <a:ext cx="755406" cy="744378"/>
          </a:xfrm>
          <a:prstGeom prst="ellipse">
            <a:avLst/>
          </a:prstGeom>
        </p:spPr>
      </p:pic>
      <p:sp>
        <p:nvSpPr>
          <p:cNvPr id="13" name="TextBox 12">
            <a:extLst>
              <a:ext uri="{FF2B5EF4-FFF2-40B4-BE49-F238E27FC236}">
                <a16:creationId xmlns:a16="http://schemas.microsoft.com/office/drawing/2014/main" id="{3DF875EF-4958-5B88-ADB0-798EFEAAE7AF}"/>
              </a:ext>
            </a:extLst>
          </p:cNvPr>
          <p:cNvSpPr txBox="1"/>
          <p:nvPr/>
        </p:nvSpPr>
        <p:spPr>
          <a:xfrm>
            <a:off x="1068778" y="3098502"/>
            <a:ext cx="2479842" cy="646331"/>
          </a:xfrm>
          <a:prstGeom prst="rect">
            <a:avLst/>
          </a:prstGeom>
          <a:noFill/>
        </p:spPr>
        <p:txBody>
          <a:bodyPr wrap="square">
            <a:spAutoFit/>
          </a:bodyPr>
          <a:lstStyle/>
          <a:p>
            <a:pPr algn="ctr">
              <a:buNone/>
            </a:pPr>
            <a:r>
              <a:rPr lang="en-US" b="1" i="0" dirty="0">
                <a:solidFill>
                  <a:schemeClr val="accent2"/>
                </a:solidFill>
                <a:effectLst/>
                <a:latin typeface="+mj-lt"/>
              </a:rPr>
              <a:t>$45,000</a:t>
            </a:r>
          </a:p>
          <a:p>
            <a:pPr algn="ctr">
              <a:buNone/>
            </a:pPr>
            <a:r>
              <a:rPr lang="en-US" b="0" i="0" dirty="0">
                <a:solidFill>
                  <a:schemeClr val="accent1"/>
                </a:solidFill>
                <a:effectLst/>
                <a:latin typeface="+mj-lt"/>
              </a:rPr>
              <a:t>Cash Deposit</a:t>
            </a:r>
          </a:p>
        </p:txBody>
      </p:sp>
      <p:sp>
        <p:nvSpPr>
          <p:cNvPr id="17" name="TextBox 16">
            <a:extLst>
              <a:ext uri="{FF2B5EF4-FFF2-40B4-BE49-F238E27FC236}">
                <a16:creationId xmlns:a16="http://schemas.microsoft.com/office/drawing/2014/main" id="{49FF8F56-ABFB-5459-013C-557D97B67DA7}"/>
              </a:ext>
            </a:extLst>
          </p:cNvPr>
          <p:cNvSpPr txBox="1"/>
          <p:nvPr/>
        </p:nvSpPr>
        <p:spPr>
          <a:xfrm>
            <a:off x="432113" y="3943647"/>
            <a:ext cx="3914942" cy="1000274"/>
          </a:xfrm>
          <a:prstGeom prst="rect">
            <a:avLst/>
          </a:prstGeom>
          <a:noFill/>
        </p:spPr>
        <p:txBody>
          <a:bodyPr wrap="square">
            <a:spAutoFit/>
          </a:bodyPr>
          <a:lstStyle/>
          <a:p>
            <a:pPr algn="l">
              <a:buNone/>
            </a:pPr>
            <a:r>
              <a:rPr lang="en-US" b="0" i="0" dirty="0">
                <a:solidFill>
                  <a:schemeClr val="accent1"/>
                </a:solidFill>
                <a:effectLst/>
                <a:latin typeface="+mj-lt"/>
              </a:rPr>
              <a:t>Form: Cash (bundled $100 bills)</a:t>
            </a:r>
          </a:p>
          <a:p>
            <a:pPr algn="l">
              <a:spcBef>
                <a:spcPts val="300"/>
              </a:spcBef>
              <a:buNone/>
            </a:pPr>
            <a:r>
              <a:rPr lang="en-US" b="0" i="0" dirty="0">
                <a:solidFill>
                  <a:schemeClr val="accent1"/>
                </a:solidFill>
                <a:effectLst/>
                <a:latin typeface="+mj-lt"/>
              </a:rPr>
              <a:t>Deposit Type: Checking Account</a:t>
            </a:r>
          </a:p>
          <a:p>
            <a:pPr algn="l">
              <a:spcBef>
                <a:spcPts val="300"/>
              </a:spcBef>
              <a:buNone/>
            </a:pPr>
            <a:r>
              <a:rPr lang="en-US" b="0" i="0" dirty="0">
                <a:solidFill>
                  <a:schemeClr val="accent1"/>
                </a:solidFill>
                <a:effectLst/>
                <a:latin typeface="+mj-lt"/>
              </a:rPr>
              <a:t>Source: [Not Specified]</a:t>
            </a:r>
          </a:p>
        </p:txBody>
      </p:sp>
      <p:sp>
        <p:nvSpPr>
          <p:cNvPr id="19" name="TextBox 18">
            <a:extLst>
              <a:ext uri="{FF2B5EF4-FFF2-40B4-BE49-F238E27FC236}">
                <a16:creationId xmlns:a16="http://schemas.microsoft.com/office/drawing/2014/main" id="{394AD85A-942F-159D-6F04-0A80484CF41A}"/>
              </a:ext>
            </a:extLst>
          </p:cNvPr>
          <p:cNvSpPr txBox="1"/>
          <p:nvPr/>
        </p:nvSpPr>
        <p:spPr>
          <a:xfrm>
            <a:off x="4851400" y="1403602"/>
            <a:ext cx="6858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dirty="0">
                <a:solidFill>
                  <a:schemeClr val="accent1"/>
                </a:solidFill>
              </a:rPr>
              <a:t>Select each tab to review information before making your decision.</a:t>
            </a:r>
          </a:p>
        </p:txBody>
      </p:sp>
      <p:sp>
        <p:nvSpPr>
          <p:cNvPr id="10" name="TextBox 9">
            <a:extLst>
              <a:ext uri="{FF2B5EF4-FFF2-40B4-BE49-F238E27FC236}">
                <a16:creationId xmlns:a16="http://schemas.microsoft.com/office/drawing/2014/main" id="{1CF27390-28FE-4168-9C12-54B8973E7E5D}"/>
              </a:ext>
            </a:extLst>
          </p:cNvPr>
          <p:cNvSpPr txBox="1"/>
          <p:nvPr/>
        </p:nvSpPr>
        <p:spPr>
          <a:xfrm>
            <a:off x="432112" y="605513"/>
            <a:ext cx="10591487" cy="369332"/>
          </a:xfrm>
          <a:prstGeom prst="rect">
            <a:avLst/>
          </a:prstGeom>
          <a:noFill/>
        </p:spPr>
        <p:txBody>
          <a:bodyPr wrap="square">
            <a:spAutoFit/>
          </a:bodyPr>
          <a:lstStyle/>
          <a:p>
            <a:r>
              <a:rPr lang="en-US" b="0" dirty="0">
                <a:effectLst/>
                <a:latin typeface="+mj-lt"/>
              </a:rPr>
              <a:t>Before you process the transaction, it’s your duty to review Maria's profile. </a:t>
            </a:r>
            <a:endParaRPr lang="en-UG" dirty="0">
              <a:latin typeface="+mj-lt"/>
            </a:endParaRPr>
          </a:p>
        </p:txBody>
      </p:sp>
      <p:pic>
        <p:nvPicPr>
          <p:cNvPr id="16" name="Picture 15">
            <a:extLst>
              <a:ext uri="{FF2B5EF4-FFF2-40B4-BE49-F238E27FC236}">
                <a16:creationId xmlns:a16="http://schemas.microsoft.com/office/drawing/2014/main" id="{B70FB7BC-8594-90C0-EB0A-5655F572D800}"/>
              </a:ext>
            </a:extLst>
          </p:cNvPr>
          <p:cNvPicPr>
            <a:picLocks noChangeAspect="1"/>
          </p:cNvPicPr>
          <p:nvPr/>
        </p:nvPicPr>
        <p:blipFill>
          <a:blip r:embed="rId4"/>
          <a:stretch>
            <a:fillRect/>
          </a:stretch>
        </p:blipFill>
        <p:spPr>
          <a:xfrm>
            <a:off x="4948649" y="2336018"/>
            <a:ext cx="628662" cy="654148"/>
          </a:xfrm>
          <a:prstGeom prst="rect">
            <a:avLst/>
          </a:prstGeom>
        </p:spPr>
      </p:pic>
      <p:pic>
        <p:nvPicPr>
          <p:cNvPr id="21" name="Picture 20">
            <a:extLst>
              <a:ext uri="{FF2B5EF4-FFF2-40B4-BE49-F238E27FC236}">
                <a16:creationId xmlns:a16="http://schemas.microsoft.com/office/drawing/2014/main" id="{BBF4322E-26F4-8D9A-7E9A-BC40D60DAB19}"/>
              </a:ext>
            </a:extLst>
          </p:cNvPr>
          <p:cNvPicPr>
            <a:picLocks noChangeAspect="1"/>
          </p:cNvPicPr>
          <p:nvPr/>
        </p:nvPicPr>
        <p:blipFill>
          <a:blip r:embed="rId5"/>
          <a:stretch>
            <a:fillRect/>
          </a:stretch>
        </p:blipFill>
        <p:spPr>
          <a:xfrm>
            <a:off x="4970874" y="3143304"/>
            <a:ext cx="606437" cy="657685"/>
          </a:xfrm>
          <a:prstGeom prst="rect">
            <a:avLst/>
          </a:prstGeom>
        </p:spPr>
      </p:pic>
      <p:pic>
        <p:nvPicPr>
          <p:cNvPr id="23" name="Picture 22">
            <a:extLst>
              <a:ext uri="{FF2B5EF4-FFF2-40B4-BE49-F238E27FC236}">
                <a16:creationId xmlns:a16="http://schemas.microsoft.com/office/drawing/2014/main" id="{CAB5CF53-6A84-DC1F-3114-110EC8E338DB}"/>
              </a:ext>
            </a:extLst>
          </p:cNvPr>
          <p:cNvPicPr>
            <a:picLocks noChangeAspect="1"/>
          </p:cNvPicPr>
          <p:nvPr/>
        </p:nvPicPr>
        <p:blipFill>
          <a:blip r:embed="rId6"/>
          <a:stretch>
            <a:fillRect/>
          </a:stretch>
        </p:blipFill>
        <p:spPr>
          <a:xfrm>
            <a:off x="4970874" y="3938217"/>
            <a:ext cx="606437" cy="648551"/>
          </a:xfrm>
          <a:prstGeom prst="rect">
            <a:avLst/>
          </a:prstGeom>
        </p:spPr>
      </p:pic>
      <p:pic>
        <p:nvPicPr>
          <p:cNvPr id="25" name="Picture 24">
            <a:extLst>
              <a:ext uri="{FF2B5EF4-FFF2-40B4-BE49-F238E27FC236}">
                <a16:creationId xmlns:a16="http://schemas.microsoft.com/office/drawing/2014/main" id="{BB32E200-60A5-F803-F0B4-8400EEBC371F}"/>
              </a:ext>
            </a:extLst>
          </p:cNvPr>
          <p:cNvPicPr>
            <a:picLocks noChangeAspect="1"/>
          </p:cNvPicPr>
          <p:nvPr/>
        </p:nvPicPr>
        <p:blipFill>
          <a:blip r:embed="rId7"/>
          <a:stretch>
            <a:fillRect/>
          </a:stretch>
        </p:blipFill>
        <p:spPr>
          <a:xfrm>
            <a:off x="4970874" y="4723996"/>
            <a:ext cx="606437" cy="649144"/>
          </a:xfrm>
          <a:prstGeom prst="rect">
            <a:avLst/>
          </a:prstGeom>
        </p:spPr>
      </p:pic>
      <p:sp>
        <p:nvSpPr>
          <p:cNvPr id="26" name="TextBox 25">
            <a:extLst>
              <a:ext uri="{FF2B5EF4-FFF2-40B4-BE49-F238E27FC236}">
                <a16:creationId xmlns:a16="http://schemas.microsoft.com/office/drawing/2014/main" id="{0399B37F-E0A5-730B-1912-AD0F3E06CB29}"/>
              </a:ext>
            </a:extLst>
          </p:cNvPr>
          <p:cNvSpPr txBox="1"/>
          <p:nvPr/>
        </p:nvSpPr>
        <p:spPr>
          <a:xfrm>
            <a:off x="5577311" y="2475913"/>
            <a:ext cx="3020589" cy="369332"/>
          </a:xfrm>
          <a:prstGeom prst="rect">
            <a:avLst/>
          </a:prstGeom>
          <a:noFill/>
        </p:spPr>
        <p:txBody>
          <a:bodyPr wrap="square">
            <a:spAutoFit/>
          </a:bodyPr>
          <a:lstStyle/>
          <a:p>
            <a:r>
              <a:rPr lang="en-US" b="0" dirty="0">
                <a:solidFill>
                  <a:schemeClr val="bg1"/>
                </a:solidFill>
                <a:effectLst/>
                <a:latin typeface="+mj-lt"/>
              </a:rPr>
              <a:t>Account History</a:t>
            </a:r>
            <a:endParaRPr lang="en-UG" dirty="0">
              <a:solidFill>
                <a:schemeClr val="bg1"/>
              </a:solidFill>
              <a:latin typeface="+mj-lt"/>
            </a:endParaRPr>
          </a:p>
        </p:txBody>
      </p:sp>
      <p:sp>
        <p:nvSpPr>
          <p:cNvPr id="27" name="TextBox 26">
            <a:extLst>
              <a:ext uri="{FF2B5EF4-FFF2-40B4-BE49-F238E27FC236}">
                <a16:creationId xmlns:a16="http://schemas.microsoft.com/office/drawing/2014/main" id="{A7238E27-6E95-7304-5D62-8E49CB5CE31E}"/>
              </a:ext>
            </a:extLst>
          </p:cNvPr>
          <p:cNvSpPr txBox="1"/>
          <p:nvPr/>
        </p:nvSpPr>
        <p:spPr>
          <a:xfrm>
            <a:off x="5577311" y="3292380"/>
            <a:ext cx="3020590" cy="369332"/>
          </a:xfrm>
          <a:prstGeom prst="rect">
            <a:avLst/>
          </a:prstGeom>
          <a:noFill/>
        </p:spPr>
        <p:txBody>
          <a:bodyPr wrap="square">
            <a:spAutoFit/>
          </a:bodyPr>
          <a:lstStyle/>
          <a:p>
            <a:r>
              <a:rPr lang="en-US" b="0" dirty="0">
                <a:solidFill>
                  <a:schemeClr val="bg1"/>
                </a:solidFill>
                <a:effectLst/>
                <a:latin typeface="+mj-lt"/>
              </a:rPr>
              <a:t>Recent Activity</a:t>
            </a:r>
            <a:endParaRPr lang="en-UG" dirty="0">
              <a:solidFill>
                <a:schemeClr val="bg1"/>
              </a:solidFill>
              <a:latin typeface="+mj-lt"/>
            </a:endParaRPr>
          </a:p>
        </p:txBody>
      </p:sp>
      <p:sp>
        <p:nvSpPr>
          <p:cNvPr id="28" name="TextBox 27">
            <a:extLst>
              <a:ext uri="{FF2B5EF4-FFF2-40B4-BE49-F238E27FC236}">
                <a16:creationId xmlns:a16="http://schemas.microsoft.com/office/drawing/2014/main" id="{F74D16AB-BD5E-544C-AF83-62448BF40C11}"/>
              </a:ext>
            </a:extLst>
          </p:cNvPr>
          <p:cNvSpPr txBox="1"/>
          <p:nvPr/>
        </p:nvSpPr>
        <p:spPr>
          <a:xfrm>
            <a:off x="5657865" y="4078140"/>
            <a:ext cx="2736835" cy="369332"/>
          </a:xfrm>
          <a:prstGeom prst="rect">
            <a:avLst/>
          </a:prstGeom>
          <a:noFill/>
        </p:spPr>
        <p:txBody>
          <a:bodyPr wrap="square">
            <a:spAutoFit/>
          </a:bodyPr>
          <a:lstStyle/>
          <a:p>
            <a:r>
              <a:rPr lang="en-US" b="0" dirty="0">
                <a:solidFill>
                  <a:schemeClr val="bg1"/>
                </a:solidFill>
                <a:effectLst/>
                <a:latin typeface="+mj-lt"/>
              </a:rPr>
              <a:t>Occupation</a:t>
            </a:r>
            <a:endParaRPr lang="en-UG" dirty="0">
              <a:solidFill>
                <a:schemeClr val="bg1"/>
              </a:solidFill>
              <a:latin typeface="+mj-lt"/>
            </a:endParaRPr>
          </a:p>
        </p:txBody>
      </p:sp>
      <p:sp>
        <p:nvSpPr>
          <p:cNvPr id="29" name="TextBox 28">
            <a:extLst>
              <a:ext uri="{FF2B5EF4-FFF2-40B4-BE49-F238E27FC236}">
                <a16:creationId xmlns:a16="http://schemas.microsoft.com/office/drawing/2014/main" id="{74376C56-C916-58EA-023F-DD1B3FA9C078}"/>
              </a:ext>
            </a:extLst>
          </p:cNvPr>
          <p:cNvSpPr txBox="1"/>
          <p:nvPr/>
        </p:nvSpPr>
        <p:spPr>
          <a:xfrm>
            <a:off x="5657865" y="4863902"/>
            <a:ext cx="2736835" cy="368498"/>
          </a:xfrm>
          <a:prstGeom prst="rect">
            <a:avLst/>
          </a:prstGeom>
          <a:noFill/>
        </p:spPr>
        <p:txBody>
          <a:bodyPr wrap="square">
            <a:spAutoFit/>
          </a:bodyPr>
          <a:lstStyle/>
          <a:p>
            <a:r>
              <a:rPr lang="en-US" b="0" dirty="0">
                <a:solidFill>
                  <a:schemeClr val="bg1"/>
                </a:solidFill>
                <a:effectLst/>
                <a:latin typeface="+mj-lt"/>
              </a:rPr>
              <a:t>Profile Details</a:t>
            </a:r>
            <a:endParaRPr lang="en-UG" dirty="0">
              <a:solidFill>
                <a:schemeClr val="bg1"/>
              </a:solidFill>
              <a:latin typeface="+mj-lt"/>
            </a:endParaRPr>
          </a:p>
        </p:txBody>
      </p:sp>
      <p:sp>
        <p:nvSpPr>
          <p:cNvPr id="2" name="Rectangle: Rounded Corners 1">
            <a:extLst>
              <a:ext uri="{FF2B5EF4-FFF2-40B4-BE49-F238E27FC236}">
                <a16:creationId xmlns:a16="http://schemas.microsoft.com/office/drawing/2014/main" id="{BD995F77-1962-732B-A252-DC1D67F36338}"/>
              </a:ext>
            </a:extLst>
          </p:cNvPr>
          <p:cNvSpPr/>
          <p:nvPr/>
        </p:nvSpPr>
        <p:spPr>
          <a:xfrm>
            <a:off x="4970873" y="2336018"/>
            <a:ext cx="6052724" cy="3037122"/>
          </a:xfrm>
          <a:prstGeom prst="roundRect">
            <a:avLst>
              <a:gd name="adj" fmla="val 663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Occupation Verification</a:t>
            </a:r>
          </a:p>
          <a:p>
            <a:endParaRPr lang="en-US" b="1" dirty="0">
              <a:solidFill>
                <a:schemeClr val="tx1"/>
              </a:solidFill>
            </a:endParaRPr>
          </a:p>
          <a:p>
            <a:r>
              <a:rPr lang="en-US" dirty="0">
                <a:solidFill>
                  <a:schemeClr val="tx1"/>
                </a:solidFill>
              </a:rPr>
              <a:t>Public records confirm employment as a teacher at Lincoln Elementary School. </a:t>
            </a:r>
          </a:p>
          <a:p>
            <a:r>
              <a:rPr lang="en-US" dirty="0">
                <a:solidFill>
                  <a:schemeClr val="tx1"/>
                </a:solidFill>
              </a:rPr>
              <a:t>Annual salary: approximately $52,000.</a:t>
            </a:r>
          </a:p>
        </p:txBody>
      </p:sp>
      <p:sp>
        <p:nvSpPr>
          <p:cNvPr id="5" name="Oval 4">
            <a:extLst>
              <a:ext uri="{FF2B5EF4-FFF2-40B4-BE49-F238E27FC236}">
                <a16:creationId xmlns:a16="http://schemas.microsoft.com/office/drawing/2014/main" id="{8FAFB04B-070A-4429-D50F-9AB4DAF111CC}"/>
              </a:ext>
            </a:extLst>
          </p:cNvPr>
          <p:cNvSpPr/>
          <p:nvPr/>
        </p:nvSpPr>
        <p:spPr>
          <a:xfrm>
            <a:off x="10444046" y="2458877"/>
            <a:ext cx="386368" cy="38636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X</a:t>
            </a:r>
            <a:endParaRPr lang="en-UG" dirty="0"/>
          </a:p>
        </p:txBody>
      </p:sp>
    </p:spTree>
    <p:extLst>
      <p:ext uri="{BB962C8B-B14F-4D97-AF65-F5344CB8AC3E}">
        <p14:creationId xmlns:p14="http://schemas.microsoft.com/office/powerpoint/2010/main" val="1769860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D4133-D274-0EEB-8EC7-8CE0A70BEEBC}"/>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2A006533-E100-CDA2-E2EF-987CF52587B4}"/>
              </a:ext>
            </a:extLst>
          </p:cNvPr>
          <p:cNvSpPr/>
          <p:nvPr/>
        </p:nvSpPr>
        <p:spPr>
          <a:xfrm>
            <a:off x="4970873" y="4706683"/>
            <a:ext cx="6052725" cy="6541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32" name="Rectangle 31">
            <a:extLst>
              <a:ext uri="{FF2B5EF4-FFF2-40B4-BE49-F238E27FC236}">
                <a16:creationId xmlns:a16="http://schemas.microsoft.com/office/drawing/2014/main" id="{431F9A9C-D4A4-ACB6-1B2B-5BC11C8B2852}"/>
              </a:ext>
            </a:extLst>
          </p:cNvPr>
          <p:cNvSpPr/>
          <p:nvPr/>
        </p:nvSpPr>
        <p:spPr>
          <a:xfrm>
            <a:off x="4970874" y="3926762"/>
            <a:ext cx="6052724" cy="6541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31" name="Rectangle 30">
            <a:extLst>
              <a:ext uri="{FF2B5EF4-FFF2-40B4-BE49-F238E27FC236}">
                <a16:creationId xmlns:a16="http://schemas.microsoft.com/office/drawing/2014/main" id="{2614BC95-0649-9D83-3D59-CA3DE4A1011D}"/>
              </a:ext>
            </a:extLst>
          </p:cNvPr>
          <p:cNvSpPr/>
          <p:nvPr/>
        </p:nvSpPr>
        <p:spPr>
          <a:xfrm>
            <a:off x="4970874" y="3135386"/>
            <a:ext cx="6052724" cy="6541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30" name="Rectangle 29">
            <a:extLst>
              <a:ext uri="{FF2B5EF4-FFF2-40B4-BE49-F238E27FC236}">
                <a16:creationId xmlns:a16="http://schemas.microsoft.com/office/drawing/2014/main" id="{EFDEEA4C-2A3E-B0F2-C3D9-8A93DF3BB47D}"/>
              </a:ext>
            </a:extLst>
          </p:cNvPr>
          <p:cNvSpPr/>
          <p:nvPr/>
        </p:nvSpPr>
        <p:spPr>
          <a:xfrm>
            <a:off x="4970874" y="2336019"/>
            <a:ext cx="6052724" cy="65414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3" name="Rectangle: Rounded Corners 2">
            <a:extLst>
              <a:ext uri="{FF2B5EF4-FFF2-40B4-BE49-F238E27FC236}">
                <a16:creationId xmlns:a16="http://schemas.microsoft.com/office/drawing/2014/main" id="{7685874F-1761-E509-7375-B139D1483607}"/>
              </a:ext>
            </a:extLst>
          </p:cNvPr>
          <p:cNvSpPr/>
          <p:nvPr/>
        </p:nvSpPr>
        <p:spPr>
          <a:xfrm>
            <a:off x="381000" y="1395785"/>
            <a:ext cx="4045942" cy="4066430"/>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4" name="Text Placeholder 8">
            <a:extLst>
              <a:ext uri="{FF2B5EF4-FFF2-40B4-BE49-F238E27FC236}">
                <a16:creationId xmlns:a16="http://schemas.microsoft.com/office/drawing/2014/main" id="{98CB3B91-9D8C-4B2C-CDC3-7491C881D644}"/>
              </a:ext>
            </a:extLst>
          </p:cNvPr>
          <p:cNvSpPr txBox="1">
            <a:spLocks/>
          </p:cNvSpPr>
          <p:nvPr/>
        </p:nvSpPr>
        <p:spPr>
          <a:xfrm>
            <a:off x="923726" y="1603591"/>
            <a:ext cx="3214854" cy="423862"/>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chemeClr val="accent1"/>
                </a:solidFill>
                <a:latin typeface="+mj-lt"/>
                <a:cs typeface="Arial"/>
              </a:rPr>
              <a:t>Transaction Request</a:t>
            </a:r>
          </a:p>
        </p:txBody>
      </p:sp>
      <p:sp>
        <p:nvSpPr>
          <p:cNvPr id="8" name="Oval 7">
            <a:extLst>
              <a:ext uri="{FF2B5EF4-FFF2-40B4-BE49-F238E27FC236}">
                <a16:creationId xmlns:a16="http://schemas.microsoft.com/office/drawing/2014/main" id="{4DC1F251-087E-84FD-11F8-40FD65F6ACBC}"/>
              </a:ext>
            </a:extLst>
          </p:cNvPr>
          <p:cNvSpPr/>
          <p:nvPr/>
        </p:nvSpPr>
        <p:spPr>
          <a:xfrm>
            <a:off x="1862534" y="2027453"/>
            <a:ext cx="892331" cy="8923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pic>
        <p:nvPicPr>
          <p:cNvPr id="6" name="Picture 5">
            <a:extLst>
              <a:ext uri="{FF2B5EF4-FFF2-40B4-BE49-F238E27FC236}">
                <a16:creationId xmlns:a16="http://schemas.microsoft.com/office/drawing/2014/main" id="{C6818A0F-5734-0D70-4907-63995F9D4EBE}"/>
              </a:ext>
            </a:extLst>
          </p:cNvPr>
          <p:cNvPicPr>
            <a:picLocks noChangeAspect="1"/>
          </p:cNvPicPr>
          <p:nvPr/>
        </p:nvPicPr>
        <p:blipFill>
          <a:blip r:embed="rId3"/>
          <a:stretch>
            <a:fillRect/>
          </a:stretch>
        </p:blipFill>
        <p:spPr>
          <a:xfrm>
            <a:off x="1935959" y="2100868"/>
            <a:ext cx="755406" cy="744378"/>
          </a:xfrm>
          <a:prstGeom prst="ellipse">
            <a:avLst/>
          </a:prstGeom>
        </p:spPr>
      </p:pic>
      <p:sp>
        <p:nvSpPr>
          <p:cNvPr id="13" name="TextBox 12">
            <a:extLst>
              <a:ext uri="{FF2B5EF4-FFF2-40B4-BE49-F238E27FC236}">
                <a16:creationId xmlns:a16="http://schemas.microsoft.com/office/drawing/2014/main" id="{B366605E-6FCD-D78E-338E-289CDCC2C070}"/>
              </a:ext>
            </a:extLst>
          </p:cNvPr>
          <p:cNvSpPr txBox="1"/>
          <p:nvPr/>
        </p:nvSpPr>
        <p:spPr>
          <a:xfrm>
            <a:off x="1068778" y="3098502"/>
            <a:ext cx="2479842" cy="646331"/>
          </a:xfrm>
          <a:prstGeom prst="rect">
            <a:avLst/>
          </a:prstGeom>
          <a:noFill/>
        </p:spPr>
        <p:txBody>
          <a:bodyPr wrap="square">
            <a:spAutoFit/>
          </a:bodyPr>
          <a:lstStyle/>
          <a:p>
            <a:pPr algn="ctr">
              <a:buNone/>
            </a:pPr>
            <a:r>
              <a:rPr lang="en-US" b="1" i="0" dirty="0">
                <a:solidFill>
                  <a:schemeClr val="accent2"/>
                </a:solidFill>
                <a:effectLst/>
                <a:latin typeface="+mj-lt"/>
              </a:rPr>
              <a:t>$45,000</a:t>
            </a:r>
          </a:p>
          <a:p>
            <a:pPr algn="ctr">
              <a:buNone/>
            </a:pPr>
            <a:r>
              <a:rPr lang="en-US" b="0" i="0" dirty="0">
                <a:solidFill>
                  <a:schemeClr val="accent1"/>
                </a:solidFill>
                <a:effectLst/>
                <a:latin typeface="+mj-lt"/>
              </a:rPr>
              <a:t>Cash Deposit</a:t>
            </a:r>
          </a:p>
        </p:txBody>
      </p:sp>
      <p:sp>
        <p:nvSpPr>
          <p:cNvPr id="17" name="TextBox 16">
            <a:extLst>
              <a:ext uri="{FF2B5EF4-FFF2-40B4-BE49-F238E27FC236}">
                <a16:creationId xmlns:a16="http://schemas.microsoft.com/office/drawing/2014/main" id="{36F357C8-EA55-A457-477C-55342A5572BD}"/>
              </a:ext>
            </a:extLst>
          </p:cNvPr>
          <p:cNvSpPr txBox="1"/>
          <p:nvPr/>
        </p:nvSpPr>
        <p:spPr>
          <a:xfrm>
            <a:off x="432113" y="3943647"/>
            <a:ext cx="3914942" cy="1000274"/>
          </a:xfrm>
          <a:prstGeom prst="rect">
            <a:avLst/>
          </a:prstGeom>
          <a:noFill/>
        </p:spPr>
        <p:txBody>
          <a:bodyPr wrap="square">
            <a:spAutoFit/>
          </a:bodyPr>
          <a:lstStyle/>
          <a:p>
            <a:pPr algn="l">
              <a:buNone/>
            </a:pPr>
            <a:r>
              <a:rPr lang="en-US" b="0" i="0" dirty="0">
                <a:solidFill>
                  <a:schemeClr val="accent1"/>
                </a:solidFill>
                <a:effectLst/>
                <a:latin typeface="+mj-lt"/>
              </a:rPr>
              <a:t>Form: Cash (bundled $100 bills)</a:t>
            </a:r>
          </a:p>
          <a:p>
            <a:pPr algn="l">
              <a:spcBef>
                <a:spcPts val="300"/>
              </a:spcBef>
              <a:buNone/>
            </a:pPr>
            <a:r>
              <a:rPr lang="en-US" b="0" i="0" dirty="0">
                <a:solidFill>
                  <a:schemeClr val="accent1"/>
                </a:solidFill>
                <a:effectLst/>
                <a:latin typeface="+mj-lt"/>
              </a:rPr>
              <a:t>Deposit Type: Checking Account</a:t>
            </a:r>
          </a:p>
          <a:p>
            <a:pPr algn="l">
              <a:spcBef>
                <a:spcPts val="300"/>
              </a:spcBef>
              <a:buNone/>
            </a:pPr>
            <a:r>
              <a:rPr lang="en-US" b="0" i="0" dirty="0">
                <a:solidFill>
                  <a:schemeClr val="accent1"/>
                </a:solidFill>
                <a:effectLst/>
                <a:latin typeface="+mj-lt"/>
              </a:rPr>
              <a:t>Source: [Not Specified]</a:t>
            </a:r>
          </a:p>
        </p:txBody>
      </p:sp>
      <p:sp>
        <p:nvSpPr>
          <p:cNvPr id="19" name="TextBox 18">
            <a:extLst>
              <a:ext uri="{FF2B5EF4-FFF2-40B4-BE49-F238E27FC236}">
                <a16:creationId xmlns:a16="http://schemas.microsoft.com/office/drawing/2014/main" id="{89EA7C6F-4C31-0F39-7BF9-F263BEA4403B}"/>
              </a:ext>
            </a:extLst>
          </p:cNvPr>
          <p:cNvSpPr txBox="1"/>
          <p:nvPr/>
        </p:nvSpPr>
        <p:spPr>
          <a:xfrm>
            <a:off x="4851400" y="1403602"/>
            <a:ext cx="6858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dirty="0">
                <a:solidFill>
                  <a:schemeClr val="accent1"/>
                </a:solidFill>
              </a:rPr>
              <a:t>Select each tab to review information before making your decision.</a:t>
            </a:r>
          </a:p>
        </p:txBody>
      </p:sp>
      <p:sp>
        <p:nvSpPr>
          <p:cNvPr id="10" name="TextBox 9">
            <a:extLst>
              <a:ext uri="{FF2B5EF4-FFF2-40B4-BE49-F238E27FC236}">
                <a16:creationId xmlns:a16="http://schemas.microsoft.com/office/drawing/2014/main" id="{2C34009A-9DD4-9598-DF74-3EEF4F2C1AF6}"/>
              </a:ext>
            </a:extLst>
          </p:cNvPr>
          <p:cNvSpPr txBox="1"/>
          <p:nvPr/>
        </p:nvSpPr>
        <p:spPr>
          <a:xfrm>
            <a:off x="432112" y="605513"/>
            <a:ext cx="10591487" cy="369332"/>
          </a:xfrm>
          <a:prstGeom prst="rect">
            <a:avLst/>
          </a:prstGeom>
          <a:noFill/>
        </p:spPr>
        <p:txBody>
          <a:bodyPr wrap="square">
            <a:spAutoFit/>
          </a:bodyPr>
          <a:lstStyle/>
          <a:p>
            <a:r>
              <a:rPr lang="en-US" b="0" dirty="0">
                <a:effectLst/>
                <a:latin typeface="+mj-lt"/>
              </a:rPr>
              <a:t>Before you process the transaction, it’s your duty to review Maria's profile. </a:t>
            </a:r>
            <a:endParaRPr lang="en-UG" dirty="0">
              <a:latin typeface="+mj-lt"/>
            </a:endParaRPr>
          </a:p>
        </p:txBody>
      </p:sp>
      <p:pic>
        <p:nvPicPr>
          <p:cNvPr id="16" name="Picture 15">
            <a:extLst>
              <a:ext uri="{FF2B5EF4-FFF2-40B4-BE49-F238E27FC236}">
                <a16:creationId xmlns:a16="http://schemas.microsoft.com/office/drawing/2014/main" id="{168D5A74-6C71-18B9-93D2-C68FF3675F22}"/>
              </a:ext>
            </a:extLst>
          </p:cNvPr>
          <p:cNvPicPr>
            <a:picLocks noChangeAspect="1"/>
          </p:cNvPicPr>
          <p:nvPr/>
        </p:nvPicPr>
        <p:blipFill>
          <a:blip r:embed="rId4"/>
          <a:stretch>
            <a:fillRect/>
          </a:stretch>
        </p:blipFill>
        <p:spPr>
          <a:xfrm>
            <a:off x="4948649" y="2336018"/>
            <a:ext cx="628662" cy="654148"/>
          </a:xfrm>
          <a:prstGeom prst="rect">
            <a:avLst/>
          </a:prstGeom>
        </p:spPr>
      </p:pic>
      <p:pic>
        <p:nvPicPr>
          <p:cNvPr id="21" name="Picture 20">
            <a:extLst>
              <a:ext uri="{FF2B5EF4-FFF2-40B4-BE49-F238E27FC236}">
                <a16:creationId xmlns:a16="http://schemas.microsoft.com/office/drawing/2014/main" id="{9997265A-EE43-1D00-4ED6-8B0DBACB84D1}"/>
              </a:ext>
            </a:extLst>
          </p:cNvPr>
          <p:cNvPicPr>
            <a:picLocks noChangeAspect="1"/>
          </p:cNvPicPr>
          <p:nvPr/>
        </p:nvPicPr>
        <p:blipFill>
          <a:blip r:embed="rId5"/>
          <a:stretch>
            <a:fillRect/>
          </a:stretch>
        </p:blipFill>
        <p:spPr>
          <a:xfrm>
            <a:off x="4970874" y="3143304"/>
            <a:ext cx="606437" cy="657685"/>
          </a:xfrm>
          <a:prstGeom prst="rect">
            <a:avLst/>
          </a:prstGeom>
        </p:spPr>
      </p:pic>
      <p:pic>
        <p:nvPicPr>
          <p:cNvPr id="23" name="Picture 22">
            <a:extLst>
              <a:ext uri="{FF2B5EF4-FFF2-40B4-BE49-F238E27FC236}">
                <a16:creationId xmlns:a16="http://schemas.microsoft.com/office/drawing/2014/main" id="{AF37EB9B-7884-47CE-3450-A73DC5C3B6BF}"/>
              </a:ext>
            </a:extLst>
          </p:cNvPr>
          <p:cNvPicPr>
            <a:picLocks noChangeAspect="1"/>
          </p:cNvPicPr>
          <p:nvPr/>
        </p:nvPicPr>
        <p:blipFill>
          <a:blip r:embed="rId6"/>
          <a:stretch>
            <a:fillRect/>
          </a:stretch>
        </p:blipFill>
        <p:spPr>
          <a:xfrm>
            <a:off x="4970874" y="3938217"/>
            <a:ext cx="606437" cy="648551"/>
          </a:xfrm>
          <a:prstGeom prst="rect">
            <a:avLst/>
          </a:prstGeom>
        </p:spPr>
      </p:pic>
      <p:pic>
        <p:nvPicPr>
          <p:cNvPr id="25" name="Picture 24">
            <a:extLst>
              <a:ext uri="{FF2B5EF4-FFF2-40B4-BE49-F238E27FC236}">
                <a16:creationId xmlns:a16="http://schemas.microsoft.com/office/drawing/2014/main" id="{955770A6-8CB1-7096-C545-9EECEE31C2AF}"/>
              </a:ext>
            </a:extLst>
          </p:cNvPr>
          <p:cNvPicPr>
            <a:picLocks noChangeAspect="1"/>
          </p:cNvPicPr>
          <p:nvPr/>
        </p:nvPicPr>
        <p:blipFill>
          <a:blip r:embed="rId7"/>
          <a:stretch>
            <a:fillRect/>
          </a:stretch>
        </p:blipFill>
        <p:spPr>
          <a:xfrm>
            <a:off x="4970874" y="4723996"/>
            <a:ext cx="606437" cy="649144"/>
          </a:xfrm>
          <a:prstGeom prst="rect">
            <a:avLst/>
          </a:prstGeom>
        </p:spPr>
      </p:pic>
      <p:sp>
        <p:nvSpPr>
          <p:cNvPr id="26" name="TextBox 25">
            <a:extLst>
              <a:ext uri="{FF2B5EF4-FFF2-40B4-BE49-F238E27FC236}">
                <a16:creationId xmlns:a16="http://schemas.microsoft.com/office/drawing/2014/main" id="{FA6C5792-0ACC-6BC9-8F0C-BE3EB24A0F14}"/>
              </a:ext>
            </a:extLst>
          </p:cNvPr>
          <p:cNvSpPr txBox="1"/>
          <p:nvPr/>
        </p:nvSpPr>
        <p:spPr>
          <a:xfrm>
            <a:off x="5577311" y="2475913"/>
            <a:ext cx="3020589" cy="369332"/>
          </a:xfrm>
          <a:prstGeom prst="rect">
            <a:avLst/>
          </a:prstGeom>
          <a:noFill/>
        </p:spPr>
        <p:txBody>
          <a:bodyPr wrap="square">
            <a:spAutoFit/>
          </a:bodyPr>
          <a:lstStyle/>
          <a:p>
            <a:r>
              <a:rPr lang="en-US" b="0" dirty="0">
                <a:solidFill>
                  <a:schemeClr val="bg1"/>
                </a:solidFill>
                <a:effectLst/>
                <a:latin typeface="+mj-lt"/>
              </a:rPr>
              <a:t>Account History</a:t>
            </a:r>
            <a:endParaRPr lang="en-UG" dirty="0">
              <a:solidFill>
                <a:schemeClr val="bg1"/>
              </a:solidFill>
              <a:latin typeface="+mj-lt"/>
            </a:endParaRPr>
          </a:p>
        </p:txBody>
      </p:sp>
      <p:sp>
        <p:nvSpPr>
          <p:cNvPr id="27" name="TextBox 26">
            <a:extLst>
              <a:ext uri="{FF2B5EF4-FFF2-40B4-BE49-F238E27FC236}">
                <a16:creationId xmlns:a16="http://schemas.microsoft.com/office/drawing/2014/main" id="{BD539235-4C55-9892-3F66-B9D62176501E}"/>
              </a:ext>
            </a:extLst>
          </p:cNvPr>
          <p:cNvSpPr txBox="1"/>
          <p:nvPr/>
        </p:nvSpPr>
        <p:spPr>
          <a:xfrm>
            <a:off x="5577311" y="3292380"/>
            <a:ext cx="3020590" cy="369332"/>
          </a:xfrm>
          <a:prstGeom prst="rect">
            <a:avLst/>
          </a:prstGeom>
          <a:noFill/>
        </p:spPr>
        <p:txBody>
          <a:bodyPr wrap="square">
            <a:spAutoFit/>
          </a:bodyPr>
          <a:lstStyle/>
          <a:p>
            <a:r>
              <a:rPr lang="en-US" b="0" dirty="0">
                <a:solidFill>
                  <a:schemeClr val="bg1"/>
                </a:solidFill>
                <a:effectLst/>
                <a:latin typeface="+mj-lt"/>
              </a:rPr>
              <a:t>Recent Activity</a:t>
            </a:r>
            <a:endParaRPr lang="en-UG" dirty="0">
              <a:solidFill>
                <a:schemeClr val="bg1"/>
              </a:solidFill>
              <a:latin typeface="+mj-lt"/>
            </a:endParaRPr>
          </a:p>
        </p:txBody>
      </p:sp>
      <p:sp>
        <p:nvSpPr>
          <p:cNvPr id="28" name="TextBox 27">
            <a:extLst>
              <a:ext uri="{FF2B5EF4-FFF2-40B4-BE49-F238E27FC236}">
                <a16:creationId xmlns:a16="http://schemas.microsoft.com/office/drawing/2014/main" id="{7BB16E3F-528D-2D31-82A9-D41C4D39545C}"/>
              </a:ext>
            </a:extLst>
          </p:cNvPr>
          <p:cNvSpPr txBox="1"/>
          <p:nvPr/>
        </p:nvSpPr>
        <p:spPr>
          <a:xfrm>
            <a:off x="5657865" y="4078140"/>
            <a:ext cx="2736835" cy="369332"/>
          </a:xfrm>
          <a:prstGeom prst="rect">
            <a:avLst/>
          </a:prstGeom>
          <a:noFill/>
        </p:spPr>
        <p:txBody>
          <a:bodyPr wrap="square">
            <a:spAutoFit/>
          </a:bodyPr>
          <a:lstStyle/>
          <a:p>
            <a:r>
              <a:rPr lang="en-US" b="0" dirty="0">
                <a:solidFill>
                  <a:schemeClr val="bg1"/>
                </a:solidFill>
                <a:effectLst/>
                <a:latin typeface="+mj-lt"/>
              </a:rPr>
              <a:t>Occupation</a:t>
            </a:r>
            <a:endParaRPr lang="en-UG" dirty="0">
              <a:solidFill>
                <a:schemeClr val="bg1"/>
              </a:solidFill>
              <a:latin typeface="+mj-lt"/>
            </a:endParaRPr>
          </a:p>
        </p:txBody>
      </p:sp>
      <p:sp>
        <p:nvSpPr>
          <p:cNvPr id="29" name="TextBox 28">
            <a:extLst>
              <a:ext uri="{FF2B5EF4-FFF2-40B4-BE49-F238E27FC236}">
                <a16:creationId xmlns:a16="http://schemas.microsoft.com/office/drawing/2014/main" id="{24D43324-BBB8-6A75-8D4E-9D3AF40CBECA}"/>
              </a:ext>
            </a:extLst>
          </p:cNvPr>
          <p:cNvSpPr txBox="1"/>
          <p:nvPr/>
        </p:nvSpPr>
        <p:spPr>
          <a:xfrm>
            <a:off x="5657865" y="4863902"/>
            <a:ext cx="2736835" cy="368498"/>
          </a:xfrm>
          <a:prstGeom prst="rect">
            <a:avLst/>
          </a:prstGeom>
          <a:noFill/>
        </p:spPr>
        <p:txBody>
          <a:bodyPr wrap="square">
            <a:spAutoFit/>
          </a:bodyPr>
          <a:lstStyle/>
          <a:p>
            <a:r>
              <a:rPr lang="en-US" b="0" dirty="0">
                <a:solidFill>
                  <a:schemeClr val="bg1"/>
                </a:solidFill>
                <a:effectLst/>
                <a:latin typeface="+mj-lt"/>
              </a:rPr>
              <a:t>Profile Details</a:t>
            </a:r>
            <a:endParaRPr lang="en-UG" dirty="0">
              <a:solidFill>
                <a:schemeClr val="bg1"/>
              </a:solidFill>
              <a:latin typeface="+mj-lt"/>
            </a:endParaRPr>
          </a:p>
        </p:txBody>
      </p:sp>
      <p:sp>
        <p:nvSpPr>
          <p:cNvPr id="2" name="Rectangle: Rounded Corners 1">
            <a:extLst>
              <a:ext uri="{FF2B5EF4-FFF2-40B4-BE49-F238E27FC236}">
                <a16:creationId xmlns:a16="http://schemas.microsoft.com/office/drawing/2014/main" id="{7DE31D03-184F-03F2-4296-09F809DF0D9B}"/>
              </a:ext>
            </a:extLst>
          </p:cNvPr>
          <p:cNvSpPr/>
          <p:nvPr/>
        </p:nvSpPr>
        <p:spPr>
          <a:xfrm>
            <a:off x="4970873" y="2336018"/>
            <a:ext cx="6052724" cy="3037122"/>
          </a:xfrm>
          <a:prstGeom prst="roundRect">
            <a:avLst>
              <a:gd name="adj" fmla="val 663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Profile Details</a:t>
            </a:r>
          </a:p>
          <a:p>
            <a:endParaRPr lang="en-US" b="1" dirty="0">
              <a:solidFill>
                <a:schemeClr val="tx1"/>
              </a:solidFill>
            </a:endParaRPr>
          </a:p>
          <a:p>
            <a:r>
              <a:rPr lang="en-US" dirty="0">
                <a:solidFill>
                  <a:schemeClr val="tx1"/>
                </a:solidFill>
              </a:rPr>
              <a:t>Single, renting residence, no business accounts. No previous high-value transactions or wealth indicators.</a:t>
            </a:r>
          </a:p>
        </p:txBody>
      </p:sp>
      <p:sp>
        <p:nvSpPr>
          <p:cNvPr id="5" name="Oval 4">
            <a:extLst>
              <a:ext uri="{FF2B5EF4-FFF2-40B4-BE49-F238E27FC236}">
                <a16:creationId xmlns:a16="http://schemas.microsoft.com/office/drawing/2014/main" id="{75E7DA72-4A83-354D-99F2-0E7441D1A820}"/>
              </a:ext>
            </a:extLst>
          </p:cNvPr>
          <p:cNvSpPr/>
          <p:nvPr/>
        </p:nvSpPr>
        <p:spPr>
          <a:xfrm>
            <a:off x="10444046" y="2458877"/>
            <a:ext cx="386368" cy="38636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X</a:t>
            </a:r>
            <a:endParaRPr lang="en-UG" dirty="0"/>
          </a:p>
        </p:txBody>
      </p:sp>
    </p:spTree>
    <p:extLst>
      <p:ext uri="{BB962C8B-B14F-4D97-AF65-F5344CB8AC3E}">
        <p14:creationId xmlns:p14="http://schemas.microsoft.com/office/powerpoint/2010/main" val="16316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41AE4-4E18-312A-24EA-27D2A0D213CA}"/>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BFFAC4EE-5481-34F0-3D29-0469B7A0D154}"/>
              </a:ext>
            </a:extLst>
          </p:cNvPr>
          <p:cNvSpPr/>
          <p:nvPr/>
        </p:nvSpPr>
        <p:spPr>
          <a:xfrm>
            <a:off x="381000" y="1395785"/>
            <a:ext cx="4045942" cy="4066430"/>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4" name="Text Placeholder 8">
            <a:extLst>
              <a:ext uri="{FF2B5EF4-FFF2-40B4-BE49-F238E27FC236}">
                <a16:creationId xmlns:a16="http://schemas.microsoft.com/office/drawing/2014/main" id="{1F4BF373-B18D-402F-FB37-E7244A14D7DA}"/>
              </a:ext>
            </a:extLst>
          </p:cNvPr>
          <p:cNvSpPr txBox="1">
            <a:spLocks/>
          </p:cNvSpPr>
          <p:nvPr/>
        </p:nvSpPr>
        <p:spPr>
          <a:xfrm>
            <a:off x="923726" y="1603591"/>
            <a:ext cx="3214854" cy="423862"/>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chemeClr val="accent1"/>
                </a:solidFill>
                <a:latin typeface="+mj-lt"/>
                <a:cs typeface="Arial"/>
              </a:rPr>
              <a:t>Transaction Request</a:t>
            </a:r>
          </a:p>
        </p:txBody>
      </p:sp>
      <p:sp>
        <p:nvSpPr>
          <p:cNvPr id="8" name="Oval 7">
            <a:extLst>
              <a:ext uri="{FF2B5EF4-FFF2-40B4-BE49-F238E27FC236}">
                <a16:creationId xmlns:a16="http://schemas.microsoft.com/office/drawing/2014/main" id="{00345AD3-74AC-917E-F562-4675EE290438}"/>
              </a:ext>
            </a:extLst>
          </p:cNvPr>
          <p:cNvSpPr/>
          <p:nvPr/>
        </p:nvSpPr>
        <p:spPr>
          <a:xfrm>
            <a:off x="1862534" y="2027453"/>
            <a:ext cx="892331" cy="8923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pic>
        <p:nvPicPr>
          <p:cNvPr id="6" name="Picture 5">
            <a:extLst>
              <a:ext uri="{FF2B5EF4-FFF2-40B4-BE49-F238E27FC236}">
                <a16:creationId xmlns:a16="http://schemas.microsoft.com/office/drawing/2014/main" id="{FC79B008-43C1-64F8-54A8-92585BBE50E8}"/>
              </a:ext>
            </a:extLst>
          </p:cNvPr>
          <p:cNvPicPr>
            <a:picLocks noChangeAspect="1"/>
          </p:cNvPicPr>
          <p:nvPr/>
        </p:nvPicPr>
        <p:blipFill>
          <a:blip r:embed="rId3"/>
          <a:stretch>
            <a:fillRect/>
          </a:stretch>
        </p:blipFill>
        <p:spPr>
          <a:xfrm>
            <a:off x="1935959" y="2100868"/>
            <a:ext cx="755406" cy="744378"/>
          </a:xfrm>
          <a:prstGeom prst="ellipse">
            <a:avLst/>
          </a:prstGeom>
        </p:spPr>
      </p:pic>
      <p:sp>
        <p:nvSpPr>
          <p:cNvPr id="13" name="TextBox 12">
            <a:extLst>
              <a:ext uri="{FF2B5EF4-FFF2-40B4-BE49-F238E27FC236}">
                <a16:creationId xmlns:a16="http://schemas.microsoft.com/office/drawing/2014/main" id="{8A4E06FB-6232-7E87-04DA-CBE0EA45D4FD}"/>
              </a:ext>
            </a:extLst>
          </p:cNvPr>
          <p:cNvSpPr txBox="1"/>
          <p:nvPr/>
        </p:nvSpPr>
        <p:spPr>
          <a:xfrm>
            <a:off x="1068778" y="3098502"/>
            <a:ext cx="2479842" cy="646331"/>
          </a:xfrm>
          <a:prstGeom prst="rect">
            <a:avLst/>
          </a:prstGeom>
          <a:noFill/>
        </p:spPr>
        <p:txBody>
          <a:bodyPr wrap="square">
            <a:spAutoFit/>
          </a:bodyPr>
          <a:lstStyle/>
          <a:p>
            <a:pPr algn="ctr">
              <a:buNone/>
            </a:pPr>
            <a:r>
              <a:rPr lang="en-US" b="1" i="0" dirty="0">
                <a:solidFill>
                  <a:schemeClr val="accent2"/>
                </a:solidFill>
                <a:effectLst/>
                <a:latin typeface="+mj-lt"/>
              </a:rPr>
              <a:t>$45,000</a:t>
            </a:r>
          </a:p>
          <a:p>
            <a:pPr algn="ctr">
              <a:buNone/>
            </a:pPr>
            <a:r>
              <a:rPr lang="en-US" b="0" i="0" dirty="0">
                <a:solidFill>
                  <a:schemeClr val="accent1"/>
                </a:solidFill>
                <a:effectLst/>
                <a:latin typeface="+mj-lt"/>
              </a:rPr>
              <a:t>Cash Deposit</a:t>
            </a:r>
          </a:p>
        </p:txBody>
      </p:sp>
      <p:sp>
        <p:nvSpPr>
          <p:cNvPr id="17" name="TextBox 16">
            <a:extLst>
              <a:ext uri="{FF2B5EF4-FFF2-40B4-BE49-F238E27FC236}">
                <a16:creationId xmlns:a16="http://schemas.microsoft.com/office/drawing/2014/main" id="{91EA2961-C2D9-F9DB-68D1-1172109D982E}"/>
              </a:ext>
            </a:extLst>
          </p:cNvPr>
          <p:cNvSpPr txBox="1"/>
          <p:nvPr/>
        </p:nvSpPr>
        <p:spPr>
          <a:xfrm>
            <a:off x="432113" y="3943647"/>
            <a:ext cx="3914942" cy="1000274"/>
          </a:xfrm>
          <a:prstGeom prst="rect">
            <a:avLst/>
          </a:prstGeom>
          <a:noFill/>
        </p:spPr>
        <p:txBody>
          <a:bodyPr wrap="square">
            <a:spAutoFit/>
          </a:bodyPr>
          <a:lstStyle/>
          <a:p>
            <a:pPr algn="l">
              <a:buNone/>
            </a:pPr>
            <a:r>
              <a:rPr lang="en-US" b="0" i="0" dirty="0">
                <a:solidFill>
                  <a:schemeClr val="accent1"/>
                </a:solidFill>
                <a:effectLst/>
                <a:latin typeface="+mj-lt"/>
              </a:rPr>
              <a:t>Form: Cash (bundled $100 bills)</a:t>
            </a:r>
          </a:p>
          <a:p>
            <a:pPr algn="l">
              <a:spcBef>
                <a:spcPts val="300"/>
              </a:spcBef>
              <a:buNone/>
            </a:pPr>
            <a:r>
              <a:rPr lang="en-US" b="0" i="0" dirty="0">
                <a:solidFill>
                  <a:schemeClr val="accent1"/>
                </a:solidFill>
                <a:effectLst/>
                <a:latin typeface="+mj-lt"/>
              </a:rPr>
              <a:t>Deposit Type: Checking Account</a:t>
            </a:r>
          </a:p>
          <a:p>
            <a:pPr algn="l">
              <a:spcBef>
                <a:spcPts val="300"/>
              </a:spcBef>
              <a:buNone/>
            </a:pPr>
            <a:r>
              <a:rPr lang="en-US" b="0" i="0" dirty="0">
                <a:solidFill>
                  <a:schemeClr val="accent1"/>
                </a:solidFill>
                <a:effectLst/>
                <a:latin typeface="+mj-lt"/>
              </a:rPr>
              <a:t>Source: [Not Specified]</a:t>
            </a:r>
          </a:p>
        </p:txBody>
      </p:sp>
      <p:sp>
        <p:nvSpPr>
          <p:cNvPr id="10" name="TextBox 9">
            <a:extLst>
              <a:ext uri="{FF2B5EF4-FFF2-40B4-BE49-F238E27FC236}">
                <a16:creationId xmlns:a16="http://schemas.microsoft.com/office/drawing/2014/main" id="{B8E26E35-EB69-8EB2-0CC9-736591532BFC}"/>
              </a:ext>
            </a:extLst>
          </p:cNvPr>
          <p:cNvSpPr txBox="1"/>
          <p:nvPr/>
        </p:nvSpPr>
        <p:spPr>
          <a:xfrm>
            <a:off x="432112" y="605513"/>
            <a:ext cx="10591487" cy="369332"/>
          </a:xfrm>
          <a:prstGeom prst="rect">
            <a:avLst/>
          </a:prstGeom>
          <a:noFill/>
        </p:spPr>
        <p:txBody>
          <a:bodyPr wrap="square">
            <a:spAutoFit/>
          </a:bodyPr>
          <a:lstStyle/>
          <a:p>
            <a:r>
              <a:rPr lang="en-US" b="0" dirty="0">
                <a:effectLst/>
                <a:latin typeface="+mj-lt"/>
              </a:rPr>
              <a:t>Before you process the transaction, it’s your duty to review Maria's profile. </a:t>
            </a:r>
            <a:endParaRPr lang="en-UG" dirty="0">
              <a:latin typeface="+mj-lt"/>
            </a:endParaRPr>
          </a:p>
        </p:txBody>
      </p:sp>
      <p:sp>
        <p:nvSpPr>
          <p:cNvPr id="2" name="Rectangle: Rounded Corners 1">
            <a:extLst>
              <a:ext uri="{FF2B5EF4-FFF2-40B4-BE49-F238E27FC236}">
                <a16:creationId xmlns:a16="http://schemas.microsoft.com/office/drawing/2014/main" id="{8CFB10D3-DBC9-BACA-9BB7-089E91A8EA15}"/>
              </a:ext>
            </a:extLst>
          </p:cNvPr>
          <p:cNvSpPr/>
          <p:nvPr/>
        </p:nvSpPr>
        <p:spPr>
          <a:xfrm>
            <a:off x="4970875" y="1815522"/>
            <a:ext cx="6052724" cy="3037122"/>
          </a:xfrm>
          <a:prstGeom prst="roundRect">
            <a:avLst>
              <a:gd name="adj" fmla="val 663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"That's a lot of cash. but she's been a customer for years. And you don't want to make her feel like a criminal."</a:t>
            </a:r>
          </a:p>
        </p:txBody>
      </p:sp>
      <p:sp>
        <p:nvSpPr>
          <p:cNvPr id="7" name="Rectangle: Rounded Corners 6">
            <a:extLst>
              <a:ext uri="{FF2B5EF4-FFF2-40B4-BE49-F238E27FC236}">
                <a16:creationId xmlns:a16="http://schemas.microsoft.com/office/drawing/2014/main" id="{C367C9B1-F210-6156-3A2D-F6471DC246B3}"/>
              </a:ext>
            </a:extLst>
          </p:cNvPr>
          <p:cNvSpPr/>
          <p:nvPr/>
        </p:nvSpPr>
        <p:spPr>
          <a:xfrm>
            <a:off x="7765060" y="5114551"/>
            <a:ext cx="3258539" cy="418875"/>
          </a:xfrm>
          <a:prstGeom prst="roundRect">
            <a:avLst>
              <a:gd name="adj" fmla="val 40738"/>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Make your decision</a:t>
            </a:r>
          </a:p>
        </p:txBody>
      </p:sp>
      <p:sp>
        <p:nvSpPr>
          <p:cNvPr id="9" name="TextBox 8">
            <a:extLst>
              <a:ext uri="{FF2B5EF4-FFF2-40B4-BE49-F238E27FC236}">
                <a16:creationId xmlns:a16="http://schemas.microsoft.com/office/drawing/2014/main" id="{86EE47C6-FACB-E015-F4CF-E0597689801C}"/>
              </a:ext>
            </a:extLst>
          </p:cNvPr>
          <p:cNvSpPr txBox="1"/>
          <p:nvPr/>
        </p:nvSpPr>
        <p:spPr>
          <a:xfrm>
            <a:off x="4970875" y="5046990"/>
            <a:ext cx="266182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dirty="0">
                <a:solidFill>
                  <a:schemeClr val="accent1"/>
                </a:solidFill>
              </a:rPr>
              <a:t>Select the button to proceed.</a:t>
            </a:r>
          </a:p>
        </p:txBody>
      </p:sp>
    </p:spTree>
    <p:extLst>
      <p:ext uri="{BB962C8B-B14F-4D97-AF65-F5344CB8AC3E}">
        <p14:creationId xmlns:p14="http://schemas.microsoft.com/office/powerpoint/2010/main" val="684933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8">
            <a:extLst>
              <a:ext uri="{FF2B5EF4-FFF2-40B4-BE49-F238E27FC236}">
                <a16:creationId xmlns:a16="http://schemas.microsoft.com/office/drawing/2014/main" id="{E5671120-30D1-520C-3777-272C36038000}"/>
              </a:ext>
            </a:extLst>
          </p:cNvPr>
          <p:cNvSpPr txBox="1">
            <a:spLocks/>
          </p:cNvSpPr>
          <p:nvPr/>
        </p:nvSpPr>
        <p:spPr>
          <a:xfrm>
            <a:off x="1036042" y="650626"/>
            <a:ext cx="4832117" cy="423862"/>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01AFE6"/>
                </a:solidFill>
                <a:latin typeface="+mj-lt"/>
                <a:cs typeface="Arial" panose="020B0604020202020204" pitchFamily="34" charset="0"/>
              </a:rPr>
              <a:t>What Will You Do?</a:t>
            </a:r>
            <a:endParaRPr lang="en-US" sz="2000" b="1" dirty="0">
              <a:solidFill>
                <a:srgbClr val="01AFE6"/>
              </a:solidFill>
              <a:latin typeface="+mj-lt"/>
            </a:endParaRPr>
          </a:p>
        </p:txBody>
      </p:sp>
      <p:sp>
        <p:nvSpPr>
          <p:cNvPr id="3" name="TextBox 2">
            <a:extLst>
              <a:ext uri="{FF2B5EF4-FFF2-40B4-BE49-F238E27FC236}">
                <a16:creationId xmlns:a16="http://schemas.microsoft.com/office/drawing/2014/main" id="{316E4D91-1D65-112E-ED67-8595B4EF5966}"/>
              </a:ext>
            </a:extLst>
          </p:cNvPr>
          <p:cNvSpPr txBox="1"/>
          <p:nvPr/>
        </p:nvSpPr>
        <p:spPr>
          <a:xfrm>
            <a:off x="1036042" y="1173611"/>
            <a:ext cx="9977938" cy="371705"/>
          </a:xfrm>
          <a:prstGeom prst="rect">
            <a:avLst/>
          </a:prstGeom>
          <a:noFill/>
        </p:spPr>
        <p:txBody>
          <a:bodyPr wrap="square">
            <a:spAutoFit/>
          </a:bodyPr>
          <a:lstStyle/>
          <a:p>
            <a:pPr marL="0" marR="0">
              <a:lnSpc>
                <a:spcPct val="107000"/>
              </a:lnSpc>
              <a:spcBef>
                <a:spcPts val="0"/>
              </a:spcBef>
              <a:spcAft>
                <a:spcPts val="800"/>
              </a:spcAft>
            </a:pPr>
            <a:r>
              <a:rPr lang="en-US" dirty="0"/>
              <a:t>Maria is waiting at your window…</a:t>
            </a:r>
            <a:endParaRPr lang="en-UG" sz="1800" kern="100" dirty="0">
              <a:effectLst/>
              <a:latin typeface="+mj-lt"/>
              <a:ea typeface="Aptos" panose="020B0004020202020204" pitchFamily="34" charset="0"/>
              <a:cs typeface="Mangal" panose="02040503050203030202" pitchFamily="18" charset="0"/>
            </a:endParaRPr>
          </a:p>
        </p:txBody>
      </p:sp>
      <p:grpSp>
        <p:nvGrpSpPr>
          <p:cNvPr id="13" name="Group 12">
            <a:extLst>
              <a:ext uri="{FF2B5EF4-FFF2-40B4-BE49-F238E27FC236}">
                <a16:creationId xmlns:a16="http://schemas.microsoft.com/office/drawing/2014/main" id="{6816CCF6-EAFB-A7E8-C678-167261545767}"/>
              </a:ext>
            </a:extLst>
          </p:cNvPr>
          <p:cNvGrpSpPr/>
          <p:nvPr/>
        </p:nvGrpSpPr>
        <p:grpSpPr>
          <a:xfrm>
            <a:off x="471486" y="2146972"/>
            <a:ext cx="11249028" cy="3440896"/>
            <a:chOff x="471486" y="2146972"/>
            <a:chExt cx="11249028" cy="3440896"/>
          </a:xfrm>
        </p:grpSpPr>
        <p:pic>
          <p:nvPicPr>
            <p:cNvPr id="1026" name="Picture 2" descr="Busy middle aged business man executive wearing shirt and glasses sitting at desk using laptop. Mature serious professional businessman manager working looking at computer technology in office.">
              <a:extLst>
                <a:ext uri="{FF2B5EF4-FFF2-40B4-BE49-F238E27FC236}">
                  <a16:creationId xmlns:a16="http://schemas.microsoft.com/office/drawing/2014/main" id="{22C9EF9B-343A-5668-53CD-2A3345B0659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809" r="12955" b="9376"/>
            <a:stretch>
              <a:fillRect/>
            </a:stretch>
          </p:blipFill>
          <p:spPr bwMode="auto">
            <a:xfrm>
              <a:off x="471487" y="2185876"/>
              <a:ext cx="3425819" cy="338613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miling African female financial advisor, attorney lawyer or bank manager consulting male client investor reading document at business meeting reviewing legal paper planning taxes working in office.">
              <a:extLst>
                <a:ext uri="{FF2B5EF4-FFF2-40B4-BE49-F238E27FC236}">
                  <a16:creationId xmlns:a16="http://schemas.microsoft.com/office/drawing/2014/main" id="{6460D96B-F50C-A3A5-A9D2-5E0C2E57D5EF}"/>
                </a:ext>
              </a:extLst>
            </p:cNvPr>
            <p:cNvPicPr>
              <a:picLocks noChangeAspect="1" noChangeArrowheads="1"/>
            </p:cNvPicPr>
            <p:nvPr/>
          </p:nvPicPr>
          <p:blipFill rotWithShape="1">
            <a:blip r:embed="rId4">
              <a:alphaModFix/>
              <a:extLst>
                <a:ext uri="{28A0092B-C50C-407E-A947-70E740481C1C}">
                  <a14:useLocalDpi xmlns:a14="http://schemas.microsoft.com/office/drawing/2010/main" val="0"/>
                </a:ext>
              </a:extLst>
            </a:blip>
            <a:srcRect l="20242" r="14226" b="11667"/>
            <a:stretch>
              <a:fillRect/>
            </a:stretch>
          </p:blipFill>
          <p:spPr bwMode="auto">
            <a:xfrm>
              <a:off x="4383090" y="2185876"/>
              <a:ext cx="3425820" cy="338624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Middle aged businessman looking at camera working holding smartphone. Mature 45 years old business man executive, business owner or entrepreneur sitting at desk using mobile cell phone. Portrait.">
              <a:extLst>
                <a:ext uri="{FF2B5EF4-FFF2-40B4-BE49-F238E27FC236}">
                  <a16:creationId xmlns:a16="http://schemas.microsoft.com/office/drawing/2014/main" id="{C28B0C08-55DE-13D7-E6E3-C851E074160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4393" r="11145" b="12708"/>
            <a:stretch>
              <a:fillRect/>
            </a:stretch>
          </p:blipFill>
          <p:spPr bwMode="auto">
            <a:xfrm>
              <a:off x="8294694" y="2185876"/>
              <a:ext cx="3425820" cy="3401992"/>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F6868851-193D-74D0-C7EF-599C211779B0}"/>
                </a:ext>
              </a:extLst>
            </p:cNvPr>
            <p:cNvSpPr/>
            <p:nvPr/>
          </p:nvSpPr>
          <p:spPr>
            <a:xfrm>
              <a:off x="471486" y="2185876"/>
              <a:ext cx="3425817" cy="6405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11" name="Rectangle 10">
              <a:extLst>
                <a:ext uri="{FF2B5EF4-FFF2-40B4-BE49-F238E27FC236}">
                  <a16:creationId xmlns:a16="http://schemas.microsoft.com/office/drawing/2014/main" id="{0DAE3520-C786-998D-5A28-56314BEC2599}"/>
                </a:ext>
              </a:extLst>
            </p:cNvPr>
            <p:cNvSpPr/>
            <p:nvPr/>
          </p:nvSpPr>
          <p:spPr>
            <a:xfrm>
              <a:off x="4383091" y="2183387"/>
              <a:ext cx="3425817" cy="6405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12" name="Rectangle 11">
              <a:extLst>
                <a:ext uri="{FF2B5EF4-FFF2-40B4-BE49-F238E27FC236}">
                  <a16:creationId xmlns:a16="http://schemas.microsoft.com/office/drawing/2014/main" id="{ABE27168-ABEB-8916-C060-7D379B3ECD2C}"/>
                </a:ext>
              </a:extLst>
            </p:cNvPr>
            <p:cNvSpPr/>
            <p:nvPr/>
          </p:nvSpPr>
          <p:spPr>
            <a:xfrm>
              <a:off x="8294693" y="2146972"/>
              <a:ext cx="3425817" cy="6405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5" name="TextBox 4">
              <a:extLst>
                <a:ext uri="{FF2B5EF4-FFF2-40B4-BE49-F238E27FC236}">
                  <a16:creationId xmlns:a16="http://schemas.microsoft.com/office/drawing/2014/main" id="{6D2C5C06-DDBA-1644-B7D4-3A20BA102C9F}"/>
                </a:ext>
              </a:extLst>
            </p:cNvPr>
            <p:cNvSpPr txBox="1"/>
            <p:nvPr/>
          </p:nvSpPr>
          <p:spPr>
            <a:xfrm>
              <a:off x="471486" y="2287372"/>
              <a:ext cx="3425819" cy="369332"/>
            </a:xfrm>
            <a:prstGeom prst="rect">
              <a:avLst/>
            </a:prstGeom>
            <a:noFill/>
          </p:spPr>
          <p:txBody>
            <a:bodyPr wrap="square">
              <a:spAutoFit/>
            </a:bodyPr>
            <a:lstStyle/>
            <a:p>
              <a:pPr algn="l" rtl="0" fontAlgn="base"/>
              <a:r>
                <a:rPr lang="en-US" b="1" dirty="0">
                  <a:solidFill>
                    <a:schemeClr val="bg1"/>
                  </a:solidFill>
                </a:rPr>
                <a:t>Process the Transaction</a:t>
              </a:r>
            </a:p>
          </p:txBody>
        </p:sp>
        <p:sp>
          <p:nvSpPr>
            <p:cNvPr id="7" name="TextBox 6">
              <a:extLst>
                <a:ext uri="{FF2B5EF4-FFF2-40B4-BE49-F238E27FC236}">
                  <a16:creationId xmlns:a16="http://schemas.microsoft.com/office/drawing/2014/main" id="{B1D9D3BA-CD5C-0440-3263-79EC745A8AE0}"/>
                </a:ext>
              </a:extLst>
            </p:cNvPr>
            <p:cNvSpPr txBox="1"/>
            <p:nvPr/>
          </p:nvSpPr>
          <p:spPr>
            <a:xfrm>
              <a:off x="4383089" y="2287372"/>
              <a:ext cx="3425819" cy="369332"/>
            </a:xfrm>
            <a:prstGeom prst="rect">
              <a:avLst/>
            </a:prstGeom>
            <a:noFill/>
          </p:spPr>
          <p:txBody>
            <a:bodyPr wrap="square">
              <a:spAutoFit/>
            </a:bodyPr>
            <a:lstStyle/>
            <a:p>
              <a:pPr algn="l" rtl="0" fontAlgn="base"/>
              <a:r>
                <a:rPr lang="en-US" b="1" dirty="0">
                  <a:solidFill>
                    <a:schemeClr val="bg1"/>
                  </a:solidFill>
                </a:rPr>
                <a:t>Ask Question First</a:t>
              </a:r>
            </a:p>
          </p:txBody>
        </p:sp>
        <p:sp>
          <p:nvSpPr>
            <p:cNvPr id="9" name="TextBox 8">
              <a:extLst>
                <a:ext uri="{FF2B5EF4-FFF2-40B4-BE49-F238E27FC236}">
                  <a16:creationId xmlns:a16="http://schemas.microsoft.com/office/drawing/2014/main" id="{4A1D33CD-88C9-3149-94B6-5AE3BAF765B7}"/>
                </a:ext>
              </a:extLst>
            </p:cNvPr>
            <p:cNvSpPr txBox="1"/>
            <p:nvPr/>
          </p:nvSpPr>
          <p:spPr>
            <a:xfrm>
              <a:off x="8294691" y="2146972"/>
              <a:ext cx="3425819" cy="646331"/>
            </a:xfrm>
            <a:prstGeom prst="rect">
              <a:avLst/>
            </a:prstGeom>
            <a:noFill/>
          </p:spPr>
          <p:txBody>
            <a:bodyPr wrap="square">
              <a:spAutoFit/>
            </a:bodyPr>
            <a:lstStyle/>
            <a:p>
              <a:pPr algn="l" rtl="0" fontAlgn="base"/>
              <a:r>
                <a:rPr lang="en-US" b="1" dirty="0">
                  <a:solidFill>
                    <a:schemeClr val="bg1"/>
                  </a:solidFill>
                </a:rPr>
                <a:t>Decline and Escalate Immediately</a:t>
              </a:r>
            </a:p>
          </p:txBody>
        </p:sp>
      </p:grpSp>
      <p:sp>
        <p:nvSpPr>
          <p:cNvPr id="15" name="TextBox 14">
            <a:extLst>
              <a:ext uri="{FF2B5EF4-FFF2-40B4-BE49-F238E27FC236}">
                <a16:creationId xmlns:a16="http://schemas.microsoft.com/office/drawing/2014/main" id="{7603B000-2E55-2318-6ED7-8FD513650BDC}"/>
              </a:ext>
            </a:extLst>
          </p:cNvPr>
          <p:cNvSpPr txBox="1"/>
          <p:nvPr/>
        </p:nvSpPr>
        <p:spPr>
          <a:xfrm>
            <a:off x="405291" y="5587868"/>
            <a:ext cx="3492012" cy="1200329"/>
          </a:xfrm>
          <a:prstGeom prst="rect">
            <a:avLst/>
          </a:prstGeom>
          <a:noFill/>
        </p:spPr>
        <p:txBody>
          <a:bodyPr wrap="square">
            <a:spAutoFit/>
          </a:bodyPr>
          <a:lstStyle/>
          <a:p>
            <a:pPr fontAlgn="base"/>
            <a:r>
              <a:rPr lang="en-US" dirty="0"/>
              <a:t>Maria is a long-time customer. This could be a one-time windfall. Process it normally.</a:t>
            </a:r>
          </a:p>
        </p:txBody>
      </p:sp>
      <p:sp>
        <p:nvSpPr>
          <p:cNvPr id="17" name="TextBox 16">
            <a:extLst>
              <a:ext uri="{FF2B5EF4-FFF2-40B4-BE49-F238E27FC236}">
                <a16:creationId xmlns:a16="http://schemas.microsoft.com/office/drawing/2014/main" id="{272A279F-DF77-A880-2254-80ED0276FC3E}"/>
              </a:ext>
            </a:extLst>
          </p:cNvPr>
          <p:cNvSpPr txBox="1"/>
          <p:nvPr/>
        </p:nvSpPr>
        <p:spPr>
          <a:xfrm>
            <a:off x="4383087" y="5587868"/>
            <a:ext cx="3425817" cy="923330"/>
          </a:xfrm>
          <a:prstGeom prst="rect">
            <a:avLst/>
          </a:prstGeom>
          <a:noFill/>
        </p:spPr>
        <p:txBody>
          <a:bodyPr wrap="square">
            <a:spAutoFit/>
          </a:bodyPr>
          <a:lstStyle/>
          <a:p>
            <a:pPr fontAlgn="base"/>
            <a:r>
              <a:rPr lang="en-US" dirty="0"/>
              <a:t>Something doesn't add up. Ask Maria about the source before deciding.</a:t>
            </a:r>
          </a:p>
        </p:txBody>
      </p:sp>
      <p:sp>
        <p:nvSpPr>
          <p:cNvPr id="19" name="TextBox 18">
            <a:extLst>
              <a:ext uri="{FF2B5EF4-FFF2-40B4-BE49-F238E27FC236}">
                <a16:creationId xmlns:a16="http://schemas.microsoft.com/office/drawing/2014/main" id="{3CC84A71-E2B9-4C86-C170-FF99D5B06F0B}"/>
              </a:ext>
            </a:extLst>
          </p:cNvPr>
          <p:cNvSpPr txBox="1"/>
          <p:nvPr/>
        </p:nvSpPr>
        <p:spPr>
          <a:xfrm>
            <a:off x="8294688" y="5626772"/>
            <a:ext cx="3425817" cy="923330"/>
          </a:xfrm>
          <a:prstGeom prst="rect">
            <a:avLst/>
          </a:prstGeom>
          <a:noFill/>
        </p:spPr>
        <p:txBody>
          <a:bodyPr wrap="square">
            <a:spAutoFit/>
          </a:bodyPr>
          <a:lstStyle/>
          <a:p>
            <a:pPr fontAlgn="base"/>
            <a:r>
              <a:rPr lang="en-US" dirty="0"/>
              <a:t>This is clearly suspicious. Refuse the transaction and notify compliance.</a:t>
            </a:r>
            <a:endParaRPr lang="en-IN" b="0" i="0" dirty="0">
              <a:effectLst/>
              <a:latin typeface="+mn-lt"/>
              <a:cs typeface="Arial" panose="020B0604020202020204" pitchFamily="34" charset="0"/>
            </a:endParaRPr>
          </a:p>
        </p:txBody>
      </p:sp>
      <p:sp>
        <p:nvSpPr>
          <p:cNvPr id="21" name="TextBox 20">
            <a:extLst>
              <a:ext uri="{FF2B5EF4-FFF2-40B4-BE49-F238E27FC236}">
                <a16:creationId xmlns:a16="http://schemas.microsoft.com/office/drawing/2014/main" id="{136F4112-0247-4122-0D6F-3A251363BAF4}"/>
              </a:ext>
            </a:extLst>
          </p:cNvPr>
          <p:cNvSpPr txBox="1"/>
          <p:nvPr/>
        </p:nvSpPr>
        <p:spPr>
          <a:xfrm>
            <a:off x="1036042" y="1561059"/>
            <a:ext cx="9977938" cy="369332"/>
          </a:xfrm>
          <a:prstGeom prst="rect">
            <a:avLst/>
          </a:prstGeom>
          <a:noFill/>
        </p:spPr>
        <p:txBody>
          <a:bodyPr wrap="square">
            <a:spAutoFit/>
          </a:bodyPr>
          <a:lstStyle/>
          <a:p>
            <a:pPr algn="l" rtl="0" fontAlgn="base"/>
            <a:r>
              <a:rPr lang="en-US" sz="1800" b="0" i="1" u="none" strike="noStrike" dirty="0">
                <a:effectLst/>
                <a:latin typeface="+mn-lt"/>
                <a:cs typeface="Calibri"/>
              </a:rPr>
              <a:t>Select each scenario to make an informed decision about Maria.</a:t>
            </a:r>
            <a:endParaRPr lang="en-IN" sz="1800" b="0" i="1" u="none" strike="noStrike" dirty="0">
              <a:effectLst/>
              <a:latin typeface="+mn-lt"/>
              <a:cs typeface="Calibri"/>
            </a:endParaRPr>
          </a:p>
        </p:txBody>
      </p:sp>
    </p:spTree>
    <p:extLst>
      <p:ext uri="{BB962C8B-B14F-4D97-AF65-F5344CB8AC3E}">
        <p14:creationId xmlns:p14="http://schemas.microsoft.com/office/powerpoint/2010/main" val="36516205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9CE73DC-4074-22A1-AAE2-011AF6FF9041}"/>
              </a:ext>
            </a:extLst>
          </p:cNvPr>
          <p:cNvSpPr/>
          <p:nvPr/>
        </p:nvSpPr>
        <p:spPr>
          <a:xfrm>
            <a:off x="1137920" y="1212558"/>
            <a:ext cx="10241280" cy="5645442"/>
          </a:xfrm>
          <a:prstGeom prst="rect">
            <a:avLst/>
          </a:prstGeom>
          <a:solidFill>
            <a:schemeClr val="bg1"/>
          </a:solidFill>
          <a:ln>
            <a:noFill/>
          </a:ln>
          <a:effectLst>
            <a:outerShdw blurRad="63500" sx="102000" sy="102000" algn="ctr"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13" name="TextBox 12">
            <a:extLst>
              <a:ext uri="{FF2B5EF4-FFF2-40B4-BE49-F238E27FC236}">
                <a16:creationId xmlns:a16="http://schemas.microsoft.com/office/drawing/2014/main" id="{C7903315-AEB4-9C49-1B67-D2C008025B45}"/>
              </a:ext>
            </a:extLst>
          </p:cNvPr>
          <p:cNvSpPr txBox="1"/>
          <p:nvPr/>
        </p:nvSpPr>
        <p:spPr>
          <a:xfrm>
            <a:off x="1137920" y="1192836"/>
            <a:ext cx="9520555" cy="369332"/>
          </a:xfrm>
          <a:prstGeom prst="rect">
            <a:avLst/>
          </a:prstGeom>
          <a:noFill/>
        </p:spPr>
        <p:txBody>
          <a:bodyPr wrap="square">
            <a:spAutoFit/>
          </a:bodyPr>
          <a:lstStyle/>
          <a:p>
            <a:r>
              <a:rPr lang="en-US" b="1" dirty="0"/>
              <a:t>After 6 months you read the following headline in newspaper…</a:t>
            </a:r>
          </a:p>
        </p:txBody>
      </p:sp>
      <p:sp>
        <p:nvSpPr>
          <p:cNvPr id="3" name="Text Placeholder 8">
            <a:extLst>
              <a:ext uri="{FF2B5EF4-FFF2-40B4-BE49-F238E27FC236}">
                <a16:creationId xmlns:a16="http://schemas.microsoft.com/office/drawing/2014/main" id="{D48AAA88-1BE4-CEEE-2335-EA37D29D4144}"/>
              </a:ext>
            </a:extLst>
          </p:cNvPr>
          <p:cNvSpPr txBox="1">
            <a:spLocks/>
          </p:cNvSpPr>
          <p:nvPr/>
        </p:nvSpPr>
        <p:spPr>
          <a:xfrm>
            <a:off x="1036042" y="650626"/>
            <a:ext cx="4832117" cy="423862"/>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01AFE6"/>
                </a:solidFill>
                <a:latin typeface="+mj-lt"/>
                <a:cs typeface="Arial" panose="020B0604020202020204" pitchFamily="34" charset="0"/>
              </a:rPr>
              <a:t>Process the Transaction</a:t>
            </a:r>
            <a:endParaRPr lang="en-US" sz="2000" b="1" dirty="0">
              <a:solidFill>
                <a:srgbClr val="01AFE6"/>
              </a:solidFill>
              <a:latin typeface="+mj-lt"/>
            </a:endParaRPr>
          </a:p>
        </p:txBody>
      </p:sp>
      <p:pic>
        <p:nvPicPr>
          <p:cNvPr id="1026" name="Picture 2" descr="Newspaper front page template. Blank old vector generic newspaper mockup with copy space for your headline.">
            <a:extLst>
              <a:ext uri="{FF2B5EF4-FFF2-40B4-BE49-F238E27FC236}">
                <a16:creationId xmlns:a16="http://schemas.microsoft.com/office/drawing/2014/main" id="{D8166363-DCB6-773F-6131-B10121A375B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779" t="7284" r="7240" b="15678"/>
          <a:stretch>
            <a:fillRect/>
          </a:stretch>
        </p:blipFill>
        <p:spPr bwMode="auto">
          <a:xfrm>
            <a:off x="2382520" y="1700238"/>
            <a:ext cx="7752080" cy="515776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C307DA33-5312-0FB7-73E4-6063EDAA3DD5}"/>
              </a:ext>
            </a:extLst>
          </p:cNvPr>
          <p:cNvSpPr/>
          <p:nvPr/>
        </p:nvSpPr>
        <p:spPr>
          <a:xfrm>
            <a:off x="3850640" y="3200400"/>
            <a:ext cx="4094480" cy="3322320"/>
          </a:xfrm>
          <a:prstGeom prst="rect">
            <a:avLst/>
          </a:prstGeom>
          <a:solidFill>
            <a:srgbClr val="F6F3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7" name="TextBox 6">
            <a:extLst>
              <a:ext uri="{FF2B5EF4-FFF2-40B4-BE49-F238E27FC236}">
                <a16:creationId xmlns:a16="http://schemas.microsoft.com/office/drawing/2014/main" id="{A8D2E663-3384-64FB-B821-9F6A4521B901}"/>
              </a:ext>
            </a:extLst>
          </p:cNvPr>
          <p:cNvSpPr txBox="1"/>
          <p:nvPr/>
        </p:nvSpPr>
        <p:spPr>
          <a:xfrm>
            <a:off x="4035331" y="3275038"/>
            <a:ext cx="3798029" cy="1200329"/>
          </a:xfrm>
          <a:prstGeom prst="rect">
            <a:avLst/>
          </a:prstGeom>
          <a:noFill/>
        </p:spPr>
        <p:txBody>
          <a:bodyPr wrap="square">
            <a:spAutoFit/>
          </a:bodyPr>
          <a:lstStyle/>
          <a:p>
            <a:r>
              <a:rPr lang="en-US" b="1" dirty="0"/>
              <a:t>Teacher Arrested in $500K Money Laundering Scheme</a:t>
            </a:r>
          </a:p>
          <a:p>
            <a:r>
              <a:rPr lang="en-US" dirty="0"/>
              <a:t>Investigation reveals 'money mule' role in elder fraud ring</a:t>
            </a:r>
          </a:p>
        </p:txBody>
      </p:sp>
      <p:sp>
        <p:nvSpPr>
          <p:cNvPr id="8" name="TextBox 7">
            <a:extLst>
              <a:ext uri="{FF2B5EF4-FFF2-40B4-BE49-F238E27FC236}">
                <a16:creationId xmlns:a16="http://schemas.microsoft.com/office/drawing/2014/main" id="{BF479519-D9E2-A5CD-ACC2-0C9340DD0E5D}"/>
              </a:ext>
            </a:extLst>
          </p:cNvPr>
          <p:cNvSpPr txBox="1"/>
          <p:nvPr/>
        </p:nvSpPr>
        <p:spPr>
          <a:xfrm>
            <a:off x="4035331" y="4550005"/>
            <a:ext cx="3798029" cy="1723549"/>
          </a:xfrm>
          <a:prstGeom prst="rect">
            <a:avLst/>
          </a:prstGeom>
          <a:noFill/>
        </p:spPr>
        <p:txBody>
          <a:bodyPr wrap="square">
            <a:spAutoFit/>
          </a:bodyPr>
          <a:lstStyle/>
          <a:p>
            <a:r>
              <a:rPr lang="en-US" sz="1400" b="1" dirty="0"/>
              <a:t>Additional Victims: </a:t>
            </a:r>
            <a:r>
              <a:rPr lang="en-US" sz="1400" dirty="0"/>
              <a:t>8</a:t>
            </a:r>
          </a:p>
          <a:p>
            <a:r>
              <a:rPr lang="en-US" sz="1400" b="1" dirty="0"/>
              <a:t>Total amount laundered: </a:t>
            </a:r>
            <a:r>
              <a:rPr lang="en-US" sz="1400" dirty="0"/>
              <a:t>$312,000 </a:t>
            </a:r>
          </a:p>
          <a:p>
            <a:r>
              <a:rPr lang="en-US" sz="1400" b="1" dirty="0"/>
              <a:t>Your bank's regulatory fine: </a:t>
            </a:r>
            <a:r>
              <a:rPr lang="en-US" sz="1400" dirty="0"/>
              <a:t>$150,000 </a:t>
            </a:r>
          </a:p>
          <a:p>
            <a:r>
              <a:rPr lang="en-US" sz="1400" b="1" dirty="0"/>
              <a:t>Your role: </a:t>
            </a:r>
            <a:r>
              <a:rPr lang="en-US" sz="1400" dirty="0"/>
              <a:t>Subject of internal investigation</a:t>
            </a:r>
            <a:endParaRPr lang="en-US" sz="1400" dirty="0">
              <a:cs typeface="Arial" panose="020B0604020202020204" pitchFamily="34" charset="0"/>
            </a:endParaRPr>
          </a:p>
          <a:p>
            <a:endParaRPr lang="en-US" b="1" dirty="0"/>
          </a:p>
          <a:p>
            <a:endParaRPr lang="en-US" b="1" dirty="0"/>
          </a:p>
        </p:txBody>
      </p:sp>
    </p:spTree>
    <p:extLst>
      <p:ext uri="{BB962C8B-B14F-4D97-AF65-F5344CB8AC3E}">
        <p14:creationId xmlns:p14="http://schemas.microsoft.com/office/powerpoint/2010/main" val="36342012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9FA4E-E2FD-EF6E-4E8B-B55C5317F91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39FF752-97FA-529C-8C12-48F8F54E0E43}"/>
              </a:ext>
            </a:extLst>
          </p:cNvPr>
          <p:cNvSpPr/>
          <p:nvPr/>
        </p:nvSpPr>
        <p:spPr>
          <a:xfrm>
            <a:off x="1137920" y="1212558"/>
            <a:ext cx="10241280" cy="5645442"/>
          </a:xfrm>
          <a:prstGeom prst="rect">
            <a:avLst/>
          </a:prstGeom>
          <a:solidFill>
            <a:schemeClr val="bg1"/>
          </a:solidFill>
          <a:ln>
            <a:noFill/>
          </a:ln>
          <a:effectLst>
            <a:outerShdw blurRad="63500" sx="102000" sy="102000" algn="ctr"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13" name="TextBox 12">
            <a:extLst>
              <a:ext uri="{FF2B5EF4-FFF2-40B4-BE49-F238E27FC236}">
                <a16:creationId xmlns:a16="http://schemas.microsoft.com/office/drawing/2014/main" id="{0A684DDE-7A7F-6A75-7ABC-AD3F2AF790C4}"/>
              </a:ext>
            </a:extLst>
          </p:cNvPr>
          <p:cNvSpPr txBox="1"/>
          <p:nvPr/>
        </p:nvSpPr>
        <p:spPr>
          <a:xfrm>
            <a:off x="1137920" y="1192836"/>
            <a:ext cx="9520555" cy="369332"/>
          </a:xfrm>
          <a:prstGeom prst="rect">
            <a:avLst/>
          </a:prstGeom>
          <a:noFill/>
        </p:spPr>
        <p:txBody>
          <a:bodyPr wrap="square">
            <a:spAutoFit/>
          </a:bodyPr>
          <a:lstStyle/>
          <a:p>
            <a:r>
              <a:rPr lang="en-US" b="1" dirty="0"/>
              <a:t>Why didn’t this work?</a:t>
            </a:r>
          </a:p>
        </p:txBody>
      </p:sp>
      <p:sp>
        <p:nvSpPr>
          <p:cNvPr id="3" name="Text Placeholder 8">
            <a:extLst>
              <a:ext uri="{FF2B5EF4-FFF2-40B4-BE49-F238E27FC236}">
                <a16:creationId xmlns:a16="http://schemas.microsoft.com/office/drawing/2014/main" id="{0A716657-DC78-AAD5-C3CE-87B1D67D0495}"/>
              </a:ext>
            </a:extLst>
          </p:cNvPr>
          <p:cNvSpPr txBox="1">
            <a:spLocks/>
          </p:cNvSpPr>
          <p:nvPr/>
        </p:nvSpPr>
        <p:spPr>
          <a:xfrm>
            <a:off x="1036042" y="650626"/>
            <a:ext cx="4832117" cy="423862"/>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01AFE6"/>
                </a:solidFill>
                <a:latin typeface="+mj-lt"/>
                <a:cs typeface="Arial" panose="020B0604020202020204" pitchFamily="34" charset="0"/>
              </a:rPr>
              <a:t>Process the Transaction</a:t>
            </a:r>
            <a:endParaRPr lang="en-US" sz="2000" b="1" dirty="0">
              <a:solidFill>
                <a:srgbClr val="01AFE6"/>
              </a:solidFill>
              <a:latin typeface="+mj-lt"/>
            </a:endParaRPr>
          </a:p>
        </p:txBody>
      </p:sp>
      <p:sp>
        <p:nvSpPr>
          <p:cNvPr id="2" name="Rectangle: Rounded Corners 1">
            <a:extLst>
              <a:ext uri="{FF2B5EF4-FFF2-40B4-BE49-F238E27FC236}">
                <a16:creationId xmlns:a16="http://schemas.microsoft.com/office/drawing/2014/main" id="{9A5CFF5F-7551-64E8-EBD6-CB3580B6D305}"/>
              </a:ext>
            </a:extLst>
          </p:cNvPr>
          <p:cNvSpPr/>
          <p:nvPr/>
        </p:nvSpPr>
        <p:spPr>
          <a:xfrm>
            <a:off x="1477867" y="4549676"/>
            <a:ext cx="3258539" cy="418875"/>
          </a:xfrm>
          <a:prstGeom prst="roundRect">
            <a:avLst>
              <a:gd name="adj" fmla="val 40738"/>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Key Learning</a:t>
            </a:r>
          </a:p>
        </p:txBody>
      </p:sp>
      <p:sp>
        <p:nvSpPr>
          <p:cNvPr id="9" name="TextBox 8">
            <a:extLst>
              <a:ext uri="{FF2B5EF4-FFF2-40B4-BE49-F238E27FC236}">
                <a16:creationId xmlns:a16="http://schemas.microsoft.com/office/drawing/2014/main" id="{0C58C928-17E1-B351-D304-6D7B521BA132}"/>
              </a:ext>
            </a:extLst>
          </p:cNvPr>
          <p:cNvSpPr txBox="1"/>
          <p:nvPr/>
        </p:nvSpPr>
        <p:spPr>
          <a:xfrm>
            <a:off x="1477867" y="1901760"/>
            <a:ext cx="9766395" cy="2308324"/>
          </a:xfrm>
          <a:prstGeom prst="rect">
            <a:avLst/>
          </a:prstGeom>
          <a:noFill/>
        </p:spPr>
        <p:txBody>
          <a:bodyPr wrap="square">
            <a:spAutoFit/>
          </a:bodyPr>
          <a:lstStyle/>
          <a:p>
            <a:r>
              <a:rPr lang="en-US" dirty="0"/>
              <a:t>A teacher depositing 10x her monthly income in cash is a critical red flag, regardless of how long she's been a customer. </a:t>
            </a:r>
          </a:p>
          <a:p>
            <a:r>
              <a:rPr lang="en-US" b="1" dirty="0"/>
              <a:t>Red flags don't disappear because someone is familiar.</a:t>
            </a:r>
          </a:p>
          <a:p>
            <a:endParaRPr lang="en-US" dirty="0"/>
          </a:p>
          <a:p>
            <a:r>
              <a:rPr lang="en-US" b="1" dirty="0"/>
              <a:t>What You Missed:</a:t>
            </a:r>
            <a:endParaRPr lang="en-US" dirty="0"/>
          </a:p>
          <a:p>
            <a:r>
              <a:rPr lang="en-US" dirty="0"/>
              <a:t>Income inconsistency (profile vs. cash amount)</a:t>
            </a:r>
          </a:p>
          <a:p>
            <a:r>
              <a:rPr lang="en-US" dirty="0"/>
              <a:t>Cash form (unusual for legitimate windfalls)</a:t>
            </a:r>
          </a:p>
          <a:p>
            <a:r>
              <a:rPr lang="en-US" dirty="0"/>
              <a:t>No volunteered explanation of source</a:t>
            </a:r>
          </a:p>
        </p:txBody>
      </p:sp>
      <p:sp>
        <p:nvSpPr>
          <p:cNvPr id="11" name="TextBox 10">
            <a:extLst>
              <a:ext uri="{FF2B5EF4-FFF2-40B4-BE49-F238E27FC236}">
                <a16:creationId xmlns:a16="http://schemas.microsoft.com/office/drawing/2014/main" id="{416FC25B-3439-C527-6362-12791D19694C}"/>
              </a:ext>
            </a:extLst>
          </p:cNvPr>
          <p:cNvSpPr txBox="1"/>
          <p:nvPr/>
        </p:nvSpPr>
        <p:spPr>
          <a:xfrm>
            <a:off x="1477867" y="5183777"/>
            <a:ext cx="9766394" cy="923330"/>
          </a:xfrm>
          <a:prstGeom prst="rect">
            <a:avLst/>
          </a:prstGeom>
          <a:noFill/>
        </p:spPr>
        <p:txBody>
          <a:bodyPr wrap="square">
            <a:spAutoFit/>
          </a:bodyPr>
          <a:lstStyle/>
          <a:p>
            <a:r>
              <a:rPr lang="en-US" dirty="0"/>
              <a:t>Criminals deliberately use 'clean' profiles and trusted relationships. Your vigilance protects both the bank and potential victims—including customers who may be coerced.</a:t>
            </a:r>
            <a:endParaRPr lang="en-UG" dirty="0"/>
          </a:p>
        </p:txBody>
      </p:sp>
      <p:sp>
        <p:nvSpPr>
          <p:cNvPr id="12" name="Rectangle: Rounded Corners 11">
            <a:extLst>
              <a:ext uri="{FF2B5EF4-FFF2-40B4-BE49-F238E27FC236}">
                <a16:creationId xmlns:a16="http://schemas.microsoft.com/office/drawing/2014/main" id="{74CBA148-A1CC-BC66-59FB-29848DA841BB}"/>
              </a:ext>
            </a:extLst>
          </p:cNvPr>
          <p:cNvSpPr/>
          <p:nvPr/>
        </p:nvSpPr>
        <p:spPr>
          <a:xfrm>
            <a:off x="1477867" y="6218162"/>
            <a:ext cx="3258539" cy="418875"/>
          </a:xfrm>
          <a:prstGeom prst="roundRect">
            <a:avLst>
              <a:gd name="adj" fmla="val 40738"/>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Try Again!</a:t>
            </a:r>
          </a:p>
        </p:txBody>
      </p:sp>
    </p:spTree>
    <p:extLst>
      <p:ext uri="{BB962C8B-B14F-4D97-AF65-F5344CB8AC3E}">
        <p14:creationId xmlns:p14="http://schemas.microsoft.com/office/powerpoint/2010/main" val="40635618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1D32A-D17E-6FDC-7FE9-CB6A16DF1CA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A0E2436-B3FA-75BB-F388-313E4D6C5BE8}"/>
              </a:ext>
            </a:extLst>
          </p:cNvPr>
          <p:cNvSpPr/>
          <p:nvPr/>
        </p:nvSpPr>
        <p:spPr>
          <a:xfrm>
            <a:off x="1137920" y="1212558"/>
            <a:ext cx="10241280" cy="5645442"/>
          </a:xfrm>
          <a:prstGeom prst="rect">
            <a:avLst/>
          </a:prstGeom>
          <a:solidFill>
            <a:schemeClr val="bg1"/>
          </a:solidFill>
          <a:ln>
            <a:noFill/>
          </a:ln>
          <a:effectLst>
            <a:outerShdw blurRad="63500" sx="102000" sy="102000" algn="ctr"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13" name="TextBox 12">
            <a:extLst>
              <a:ext uri="{FF2B5EF4-FFF2-40B4-BE49-F238E27FC236}">
                <a16:creationId xmlns:a16="http://schemas.microsoft.com/office/drawing/2014/main" id="{4F95BF62-A4CB-1ADB-56B3-B17E14EF2FC6}"/>
              </a:ext>
            </a:extLst>
          </p:cNvPr>
          <p:cNvSpPr txBox="1"/>
          <p:nvPr/>
        </p:nvSpPr>
        <p:spPr>
          <a:xfrm>
            <a:off x="1137920" y="1192836"/>
            <a:ext cx="9520555" cy="369332"/>
          </a:xfrm>
          <a:prstGeom prst="rect">
            <a:avLst/>
          </a:prstGeom>
          <a:noFill/>
        </p:spPr>
        <p:txBody>
          <a:bodyPr wrap="square">
            <a:spAutoFit/>
          </a:bodyPr>
          <a:lstStyle/>
          <a:p>
            <a:r>
              <a:rPr lang="en-US" b="1" dirty="0"/>
              <a:t>Conversation</a:t>
            </a:r>
          </a:p>
        </p:txBody>
      </p:sp>
      <p:sp>
        <p:nvSpPr>
          <p:cNvPr id="3" name="Text Placeholder 8">
            <a:extLst>
              <a:ext uri="{FF2B5EF4-FFF2-40B4-BE49-F238E27FC236}">
                <a16:creationId xmlns:a16="http://schemas.microsoft.com/office/drawing/2014/main" id="{8241EF17-3E5D-25A0-67AC-9491D6280D72}"/>
              </a:ext>
            </a:extLst>
          </p:cNvPr>
          <p:cNvSpPr txBox="1">
            <a:spLocks/>
          </p:cNvSpPr>
          <p:nvPr/>
        </p:nvSpPr>
        <p:spPr>
          <a:xfrm>
            <a:off x="1036042" y="650626"/>
            <a:ext cx="4832117" cy="423862"/>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01AFE6"/>
                </a:solidFill>
                <a:latin typeface="+mj-lt"/>
                <a:cs typeface="Arial" panose="020B0604020202020204" pitchFamily="34" charset="0"/>
              </a:rPr>
              <a:t>Ask Question First</a:t>
            </a:r>
            <a:endParaRPr lang="en-US" sz="2000" b="1" dirty="0">
              <a:solidFill>
                <a:srgbClr val="01AFE6"/>
              </a:solidFill>
              <a:latin typeface="+mj-lt"/>
            </a:endParaRPr>
          </a:p>
        </p:txBody>
      </p:sp>
      <p:pic>
        <p:nvPicPr>
          <p:cNvPr id="5" name="Picture 2" descr="Happy primary school teacher standing in the classroom and looking at camera.">
            <a:extLst>
              <a:ext uri="{FF2B5EF4-FFF2-40B4-BE49-F238E27FC236}">
                <a16:creationId xmlns:a16="http://schemas.microsoft.com/office/drawing/2014/main" id="{49390732-4EAF-5E5B-4482-531A6AB1E42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6394" r="8029" b="23022"/>
          <a:stretch>
            <a:fillRect/>
          </a:stretch>
        </p:blipFill>
        <p:spPr bwMode="auto">
          <a:xfrm>
            <a:off x="9644909" y="2747316"/>
            <a:ext cx="1156859" cy="1175041"/>
          </a:xfrm>
          <a:prstGeom prst="ellipse">
            <a:avLst/>
          </a:prstGeom>
          <a:noFill/>
          <a:extLst>
            <a:ext uri="{909E8E84-426E-40DD-AFC4-6F175D3DCCD1}">
              <a14:hiddenFill xmlns:a14="http://schemas.microsoft.com/office/drawing/2010/main">
                <a:solidFill>
                  <a:srgbClr val="FFFFFF"/>
                </a:solidFill>
              </a14:hiddenFill>
            </a:ext>
          </a:extLst>
        </p:spPr>
      </p:pic>
      <p:pic>
        <p:nvPicPr>
          <p:cNvPr id="2050" name="Picture 2" descr="Happy middle aged professional business man, smiling mature executive ceo manager, 45 years old male entrepreneur, confident business owner wearing glasses in office. Headshot portrait.">
            <a:extLst>
              <a:ext uri="{FF2B5EF4-FFF2-40B4-BE49-F238E27FC236}">
                <a16:creationId xmlns:a16="http://schemas.microsoft.com/office/drawing/2014/main" id="{269ECFC8-86B5-9D2F-6594-8059A64471E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2865" t="3515" r="17858" b="14166"/>
          <a:stretch>
            <a:fillRect/>
          </a:stretch>
        </p:blipFill>
        <p:spPr bwMode="auto">
          <a:xfrm>
            <a:off x="1390232" y="1746213"/>
            <a:ext cx="1118666" cy="1139228"/>
          </a:xfrm>
          <a:prstGeom prst="ellipse">
            <a:avLst/>
          </a:prstGeom>
          <a:noFill/>
          <a:extLst>
            <a:ext uri="{909E8E84-426E-40DD-AFC4-6F175D3DCCD1}">
              <a14:hiddenFill xmlns:a14="http://schemas.microsoft.com/office/drawing/2010/main">
                <a:solidFill>
                  <a:srgbClr val="FFFFFF"/>
                </a:solidFill>
              </a14:hiddenFill>
            </a:ext>
          </a:extLst>
        </p:spPr>
      </p:pic>
      <p:sp>
        <p:nvSpPr>
          <p:cNvPr id="6" name="Speech Bubble: Rectangle with Corners Rounded 5">
            <a:extLst>
              <a:ext uri="{FF2B5EF4-FFF2-40B4-BE49-F238E27FC236}">
                <a16:creationId xmlns:a16="http://schemas.microsoft.com/office/drawing/2014/main" id="{DEB45194-FE46-F50A-D7CC-92410B7E0796}"/>
              </a:ext>
            </a:extLst>
          </p:cNvPr>
          <p:cNvSpPr/>
          <p:nvPr/>
        </p:nvSpPr>
        <p:spPr>
          <a:xfrm>
            <a:off x="3023359" y="1779049"/>
            <a:ext cx="5689600" cy="772160"/>
          </a:xfrm>
          <a:prstGeom prst="wedgeRoundRectCallout">
            <a:avLst>
              <a:gd name="adj1" fmla="val -55476"/>
              <a:gd name="adj2" fmla="val 3750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Hi Maria! That's quite a deposit. Can you tell me where this came from?</a:t>
            </a:r>
            <a:endParaRPr lang="en-UG" dirty="0"/>
          </a:p>
        </p:txBody>
      </p:sp>
      <p:sp>
        <p:nvSpPr>
          <p:cNvPr id="7" name="Speech Bubble: Rectangle with Corners Rounded 6">
            <a:extLst>
              <a:ext uri="{FF2B5EF4-FFF2-40B4-BE49-F238E27FC236}">
                <a16:creationId xmlns:a16="http://schemas.microsoft.com/office/drawing/2014/main" id="{69FA3E2F-AB6E-88EB-4DA8-1D6C7AF21C72}"/>
              </a:ext>
            </a:extLst>
          </p:cNvPr>
          <p:cNvSpPr/>
          <p:nvPr/>
        </p:nvSpPr>
        <p:spPr>
          <a:xfrm>
            <a:off x="3594340" y="2768090"/>
            <a:ext cx="5689600" cy="772160"/>
          </a:xfrm>
          <a:prstGeom prst="wedgeRoundRectCallout">
            <a:avLst>
              <a:gd name="adj1" fmla="val 54703"/>
              <a:gd name="adj2" fmla="val 33553"/>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Oh... um, it's from... my uncle. He's helping me with a down payment on a house.</a:t>
            </a:r>
            <a:endParaRPr lang="en-UG" dirty="0"/>
          </a:p>
        </p:txBody>
      </p:sp>
      <p:pic>
        <p:nvPicPr>
          <p:cNvPr id="8" name="Picture 2" descr="Happy middle aged professional business man, smiling mature executive ceo manager, 45 years old male entrepreneur, confident business owner wearing glasses in office. Headshot portrait.">
            <a:extLst>
              <a:ext uri="{FF2B5EF4-FFF2-40B4-BE49-F238E27FC236}">
                <a16:creationId xmlns:a16="http://schemas.microsoft.com/office/drawing/2014/main" id="{F25EB1A8-835C-16DA-DD3A-3E505AD5DC8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2865" t="3515" r="17858" b="14166"/>
          <a:stretch>
            <a:fillRect/>
          </a:stretch>
        </p:blipFill>
        <p:spPr bwMode="auto">
          <a:xfrm>
            <a:off x="1399770" y="3757131"/>
            <a:ext cx="1118666" cy="1139228"/>
          </a:xfrm>
          <a:prstGeom prst="ellipse">
            <a:avLst/>
          </a:prstGeom>
          <a:noFill/>
          <a:extLst>
            <a:ext uri="{909E8E84-426E-40DD-AFC4-6F175D3DCCD1}">
              <a14:hiddenFill xmlns:a14="http://schemas.microsoft.com/office/drawing/2010/main">
                <a:solidFill>
                  <a:srgbClr val="FFFFFF"/>
                </a:solidFill>
              </a14:hiddenFill>
            </a:ext>
          </a:extLst>
        </p:spPr>
      </p:pic>
      <p:sp>
        <p:nvSpPr>
          <p:cNvPr id="10" name="Speech Bubble: Rectangle with Corners Rounded 9">
            <a:extLst>
              <a:ext uri="{FF2B5EF4-FFF2-40B4-BE49-F238E27FC236}">
                <a16:creationId xmlns:a16="http://schemas.microsoft.com/office/drawing/2014/main" id="{3B84F62E-06CA-A5F4-3BAA-04639D9DCF5E}"/>
              </a:ext>
            </a:extLst>
          </p:cNvPr>
          <p:cNvSpPr/>
          <p:nvPr/>
        </p:nvSpPr>
        <p:spPr>
          <a:xfrm>
            <a:off x="3032897" y="3789967"/>
            <a:ext cx="5689600" cy="772160"/>
          </a:xfrm>
          <a:prstGeom prst="wedgeRoundRectCallout">
            <a:avLst>
              <a:gd name="adj1" fmla="val -55476"/>
              <a:gd name="adj2" fmla="val 3750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That's wonderful! Is your uncle local?</a:t>
            </a:r>
            <a:endParaRPr lang="en-UG" dirty="0"/>
          </a:p>
        </p:txBody>
      </p:sp>
      <p:pic>
        <p:nvPicPr>
          <p:cNvPr id="14" name="Picture 2" descr="Happy primary school teacher standing in the classroom and looking at camera.">
            <a:extLst>
              <a:ext uri="{FF2B5EF4-FFF2-40B4-BE49-F238E27FC236}">
                <a16:creationId xmlns:a16="http://schemas.microsoft.com/office/drawing/2014/main" id="{757F5CB5-50A2-70AD-9AB2-35AF3D0B51F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6394" r="8029" b="23022"/>
          <a:stretch>
            <a:fillRect/>
          </a:stretch>
        </p:blipFill>
        <p:spPr bwMode="auto">
          <a:xfrm>
            <a:off x="9644909" y="4791070"/>
            <a:ext cx="1156859" cy="1175041"/>
          </a:xfrm>
          <a:prstGeom prst="ellipse">
            <a:avLst/>
          </a:prstGeom>
          <a:noFill/>
          <a:extLst>
            <a:ext uri="{909E8E84-426E-40DD-AFC4-6F175D3DCCD1}">
              <a14:hiddenFill xmlns:a14="http://schemas.microsoft.com/office/drawing/2010/main">
                <a:solidFill>
                  <a:srgbClr val="FFFFFF"/>
                </a:solidFill>
              </a14:hiddenFill>
            </a:ext>
          </a:extLst>
        </p:spPr>
      </p:pic>
      <p:sp>
        <p:nvSpPr>
          <p:cNvPr id="15" name="Speech Bubble: Rectangle with Corners Rounded 14">
            <a:extLst>
              <a:ext uri="{FF2B5EF4-FFF2-40B4-BE49-F238E27FC236}">
                <a16:creationId xmlns:a16="http://schemas.microsoft.com/office/drawing/2014/main" id="{653581AA-1B6A-2917-B87A-7C094E71A5CA}"/>
              </a:ext>
            </a:extLst>
          </p:cNvPr>
          <p:cNvSpPr/>
          <p:nvPr/>
        </p:nvSpPr>
        <p:spPr>
          <a:xfrm>
            <a:off x="3594340" y="4811844"/>
            <a:ext cx="5689600" cy="772160"/>
          </a:xfrm>
          <a:prstGeom prst="wedgeRoundRectCallout">
            <a:avLst>
              <a:gd name="adj1" fmla="val 54703"/>
              <a:gd name="adj2" fmla="val 33553"/>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No, he's... overseas. He had someone deliver the cash to me.</a:t>
            </a:r>
            <a:endParaRPr lang="en-UG" dirty="0"/>
          </a:p>
        </p:txBody>
      </p:sp>
    </p:spTree>
    <p:extLst>
      <p:ext uri="{BB962C8B-B14F-4D97-AF65-F5344CB8AC3E}">
        <p14:creationId xmlns:p14="http://schemas.microsoft.com/office/powerpoint/2010/main" val="2018759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38045-FDC4-0968-A29D-23D03E09A09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3222DD1-4E16-EB51-25A0-E25683D48075}"/>
              </a:ext>
            </a:extLst>
          </p:cNvPr>
          <p:cNvSpPr/>
          <p:nvPr/>
        </p:nvSpPr>
        <p:spPr>
          <a:xfrm>
            <a:off x="1137920" y="1212558"/>
            <a:ext cx="10241280" cy="5645442"/>
          </a:xfrm>
          <a:prstGeom prst="rect">
            <a:avLst/>
          </a:prstGeom>
          <a:solidFill>
            <a:schemeClr val="bg1"/>
          </a:solidFill>
          <a:ln>
            <a:noFill/>
          </a:ln>
          <a:effectLst>
            <a:outerShdw blurRad="63500" sx="102000" sy="102000" algn="ctr"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13" name="TextBox 12">
            <a:extLst>
              <a:ext uri="{FF2B5EF4-FFF2-40B4-BE49-F238E27FC236}">
                <a16:creationId xmlns:a16="http://schemas.microsoft.com/office/drawing/2014/main" id="{E49D0A4E-602C-58BD-B6CD-B73A42E27AB2}"/>
              </a:ext>
            </a:extLst>
          </p:cNvPr>
          <p:cNvSpPr txBox="1"/>
          <p:nvPr/>
        </p:nvSpPr>
        <p:spPr>
          <a:xfrm>
            <a:off x="1137920" y="1192836"/>
            <a:ext cx="9520555" cy="369332"/>
          </a:xfrm>
          <a:prstGeom prst="rect">
            <a:avLst/>
          </a:prstGeom>
          <a:noFill/>
        </p:spPr>
        <p:txBody>
          <a:bodyPr wrap="square">
            <a:spAutoFit/>
          </a:bodyPr>
          <a:lstStyle/>
          <a:p>
            <a:r>
              <a:rPr lang="en-US" b="1" dirty="0"/>
              <a:t>Conversation</a:t>
            </a:r>
          </a:p>
        </p:txBody>
      </p:sp>
      <p:sp>
        <p:nvSpPr>
          <p:cNvPr id="3" name="Text Placeholder 8">
            <a:extLst>
              <a:ext uri="{FF2B5EF4-FFF2-40B4-BE49-F238E27FC236}">
                <a16:creationId xmlns:a16="http://schemas.microsoft.com/office/drawing/2014/main" id="{E68D2B50-6469-DF42-3D63-DA898EBCD9B9}"/>
              </a:ext>
            </a:extLst>
          </p:cNvPr>
          <p:cNvSpPr txBox="1">
            <a:spLocks/>
          </p:cNvSpPr>
          <p:nvPr/>
        </p:nvSpPr>
        <p:spPr>
          <a:xfrm>
            <a:off x="1036042" y="650626"/>
            <a:ext cx="4832117" cy="423862"/>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01AFE6"/>
                </a:solidFill>
                <a:latin typeface="+mj-lt"/>
                <a:cs typeface="Arial" panose="020B0604020202020204" pitchFamily="34" charset="0"/>
              </a:rPr>
              <a:t>Ask Question First</a:t>
            </a:r>
            <a:endParaRPr lang="en-US" sz="2000" b="1" dirty="0">
              <a:solidFill>
                <a:srgbClr val="01AFE6"/>
              </a:solidFill>
              <a:latin typeface="+mj-lt"/>
            </a:endParaRPr>
          </a:p>
        </p:txBody>
      </p:sp>
      <p:pic>
        <p:nvPicPr>
          <p:cNvPr id="5" name="Picture 2" descr="Happy primary school teacher standing in the classroom and looking at camera.">
            <a:extLst>
              <a:ext uri="{FF2B5EF4-FFF2-40B4-BE49-F238E27FC236}">
                <a16:creationId xmlns:a16="http://schemas.microsoft.com/office/drawing/2014/main" id="{B284A0CF-B6BC-E7E0-527C-DDF3279F2C8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6394" r="8029" b="23022"/>
          <a:stretch>
            <a:fillRect/>
          </a:stretch>
        </p:blipFill>
        <p:spPr bwMode="auto">
          <a:xfrm>
            <a:off x="9644909" y="2747316"/>
            <a:ext cx="1156859" cy="1175041"/>
          </a:xfrm>
          <a:prstGeom prst="ellipse">
            <a:avLst/>
          </a:prstGeom>
          <a:noFill/>
          <a:extLst>
            <a:ext uri="{909E8E84-426E-40DD-AFC4-6F175D3DCCD1}">
              <a14:hiddenFill xmlns:a14="http://schemas.microsoft.com/office/drawing/2010/main">
                <a:solidFill>
                  <a:srgbClr val="FFFFFF"/>
                </a:solidFill>
              </a14:hiddenFill>
            </a:ext>
          </a:extLst>
        </p:spPr>
      </p:pic>
      <p:pic>
        <p:nvPicPr>
          <p:cNvPr id="2050" name="Picture 2" descr="Happy middle aged professional business man, smiling mature executive ceo manager, 45 years old male entrepreneur, confident business owner wearing glasses in office. Headshot portrait.">
            <a:extLst>
              <a:ext uri="{FF2B5EF4-FFF2-40B4-BE49-F238E27FC236}">
                <a16:creationId xmlns:a16="http://schemas.microsoft.com/office/drawing/2014/main" id="{95A5C138-BA4A-E0F7-A9DB-B90312D46AA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2865" t="3515" r="17858" b="14166"/>
          <a:stretch>
            <a:fillRect/>
          </a:stretch>
        </p:blipFill>
        <p:spPr bwMode="auto">
          <a:xfrm>
            <a:off x="1390232" y="1746213"/>
            <a:ext cx="1118666" cy="1139228"/>
          </a:xfrm>
          <a:prstGeom prst="ellipse">
            <a:avLst/>
          </a:prstGeom>
          <a:noFill/>
          <a:extLst>
            <a:ext uri="{909E8E84-426E-40DD-AFC4-6F175D3DCCD1}">
              <a14:hiddenFill xmlns:a14="http://schemas.microsoft.com/office/drawing/2010/main">
                <a:solidFill>
                  <a:srgbClr val="FFFFFF"/>
                </a:solidFill>
              </a14:hiddenFill>
            </a:ext>
          </a:extLst>
        </p:spPr>
      </p:pic>
      <p:sp>
        <p:nvSpPr>
          <p:cNvPr id="6" name="Speech Bubble: Rectangle with Corners Rounded 5">
            <a:extLst>
              <a:ext uri="{FF2B5EF4-FFF2-40B4-BE49-F238E27FC236}">
                <a16:creationId xmlns:a16="http://schemas.microsoft.com/office/drawing/2014/main" id="{53B4CB68-71E3-E421-35EF-1F75506B692A}"/>
              </a:ext>
            </a:extLst>
          </p:cNvPr>
          <p:cNvSpPr/>
          <p:nvPr/>
        </p:nvSpPr>
        <p:spPr>
          <a:xfrm>
            <a:off x="3023359" y="1779049"/>
            <a:ext cx="5689600" cy="772160"/>
          </a:xfrm>
          <a:prstGeom prst="wedgeRoundRectCallout">
            <a:avLst>
              <a:gd name="adj1" fmla="val -55476"/>
              <a:gd name="adj2" fmla="val 3750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 see. We'll need to document that. Can you provide your uncle's contact information for our records?</a:t>
            </a:r>
            <a:endParaRPr lang="en-UG" dirty="0"/>
          </a:p>
        </p:txBody>
      </p:sp>
      <p:sp>
        <p:nvSpPr>
          <p:cNvPr id="7" name="Speech Bubble: Rectangle with Corners Rounded 6">
            <a:extLst>
              <a:ext uri="{FF2B5EF4-FFF2-40B4-BE49-F238E27FC236}">
                <a16:creationId xmlns:a16="http://schemas.microsoft.com/office/drawing/2014/main" id="{8BDA50DC-F993-3E96-E2CC-23B845B03CA8}"/>
              </a:ext>
            </a:extLst>
          </p:cNvPr>
          <p:cNvSpPr/>
          <p:nvPr/>
        </p:nvSpPr>
        <p:spPr>
          <a:xfrm>
            <a:off x="3594340" y="2768090"/>
            <a:ext cx="5689600" cy="772160"/>
          </a:xfrm>
          <a:prstGeom prst="wedgeRoundRectCallout">
            <a:avLst>
              <a:gd name="adj1" fmla="val 54703"/>
              <a:gd name="adj2" fmla="val 33553"/>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Actually... you know what? Never mind. I'll come back later.</a:t>
            </a:r>
            <a:endParaRPr lang="en-UG" dirty="0"/>
          </a:p>
        </p:txBody>
      </p:sp>
    </p:spTree>
    <p:extLst>
      <p:ext uri="{BB962C8B-B14F-4D97-AF65-F5344CB8AC3E}">
        <p14:creationId xmlns:p14="http://schemas.microsoft.com/office/powerpoint/2010/main" val="37144377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ABE93-D338-B8E6-43C9-B7EF74FB685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370E3A8-99D8-5FD4-78AE-F586E62CA613}"/>
              </a:ext>
            </a:extLst>
          </p:cNvPr>
          <p:cNvSpPr/>
          <p:nvPr/>
        </p:nvSpPr>
        <p:spPr>
          <a:xfrm>
            <a:off x="1137920" y="1212558"/>
            <a:ext cx="10241280" cy="5645442"/>
          </a:xfrm>
          <a:prstGeom prst="rect">
            <a:avLst/>
          </a:prstGeom>
          <a:solidFill>
            <a:schemeClr val="bg1"/>
          </a:solidFill>
          <a:ln>
            <a:noFill/>
          </a:ln>
          <a:effectLst>
            <a:outerShdw blurRad="63500" sx="102000" sy="102000" algn="ctr"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3" name="Text Placeholder 8">
            <a:extLst>
              <a:ext uri="{FF2B5EF4-FFF2-40B4-BE49-F238E27FC236}">
                <a16:creationId xmlns:a16="http://schemas.microsoft.com/office/drawing/2014/main" id="{205F2E17-B957-627F-4E9A-330A1B419CC5}"/>
              </a:ext>
            </a:extLst>
          </p:cNvPr>
          <p:cNvSpPr txBox="1">
            <a:spLocks/>
          </p:cNvSpPr>
          <p:nvPr/>
        </p:nvSpPr>
        <p:spPr>
          <a:xfrm>
            <a:off x="1036042" y="650626"/>
            <a:ext cx="4832117" cy="423862"/>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01AFE6"/>
                </a:solidFill>
                <a:latin typeface="+mj-lt"/>
                <a:cs typeface="Arial" panose="020B0604020202020204" pitchFamily="34" charset="0"/>
              </a:rPr>
              <a:t>Ask Question First</a:t>
            </a:r>
            <a:endParaRPr lang="en-US" sz="2000" b="1" dirty="0">
              <a:solidFill>
                <a:srgbClr val="01AFE6"/>
              </a:solidFill>
              <a:latin typeface="+mj-lt"/>
            </a:endParaRPr>
          </a:p>
        </p:txBody>
      </p:sp>
      <p:sp>
        <p:nvSpPr>
          <p:cNvPr id="2" name="TextBox 1">
            <a:extLst>
              <a:ext uri="{FF2B5EF4-FFF2-40B4-BE49-F238E27FC236}">
                <a16:creationId xmlns:a16="http://schemas.microsoft.com/office/drawing/2014/main" id="{2FFC0B88-8671-FF35-6A03-127319E784A9}"/>
              </a:ext>
            </a:extLst>
          </p:cNvPr>
          <p:cNvSpPr txBox="1"/>
          <p:nvPr/>
        </p:nvSpPr>
        <p:spPr>
          <a:xfrm>
            <a:off x="1289698" y="1541272"/>
            <a:ext cx="9520555" cy="369332"/>
          </a:xfrm>
          <a:prstGeom prst="rect">
            <a:avLst/>
          </a:prstGeom>
          <a:noFill/>
        </p:spPr>
        <p:txBody>
          <a:bodyPr wrap="square">
            <a:spAutoFit/>
          </a:bodyPr>
          <a:lstStyle/>
          <a:p>
            <a:r>
              <a:rPr lang="en-US" b="1" dirty="0"/>
              <a:t>What do you do? </a:t>
            </a:r>
            <a:r>
              <a:rPr lang="en-US" b="1" i="1" dirty="0"/>
              <a:t>Select the appropriate option.</a:t>
            </a:r>
          </a:p>
        </p:txBody>
      </p:sp>
      <p:sp>
        <p:nvSpPr>
          <p:cNvPr id="9" name="Rectangle: Rounded Corners 8">
            <a:extLst>
              <a:ext uri="{FF2B5EF4-FFF2-40B4-BE49-F238E27FC236}">
                <a16:creationId xmlns:a16="http://schemas.microsoft.com/office/drawing/2014/main" id="{28A16488-69F2-B148-0BA3-3599E3EC1912}"/>
              </a:ext>
            </a:extLst>
          </p:cNvPr>
          <p:cNvSpPr/>
          <p:nvPr/>
        </p:nvSpPr>
        <p:spPr>
          <a:xfrm>
            <a:off x="1495689" y="2358989"/>
            <a:ext cx="3519030" cy="699171"/>
          </a:xfrm>
          <a:prstGeom prst="roundRect">
            <a:avLst>
              <a:gd name="adj" fmla="val 40738"/>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Let her leave</a:t>
            </a:r>
          </a:p>
        </p:txBody>
      </p:sp>
      <p:sp>
        <p:nvSpPr>
          <p:cNvPr id="11" name="Rectangle: Rounded Corners 10">
            <a:extLst>
              <a:ext uri="{FF2B5EF4-FFF2-40B4-BE49-F238E27FC236}">
                <a16:creationId xmlns:a16="http://schemas.microsoft.com/office/drawing/2014/main" id="{681F7E2A-ACC5-FB42-E10A-5D45F99A8E16}"/>
              </a:ext>
            </a:extLst>
          </p:cNvPr>
          <p:cNvSpPr/>
          <p:nvPr/>
        </p:nvSpPr>
        <p:spPr>
          <a:xfrm>
            <a:off x="5295529" y="2358989"/>
            <a:ext cx="3519030" cy="699171"/>
          </a:xfrm>
          <a:prstGeom prst="roundRect">
            <a:avLst>
              <a:gd name="adj" fmla="val 40738"/>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Politely delay and escalate</a:t>
            </a:r>
          </a:p>
        </p:txBody>
      </p:sp>
      <p:sp>
        <p:nvSpPr>
          <p:cNvPr id="10" name="TextBox 9">
            <a:extLst>
              <a:ext uri="{FF2B5EF4-FFF2-40B4-BE49-F238E27FC236}">
                <a16:creationId xmlns:a16="http://schemas.microsoft.com/office/drawing/2014/main" id="{5DF8E7D7-303A-92C1-E44D-874CC02CE31E}"/>
              </a:ext>
            </a:extLst>
          </p:cNvPr>
          <p:cNvSpPr txBox="1"/>
          <p:nvPr/>
        </p:nvSpPr>
        <p:spPr>
          <a:xfrm>
            <a:off x="1666240" y="3272175"/>
            <a:ext cx="9387840" cy="2708434"/>
          </a:xfrm>
          <a:prstGeom prst="rect">
            <a:avLst/>
          </a:prstGeom>
          <a:noFill/>
        </p:spPr>
        <p:txBody>
          <a:bodyPr wrap="square">
            <a:spAutoFit/>
          </a:bodyPr>
          <a:lstStyle/>
          <a:p>
            <a:pPr algn="l">
              <a:buNone/>
            </a:pPr>
            <a:r>
              <a:rPr lang="en-US" sz="1600" b="1" i="0" dirty="0">
                <a:solidFill>
                  <a:schemeClr val="accent2"/>
                </a:solidFill>
                <a:effectLst/>
                <a:latin typeface="+mj-lt"/>
              </a:rPr>
              <a:t>You Recognized the Red Flags — That's Good!</a:t>
            </a:r>
          </a:p>
          <a:p>
            <a:pPr algn="l">
              <a:buNone/>
            </a:pPr>
            <a:endParaRPr lang="en-US" sz="1600" b="1" i="0" dirty="0">
              <a:solidFill>
                <a:schemeClr val="accent2"/>
              </a:solidFill>
              <a:effectLst/>
              <a:latin typeface="+mj-lt"/>
            </a:endParaRPr>
          </a:p>
          <a:p>
            <a:pPr algn="l">
              <a:buNone/>
            </a:pPr>
            <a:r>
              <a:rPr lang="en-US" sz="1600" b="0" i="0" dirty="0">
                <a:effectLst/>
                <a:latin typeface="+mj-lt"/>
              </a:rPr>
              <a:t>Your questions revealed deceptive behavior, and Maria abandoned the transaction. However, you should have:</a:t>
            </a:r>
          </a:p>
          <a:p>
            <a:pPr marL="285750" indent="-285750" algn="l">
              <a:buFont typeface="Arial" panose="020B0604020202020204" pitchFamily="34" charset="0"/>
              <a:buChar char="•"/>
            </a:pPr>
            <a:r>
              <a:rPr lang="en-US" sz="1600" b="1" i="0" dirty="0">
                <a:effectLst/>
                <a:latin typeface="+mj-lt"/>
              </a:rPr>
              <a:t>Not let her leave immediately</a:t>
            </a:r>
            <a:r>
              <a:rPr lang="en-US" sz="1600" b="0" i="0" dirty="0">
                <a:effectLst/>
                <a:latin typeface="+mj-lt"/>
              </a:rPr>
              <a:t> — Once you suspect money laundering, tipping off the subject (even inadvertently) is a violation</a:t>
            </a:r>
          </a:p>
          <a:p>
            <a:pPr marL="285750" indent="-285750" algn="l">
              <a:spcBef>
                <a:spcPts val="600"/>
              </a:spcBef>
              <a:buFont typeface="Arial" panose="020B0604020202020204" pitchFamily="34" charset="0"/>
              <a:buChar char="•"/>
            </a:pPr>
            <a:r>
              <a:rPr lang="en-US" sz="1600" b="1" i="0" dirty="0">
                <a:effectLst/>
                <a:latin typeface="+mj-lt"/>
              </a:rPr>
              <a:t>Immediately documented the encounter</a:t>
            </a:r>
            <a:r>
              <a:rPr lang="en-US" sz="1600" b="0" i="0" dirty="0">
                <a:effectLst/>
                <a:latin typeface="+mj-lt"/>
              </a:rPr>
              <a:t> — This interaction should be reported as suspicious activity</a:t>
            </a:r>
          </a:p>
          <a:p>
            <a:pPr marL="285750" indent="-285750" algn="l">
              <a:spcBef>
                <a:spcPts val="600"/>
              </a:spcBef>
              <a:buFont typeface="Arial" panose="020B0604020202020204" pitchFamily="34" charset="0"/>
              <a:buChar char="•"/>
            </a:pPr>
            <a:r>
              <a:rPr lang="en-US" sz="1600" b="1" i="0" dirty="0">
                <a:effectLst/>
                <a:latin typeface="+mj-lt"/>
              </a:rPr>
              <a:t>Alerted your supervisor</a:t>
            </a:r>
            <a:r>
              <a:rPr lang="en-US" sz="1600" b="0" i="0" dirty="0">
                <a:effectLst/>
                <a:latin typeface="+mj-lt"/>
              </a:rPr>
              <a:t> — They could have observed her leaving, documented vehicle/accomplices</a:t>
            </a:r>
          </a:p>
        </p:txBody>
      </p:sp>
    </p:spTree>
    <p:extLst>
      <p:ext uri="{BB962C8B-B14F-4D97-AF65-F5344CB8AC3E}">
        <p14:creationId xmlns:p14="http://schemas.microsoft.com/office/powerpoint/2010/main" val="30605089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E13BE-602A-0368-0733-86E393A44E6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041629C-4C53-99FF-2161-B229F51C11E9}"/>
              </a:ext>
            </a:extLst>
          </p:cNvPr>
          <p:cNvSpPr/>
          <p:nvPr/>
        </p:nvSpPr>
        <p:spPr>
          <a:xfrm>
            <a:off x="1137920" y="1212558"/>
            <a:ext cx="10241280" cy="5645442"/>
          </a:xfrm>
          <a:prstGeom prst="rect">
            <a:avLst/>
          </a:prstGeom>
          <a:solidFill>
            <a:schemeClr val="bg1"/>
          </a:solidFill>
          <a:ln>
            <a:noFill/>
          </a:ln>
          <a:effectLst>
            <a:outerShdw blurRad="63500" sx="102000" sy="102000" algn="ctr"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3" name="Text Placeholder 8">
            <a:extLst>
              <a:ext uri="{FF2B5EF4-FFF2-40B4-BE49-F238E27FC236}">
                <a16:creationId xmlns:a16="http://schemas.microsoft.com/office/drawing/2014/main" id="{FD389817-CC71-769D-E368-8948BC11DF2C}"/>
              </a:ext>
            </a:extLst>
          </p:cNvPr>
          <p:cNvSpPr txBox="1">
            <a:spLocks/>
          </p:cNvSpPr>
          <p:nvPr/>
        </p:nvSpPr>
        <p:spPr>
          <a:xfrm>
            <a:off x="1036042" y="650626"/>
            <a:ext cx="4832117" cy="423862"/>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01AFE6"/>
                </a:solidFill>
                <a:latin typeface="+mj-lt"/>
                <a:cs typeface="Arial" panose="020B0604020202020204" pitchFamily="34" charset="0"/>
              </a:rPr>
              <a:t>Ask Question First</a:t>
            </a:r>
            <a:endParaRPr lang="en-US" sz="2000" b="1" dirty="0">
              <a:solidFill>
                <a:srgbClr val="01AFE6"/>
              </a:solidFill>
              <a:latin typeface="+mj-lt"/>
            </a:endParaRPr>
          </a:p>
        </p:txBody>
      </p:sp>
      <p:sp>
        <p:nvSpPr>
          <p:cNvPr id="2" name="TextBox 1">
            <a:extLst>
              <a:ext uri="{FF2B5EF4-FFF2-40B4-BE49-F238E27FC236}">
                <a16:creationId xmlns:a16="http://schemas.microsoft.com/office/drawing/2014/main" id="{29C61F14-88CE-C5FC-D37C-F656B0DC848A}"/>
              </a:ext>
            </a:extLst>
          </p:cNvPr>
          <p:cNvSpPr txBox="1"/>
          <p:nvPr/>
        </p:nvSpPr>
        <p:spPr>
          <a:xfrm>
            <a:off x="1289698" y="1541272"/>
            <a:ext cx="9520555" cy="369332"/>
          </a:xfrm>
          <a:prstGeom prst="rect">
            <a:avLst/>
          </a:prstGeom>
          <a:noFill/>
        </p:spPr>
        <p:txBody>
          <a:bodyPr wrap="square">
            <a:spAutoFit/>
          </a:bodyPr>
          <a:lstStyle/>
          <a:p>
            <a:r>
              <a:rPr lang="en-US" b="1" dirty="0"/>
              <a:t>What do you do? </a:t>
            </a:r>
            <a:r>
              <a:rPr lang="en-US" b="1" i="1" dirty="0"/>
              <a:t>Select the appropriate option.</a:t>
            </a:r>
          </a:p>
        </p:txBody>
      </p:sp>
      <p:sp>
        <p:nvSpPr>
          <p:cNvPr id="9" name="Rectangle: Rounded Corners 8">
            <a:extLst>
              <a:ext uri="{FF2B5EF4-FFF2-40B4-BE49-F238E27FC236}">
                <a16:creationId xmlns:a16="http://schemas.microsoft.com/office/drawing/2014/main" id="{B9799247-C022-1A30-CF6B-B886794746D8}"/>
              </a:ext>
            </a:extLst>
          </p:cNvPr>
          <p:cNvSpPr/>
          <p:nvPr/>
        </p:nvSpPr>
        <p:spPr>
          <a:xfrm>
            <a:off x="1495689" y="2358989"/>
            <a:ext cx="3519030" cy="699171"/>
          </a:xfrm>
          <a:prstGeom prst="roundRect">
            <a:avLst>
              <a:gd name="adj" fmla="val 40738"/>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Let her leave</a:t>
            </a:r>
          </a:p>
        </p:txBody>
      </p:sp>
      <p:sp>
        <p:nvSpPr>
          <p:cNvPr id="11" name="Rectangle: Rounded Corners 10">
            <a:extLst>
              <a:ext uri="{FF2B5EF4-FFF2-40B4-BE49-F238E27FC236}">
                <a16:creationId xmlns:a16="http://schemas.microsoft.com/office/drawing/2014/main" id="{D7F55F37-000C-E488-8BB4-6AD2D10D49BF}"/>
              </a:ext>
            </a:extLst>
          </p:cNvPr>
          <p:cNvSpPr/>
          <p:nvPr/>
        </p:nvSpPr>
        <p:spPr>
          <a:xfrm>
            <a:off x="5295529" y="2358989"/>
            <a:ext cx="3519030" cy="699171"/>
          </a:xfrm>
          <a:prstGeom prst="roundRect">
            <a:avLst>
              <a:gd name="adj" fmla="val 40738"/>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Politely delay and escalate</a:t>
            </a:r>
          </a:p>
        </p:txBody>
      </p:sp>
      <p:sp>
        <p:nvSpPr>
          <p:cNvPr id="10" name="TextBox 9">
            <a:extLst>
              <a:ext uri="{FF2B5EF4-FFF2-40B4-BE49-F238E27FC236}">
                <a16:creationId xmlns:a16="http://schemas.microsoft.com/office/drawing/2014/main" id="{7B798962-481E-AA3A-F67D-BAB6CBACB823}"/>
              </a:ext>
            </a:extLst>
          </p:cNvPr>
          <p:cNvSpPr txBox="1"/>
          <p:nvPr/>
        </p:nvSpPr>
        <p:spPr>
          <a:xfrm>
            <a:off x="1666240" y="3272175"/>
            <a:ext cx="9387840" cy="1754326"/>
          </a:xfrm>
          <a:prstGeom prst="rect">
            <a:avLst/>
          </a:prstGeom>
          <a:noFill/>
        </p:spPr>
        <p:txBody>
          <a:bodyPr wrap="square">
            <a:spAutoFit/>
          </a:bodyPr>
          <a:lstStyle/>
          <a:p>
            <a:r>
              <a:rPr lang="en-US" b="1" dirty="0">
                <a:solidFill>
                  <a:schemeClr val="accent2"/>
                </a:solidFill>
              </a:rPr>
              <a:t>What Happens Next:</a:t>
            </a:r>
          </a:p>
          <a:p>
            <a:endParaRPr lang="en-US" dirty="0"/>
          </a:p>
          <a:p>
            <a:r>
              <a:rPr lang="en-US" dirty="0"/>
              <a:t>Your manager helps you file a SAR describing the attempted transaction and Maria's evasive behavior. Law enforcement can now investigate. This is a partial success — you stopped the transaction but may have alerted the criminal network.</a:t>
            </a:r>
          </a:p>
        </p:txBody>
      </p:sp>
    </p:spTree>
    <p:extLst>
      <p:ext uri="{BB962C8B-B14F-4D97-AF65-F5344CB8AC3E}">
        <p14:creationId xmlns:p14="http://schemas.microsoft.com/office/powerpoint/2010/main" val="21353876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4032B-28BC-84E4-D0D1-ADCCE1E6D69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67DBA62-2015-F6FF-0ACC-B6FE6029C789}"/>
              </a:ext>
            </a:extLst>
          </p:cNvPr>
          <p:cNvSpPr/>
          <p:nvPr/>
        </p:nvSpPr>
        <p:spPr>
          <a:xfrm>
            <a:off x="1137920" y="1212558"/>
            <a:ext cx="10241280" cy="5645442"/>
          </a:xfrm>
          <a:prstGeom prst="rect">
            <a:avLst/>
          </a:prstGeom>
          <a:solidFill>
            <a:schemeClr val="bg1"/>
          </a:solidFill>
          <a:ln>
            <a:noFill/>
          </a:ln>
          <a:effectLst>
            <a:outerShdw blurRad="63500" sx="102000" sy="102000" algn="ctr"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3" name="Text Placeholder 8">
            <a:extLst>
              <a:ext uri="{FF2B5EF4-FFF2-40B4-BE49-F238E27FC236}">
                <a16:creationId xmlns:a16="http://schemas.microsoft.com/office/drawing/2014/main" id="{36654671-8D4A-70C3-C08C-2DE9DA532C3B}"/>
              </a:ext>
            </a:extLst>
          </p:cNvPr>
          <p:cNvSpPr txBox="1">
            <a:spLocks/>
          </p:cNvSpPr>
          <p:nvPr/>
        </p:nvSpPr>
        <p:spPr>
          <a:xfrm>
            <a:off x="1036042" y="650626"/>
            <a:ext cx="4832117" cy="423862"/>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01AFE6"/>
                </a:solidFill>
                <a:latin typeface="+mj-lt"/>
                <a:cs typeface="Arial" panose="020B0604020202020204" pitchFamily="34" charset="0"/>
              </a:rPr>
              <a:t>Ask Question First</a:t>
            </a:r>
            <a:endParaRPr lang="en-US" sz="2000" b="1" dirty="0">
              <a:solidFill>
                <a:srgbClr val="01AFE6"/>
              </a:solidFill>
              <a:latin typeface="+mj-lt"/>
            </a:endParaRPr>
          </a:p>
        </p:txBody>
      </p:sp>
      <p:sp>
        <p:nvSpPr>
          <p:cNvPr id="2" name="TextBox 1">
            <a:extLst>
              <a:ext uri="{FF2B5EF4-FFF2-40B4-BE49-F238E27FC236}">
                <a16:creationId xmlns:a16="http://schemas.microsoft.com/office/drawing/2014/main" id="{AB3F588B-B9BB-0592-FEB2-1DE307ECC6AA}"/>
              </a:ext>
            </a:extLst>
          </p:cNvPr>
          <p:cNvSpPr txBox="1"/>
          <p:nvPr/>
        </p:nvSpPr>
        <p:spPr>
          <a:xfrm>
            <a:off x="1289698" y="1541272"/>
            <a:ext cx="9520555" cy="369332"/>
          </a:xfrm>
          <a:prstGeom prst="rect">
            <a:avLst/>
          </a:prstGeom>
          <a:noFill/>
        </p:spPr>
        <p:txBody>
          <a:bodyPr wrap="square">
            <a:spAutoFit/>
          </a:bodyPr>
          <a:lstStyle/>
          <a:p>
            <a:r>
              <a:rPr lang="en-US" b="1" dirty="0"/>
              <a:t>What do you do? </a:t>
            </a:r>
            <a:r>
              <a:rPr lang="en-US" b="1" i="1" dirty="0"/>
              <a:t>Select the appropriate option.</a:t>
            </a:r>
          </a:p>
        </p:txBody>
      </p:sp>
      <p:sp>
        <p:nvSpPr>
          <p:cNvPr id="9" name="Rectangle: Rounded Corners 8">
            <a:extLst>
              <a:ext uri="{FF2B5EF4-FFF2-40B4-BE49-F238E27FC236}">
                <a16:creationId xmlns:a16="http://schemas.microsoft.com/office/drawing/2014/main" id="{A7538D62-2265-ED65-F962-5563E14E3A07}"/>
              </a:ext>
            </a:extLst>
          </p:cNvPr>
          <p:cNvSpPr/>
          <p:nvPr/>
        </p:nvSpPr>
        <p:spPr>
          <a:xfrm>
            <a:off x="1495689" y="2358989"/>
            <a:ext cx="3519030" cy="699171"/>
          </a:xfrm>
          <a:prstGeom prst="roundRect">
            <a:avLst>
              <a:gd name="adj" fmla="val 40738"/>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Let her leave</a:t>
            </a:r>
          </a:p>
        </p:txBody>
      </p:sp>
      <p:sp>
        <p:nvSpPr>
          <p:cNvPr id="11" name="Rectangle: Rounded Corners 10">
            <a:extLst>
              <a:ext uri="{FF2B5EF4-FFF2-40B4-BE49-F238E27FC236}">
                <a16:creationId xmlns:a16="http://schemas.microsoft.com/office/drawing/2014/main" id="{106679CF-1244-6DD4-20F4-7DA4F0915B89}"/>
              </a:ext>
            </a:extLst>
          </p:cNvPr>
          <p:cNvSpPr/>
          <p:nvPr/>
        </p:nvSpPr>
        <p:spPr>
          <a:xfrm>
            <a:off x="5295529" y="2358989"/>
            <a:ext cx="3519030" cy="699171"/>
          </a:xfrm>
          <a:prstGeom prst="roundRect">
            <a:avLst>
              <a:gd name="adj" fmla="val 40738"/>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Politely delay and escalate</a:t>
            </a:r>
          </a:p>
        </p:txBody>
      </p:sp>
      <p:pic>
        <p:nvPicPr>
          <p:cNvPr id="5" name="Picture 2" descr="Happy primary school teacher standing in the classroom and looking at camera.">
            <a:extLst>
              <a:ext uri="{FF2B5EF4-FFF2-40B4-BE49-F238E27FC236}">
                <a16:creationId xmlns:a16="http://schemas.microsoft.com/office/drawing/2014/main" id="{7B6E0DD9-9F85-E9FA-D0E5-95851FBB67B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6394" r="8029" b="23022"/>
          <a:stretch>
            <a:fillRect/>
          </a:stretch>
        </p:blipFill>
        <p:spPr bwMode="auto">
          <a:xfrm>
            <a:off x="9653394" y="5316728"/>
            <a:ext cx="1156859" cy="1175041"/>
          </a:xfrm>
          <a:prstGeom prst="ellipse">
            <a:avLst/>
          </a:prstGeom>
          <a:noFill/>
          <a:extLst>
            <a:ext uri="{909E8E84-426E-40DD-AFC4-6F175D3DCCD1}">
              <a14:hiddenFill xmlns:a14="http://schemas.microsoft.com/office/drawing/2010/main">
                <a:solidFill>
                  <a:srgbClr val="FFFFFF"/>
                </a:solidFill>
              </a14:hiddenFill>
            </a:ext>
          </a:extLst>
        </p:spPr>
      </p:pic>
      <p:pic>
        <p:nvPicPr>
          <p:cNvPr id="6" name="Picture 2" descr="Happy middle aged professional business man, smiling mature executive ceo manager, 45 years old male entrepreneur, confident business owner wearing glasses in office. Headshot portrait.">
            <a:extLst>
              <a:ext uri="{FF2B5EF4-FFF2-40B4-BE49-F238E27FC236}">
                <a16:creationId xmlns:a16="http://schemas.microsoft.com/office/drawing/2014/main" id="{D3355A75-2BBD-8DFE-49C4-4EE1F9289BF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2865" t="3515" r="17858" b="14166"/>
          <a:stretch>
            <a:fillRect/>
          </a:stretch>
        </p:blipFill>
        <p:spPr bwMode="auto">
          <a:xfrm>
            <a:off x="1398717" y="3539440"/>
            <a:ext cx="1118666" cy="1139228"/>
          </a:xfrm>
          <a:prstGeom prst="ellipse">
            <a:avLst/>
          </a:prstGeom>
          <a:noFill/>
          <a:extLst>
            <a:ext uri="{909E8E84-426E-40DD-AFC4-6F175D3DCCD1}">
              <a14:hiddenFill xmlns:a14="http://schemas.microsoft.com/office/drawing/2010/main">
                <a:solidFill>
                  <a:srgbClr val="FFFFFF"/>
                </a:solidFill>
              </a14:hiddenFill>
            </a:ext>
          </a:extLst>
        </p:spPr>
      </p:pic>
      <p:sp>
        <p:nvSpPr>
          <p:cNvPr id="7" name="Speech Bubble: Rectangle with Corners Rounded 6">
            <a:extLst>
              <a:ext uri="{FF2B5EF4-FFF2-40B4-BE49-F238E27FC236}">
                <a16:creationId xmlns:a16="http://schemas.microsoft.com/office/drawing/2014/main" id="{90AEA3E0-5C4C-6CAB-ACB3-90825C69D38D}"/>
              </a:ext>
            </a:extLst>
          </p:cNvPr>
          <p:cNvSpPr/>
          <p:nvPr/>
        </p:nvSpPr>
        <p:spPr>
          <a:xfrm>
            <a:off x="3031844" y="3572276"/>
            <a:ext cx="5883556" cy="1514074"/>
          </a:xfrm>
          <a:prstGeom prst="wedgeRoundRectCallout">
            <a:avLst>
              <a:gd name="adj1" fmla="val -57419"/>
              <a:gd name="adj2" fmla="val 5416"/>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Maria, I want to help you, but for a deposit this size from an international source, I'll need my manager to review the documentation requirements. It'll just take a few minutes. Can you have a seat in our waiting area?</a:t>
            </a:r>
            <a:endParaRPr lang="en-UG" dirty="0"/>
          </a:p>
        </p:txBody>
      </p:sp>
      <p:sp>
        <p:nvSpPr>
          <p:cNvPr id="8" name="Speech Bubble: Rectangle with Corners Rounded 7">
            <a:extLst>
              <a:ext uri="{FF2B5EF4-FFF2-40B4-BE49-F238E27FC236}">
                <a16:creationId xmlns:a16="http://schemas.microsoft.com/office/drawing/2014/main" id="{F4F4ED4B-FDA9-6393-CF2B-D5B313AAFBB7}"/>
              </a:ext>
            </a:extLst>
          </p:cNvPr>
          <p:cNvSpPr/>
          <p:nvPr/>
        </p:nvSpPr>
        <p:spPr>
          <a:xfrm>
            <a:off x="3602825" y="5337502"/>
            <a:ext cx="5689600" cy="772160"/>
          </a:xfrm>
          <a:prstGeom prst="wedgeRoundRectCallout">
            <a:avLst>
              <a:gd name="adj1" fmla="val 54703"/>
              <a:gd name="adj2" fmla="val 33553"/>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How long will this take?</a:t>
            </a:r>
            <a:endParaRPr lang="en-UG" dirty="0"/>
          </a:p>
        </p:txBody>
      </p:sp>
    </p:spTree>
    <p:extLst>
      <p:ext uri="{BB962C8B-B14F-4D97-AF65-F5344CB8AC3E}">
        <p14:creationId xmlns:p14="http://schemas.microsoft.com/office/powerpoint/2010/main" val="21748510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3FA9F-1B0E-AA42-94D0-CB813288CCC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9B37BFC-4436-FB23-3A4B-125234B4ECA1}"/>
              </a:ext>
            </a:extLst>
          </p:cNvPr>
          <p:cNvSpPr/>
          <p:nvPr/>
        </p:nvSpPr>
        <p:spPr>
          <a:xfrm>
            <a:off x="1137920" y="1212558"/>
            <a:ext cx="10241280" cy="5645442"/>
          </a:xfrm>
          <a:prstGeom prst="rect">
            <a:avLst/>
          </a:prstGeom>
          <a:solidFill>
            <a:schemeClr val="bg1"/>
          </a:solidFill>
          <a:ln>
            <a:noFill/>
          </a:ln>
          <a:effectLst>
            <a:outerShdw blurRad="63500" sx="102000" sy="102000" algn="ctr"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3" name="Text Placeholder 8">
            <a:extLst>
              <a:ext uri="{FF2B5EF4-FFF2-40B4-BE49-F238E27FC236}">
                <a16:creationId xmlns:a16="http://schemas.microsoft.com/office/drawing/2014/main" id="{81CDE876-0067-452E-5CB7-D765AD8CF3CC}"/>
              </a:ext>
            </a:extLst>
          </p:cNvPr>
          <p:cNvSpPr txBox="1">
            <a:spLocks/>
          </p:cNvSpPr>
          <p:nvPr/>
        </p:nvSpPr>
        <p:spPr>
          <a:xfrm>
            <a:off x="1036042" y="650626"/>
            <a:ext cx="4832117" cy="423862"/>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01AFE6"/>
                </a:solidFill>
                <a:latin typeface="+mj-lt"/>
                <a:cs typeface="Arial" panose="020B0604020202020204" pitchFamily="34" charset="0"/>
              </a:rPr>
              <a:t>Ask Question First</a:t>
            </a:r>
            <a:endParaRPr lang="en-US" sz="2000" b="1" dirty="0">
              <a:solidFill>
                <a:srgbClr val="01AFE6"/>
              </a:solidFill>
              <a:latin typeface="+mj-lt"/>
            </a:endParaRPr>
          </a:p>
        </p:txBody>
      </p:sp>
      <p:sp>
        <p:nvSpPr>
          <p:cNvPr id="2" name="TextBox 1">
            <a:extLst>
              <a:ext uri="{FF2B5EF4-FFF2-40B4-BE49-F238E27FC236}">
                <a16:creationId xmlns:a16="http://schemas.microsoft.com/office/drawing/2014/main" id="{EB9D606B-71FA-B88F-150A-EB04F02235CA}"/>
              </a:ext>
            </a:extLst>
          </p:cNvPr>
          <p:cNvSpPr txBox="1"/>
          <p:nvPr/>
        </p:nvSpPr>
        <p:spPr>
          <a:xfrm>
            <a:off x="1289698" y="1541272"/>
            <a:ext cx="9520555" cy="369332"/>
          </a:xfrm>
          <a:prstGeom prst="rect">
            <a:avLst/>
          </a:prstGeom>
          <a:noFill/>
        </p:spPr>
        <p:txBody>
          <a:bodyPr wrap="square">
            <a:spAutoFit/>
          </a:bodyPr>
          <a:lstStyle/>
          <a:p>
            <a:r>
              <a:rPr lang="en-US" b="1" dirty="0"/>
              <a:t>What do you do? </a:t>
            </a:r>
            <a:r>
              <a:rPr lang="en-US" b="1" i="1" dirty="0"/>
              <a:t>Select the appropriate option.</a:t>
            </a:r>
          </a:p>
        </p:txBody>
      </p:sp>
      <p:sp>
        <p:nvSpPr>
          <p:cNvPr id="9" name="Rectangle: Rounded Corners 8">
            <a:extLst>
              <a:ext uri="{FF2B5EF4-FFF2-40B4-BE49-F238E27FC236}">
                <a16:creationId xmlns:a16="http://schemas.microsoft.com/office/drawing/2014/main" id="{E105A99D-01A7-9AA0-58A1-763B35834D65}"/>
              </a:ext>
            </a:extLst>
          </p:cNvPr>
          <p:cNvSpPr/>
          <p:nvPr/>
        </p:nvSpPr>
        <p:spPr>
          <a:xfrm>
            <a:off x="1495689" y="2358989"/>
            <a:ext cx="3519030" cy="699171"/>
          </a:xfrm>
          <a:prstGeom prst="roundRect">
            <a:avLst>
              <a:gd name="adj" fmla="val 40738"/>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Let her leave</a:t>
            </a:r>
          </a:p>
        </p:txBody>
      </p:sp>
      <p:sp>
        <p:nvSpPr>
          <p:cNvPr id="11" name="Rectangle: Rounded Corners 10">
            <a:extLst>
              <a:ext uri="{FF2B5EF4-FFF2-40B4-BE49-F238E27FC236}">
                <a16:creationId xmlns:a16="http://schemas.microsoft.com/office/drawing/2014/main" id="{70D81632-45D4-1DE9-2D75-B5403B739D19}"/>
              </a:ext>
            </a:extLst>
          </p:cNvPr>
          <p:cNvSpPr/>
          <p:nvPr/>
        </p:nvSpPr>
        <p:spPr>
          <a:xfrm>
            <a:off x="5295529" y="2358989"/>
            <a:ext cx="3519030" cy="699171"/>
          </a:xfrm>
          <a:prstGeom prst="roundRect">
            <a:avLst>
              <a:gd name="adj" fmla="val 40738"/>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Politely delay and escalate</a:t>
            </a:r>
          </a:p>
        </p:txBody>
      </p:sp>
      <p:pic>
        <p:nvPicPr>
          <p:cNvPr id="5" name="Picture 2" descr="Happy primary school teacher standing in the classroom and looking at camera.">
            <a:extLst>
              <a:ext uri="{FF2B5EF4-FFF2-40B4-BE49-F238E27FC236}">
                <a16:creationId xmlns:a16="http://schemas.microsoft.com/office/drawing/2014/main" id="{F6ED2053-CBAE-8686-F94C-DB16B1E009D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6394" r="8029" b="23022"/>
          <a:stretch>
            <a:fillRect/>
          </a:stretch>
        </p:blipFill>
        <p:spPr bwMode="auto">
          <a:xfrm>
            <a:off x="9645175" y="4606843"/>
            <a:ext cx="1156859" cy="1175041"/>
          </a:xfrm>
          <a:prstGeom prst="ellipse">
            <a:avLst/>
          </a:prstGeom>
          <a:noFill/>
          <a:extLst>
            <a:ext uri="{909E8E84-426E-40DD-AFC4-6F175D3DCCD1}">
              <a14:hiddenFill xmlns:a14="http://schemas.microsoft.com/office/drawing/2010/main">
                <a:solidFill>
                  <a:srgbClr val="FFFFFF"/>
                </a:solidFill>
              </a14:hiddenFill>
            </a:ext>
          </a:extLst>
        </p:spPr>
      </p:pic>
      <p:pic>
        <p:nvPicPr>
          <p:cNvPr id="6" name="Picture 2" descr="Happy middle aged professional business man, smiling mature executive ceo manager, 45 years old male entrepreneur, confident business owner wearing glasses in office. Headshot portrait.">
            <a:extLst>
              <a:ext uri="{FF2B5EF4-FFF2-40B4-BE49-F238E27FC236}">
                <a16:creationId xmlns:a16="http://schemas.microsoft.com/office/drawing/2014/main" id="{D8E6F6B0-ECCC-B245-2949-1A59E64C118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2865" t="3515" r="17858" b="14166"/>
          <a:stretch>
            <a:fillRect/>
          </a:stretch>
        </p:blipFill>
        <p:spPr bwMode="auto">
          <a:xfrm>
            <a:off x="1398717" y="3539440"/>
            <a:ext cx="1118666" cy="1139228"/>
          </a:xfrm>
          <a:prstGeom prst="ellipse">
            <a:avLst/>
          </a:prstGeom>
          <a:noFill/>
          <a:extLst>
            <a:ext uri="{909E8E84-426E-40DD-AFC4-6F175D3DCCD1}">
              <a14:hiddenFill xmlns:a14="http://schemas.microsoft.com/office/drawing/2010/main">
                <a:solidFill>
                  <a:srgbClr val="FFFFFF"/>
                </a:solidFill>
              </a14:hiddenFill>
            </a:ext>
          </a:extLst>
        </p:spPr>
      </p:pic>
      <p:sp>
        <p:nvSpPr>
          <p:cNvPr id="7" name="Speech Bubble: Rectangle with Corners Rounded 6">
            <a:extLst>
              <a:ext uri="{FF2B5EF4-FFF2-40B4-BE49-F238E27FC236}">
                <a16:creationId xmlns:a16="http://schemas.microsoft.com/office/drawing/2014/main" id="{FD077378-31F5-478E-D4DE-9FA553FCC36B}"/>
              </a:ext>
            </a:extLst>
          </p:cNvPr>
          <p:cNvSpPr/>
          <p:nvPr/>
        </p:nvSpPr>
        <p:spPr>
          <a:xfrm>
            <a:off x="3031844" y="3572276"/>
            <a:ext cx="5689600" cy="772160"/>
          </a:xfrm>
          <a:prstGeom prst="wedgeRoundRectCallout">
            <a:avLst>
              <a:gd name="adj1" fmla="val -57168"/>
              <a:gd name="adj2" fmla="val 38722"/>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Just a few minutes. Can I get you some water?</a:t>
            </a:r>
            <a:endParaRPr lang="en-UG" dirty="0"/>
          </a:p>
        </p:txBody>
      </p:sp>
      <p:sp>
        <p:nvSpPr>
          <p:cNvPr id="8" name="Speech Bubble: Rectangle with Corners Rounded 7">
            <a:extLst>
              <a:ext uri="{FF2B5EF4-FFF2-40B4-BE49-F238E27FC236}">
                <a16:creationId xmlns:a16="http://schemas.microsoft.com/office/drawing/2014/main" id="{8EACC28D-7BB6-276B-DBB5-3BEA5D7D926C}"/>
              </a:ext>
            </a:extLst>
          </p:cNvPr>
          <p:cNvSpPr/>
          <p:nvPr/>
        </p:nvSpPr>
        <p:spPr>
          <a:xfrm>
            <a:off x="3594606" y="4627617"/>
            <a:ext cx="5689600" cy="772160"/>
          </a:xfrm>
          <a:prstGeom prst="wedgeRoundRectCallout">
            <a:avLst>
              <a:gd name="adj1" fmla="val 54703"/>
              <a:gd name="adj2" fmla="val 33553"/>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How long will this take?</a:t>
            </a:r>
            <a:endParaRPr lang="en-UG" dirty="0"/>
          </a:p>
        </p:txBody>
      </p:sp>
    </p:spTree>
    <p:extLst>
      <p:ext uri="{BB962C8B-B14F-4D97-AF65-F5344CB8AC3E}">
        <p14:creationId xmlns:p14="http://schemas.microsoft.com/office/powerpoint/2010/main" val="26931684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091A2-BC58-CB55-B477-0CE833AE962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4EEDF0E-0AFA-670E-682B-A09A26E7464B}"/>
              </a:ext>
            </a:extLst>
          </p:cNvPr>
          <p:cNvSpPr/>
          <p:nvPr/>
        </p:nvSpPr>
        <p:spPr>
          <a:xfrm>
            <a:off x="1137920" y="1212558"/>
            <a:ext cx="10241280" cy="5645442"/>
          </a:xfrm>
          <a:prstGeom prst="rect">
            <a:avLst/>
          </a:prstGeom>
          <a:solidFill>
            <a:schemeClr val="bg1"/>
          </a:solidFill>
          <a:ln>
            <a:noFill/>
          </a:ln>
          <a:effectLst>
            <a:outerShdw blurRad="63500" sx="102000" sy="102000" algn="ctr"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3" name="Text Placeholder 8">
            <a:extLst>
              <a:ext uri="{FF2B5EF4-FFF2-40B4-BE49-F238E27FC236}">
                <a16:creationId xmlns:a16="http://schemas.microsoft.com/office/drawing/2014/main" id="{4FF68373-2A83-C930-5CC9-D96F9B51D991}"/>
              </a:ext>
            </a:extLst>
          </p:cNvPr>
          <p:cNvSpPr txBox="1">
            <a:spLocks/>
          </p:cNvSpPr>
          <p:nvPr/>
        </p:nvSpPr>
        <p:spPr>
          <a:xfrm>
            <a:off x="1036042" y="650626"/>
            <a:ext cx="4832117" cy="423862"/>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01AFE6"/>
                </a:solidFill>
                <a:latin typeface="+mj-lt"/>
                <a:cs typeface="Arial" panose="020B0604020202020204" pitchFamily="34" charset="0"/>
              </a:rPr>
              <a:t>Ask Question First</a:t>
            </a:r>
            <a:endParaRPr lang="en-US" sz="2000" b="1" dirty="0">
              <a:solidFill>
                <a:srgbClr val="01AFE6"/>
              </a:solidFill>
              <a:latin typeface="+mj-lt"/>
            </a:endParaRPr>
          </a:p>
        </p:txBody>
      </p:sp>
      <p:sp>
        <p:nvSpPr>
          <p:cNvPr id="2" name="TextBox 1">
            <a:extLst>
              <a:ext uri="{FF2B5EF4-FFF2-40B4-BE49-F238E27FC236}">
                <a16:creationId xmlns:a16="http://schemas.microsoft.com/office/drawing/2014/main" id="{53659DA7-08B1-48C7-4DDC-5DFE16833630}"/>
              </a:ext>
            </a:extLst>
          </p:cNvPr>
          <p:cNvSpPr txBox="1"/>
          <p:nvPr/>
        </p:nvSpPr>
        <p:spPr>
          <a:xfrm>
            <a:off x="1289698" y="1541272"/>
            <a:ext cx="9520555" cy="369332"/>
          </a:xfrm>
          <a:prstGeom prst="rect">
            <a:avLst/>
          </a:prstGeom>
          <a:noFill/>
        </p:spPr>
        <p:txBody>
          <a:bodyPr wrap="square">
            <a:spAutoFit/>
          </a:bodyPr>
          <a:lstStyle/>
          <a:p>
            <a:r>
              <a:rPr lang="en-US" b="1" dirty="0"/>
              <a:t>What do you do? </a:t>
            </a:r>
            <a:r>
              <a:rPr lang="en-US" b="1" i="1" dirty="0"/>
              <a:t>Select the appropriate option.</a:t>
            </a:r>
          </a:p>
        </p:txBody>
      </p:sp>
      <p:sp>
        <p:nvSpPr>
          <p:cNvPr id="9" name="Rectangle: Rounded Corners 8">
            <a:extLst>
              <a:ext uri="{FF2B5EF4-FFF2-40B4-BE49-F238E27FC236}">
                <a16:creationId xmlns:a16="http://schemas.microsoft.com/office/drawing/2014/main" id="{42C8AEB1-0877-6F9D-29DD-0CE55BA4E13D}"/>
              </a:ext>
            </a:extLst>
          </p:cNvPr>
          <p:cNvSpPr/>
          <p:nvPr/>
        </p:nvSpPr>
        <p:spPr>
          <a:xfrm>
            <a:off x="1495689" y="2358989"/>
            <a:ext cx="3519030" cy="699171"/>
          </a:xfrm>
          <a:prstGeom prst="roundRect">
            <a:avLst>
              <a:gd name="adj" fmla="val 40738"/>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Let her leave</a:t>
            </a:r>
          </a:p>
        </p:txBody>
      </p:sp>
      <p:sp>
        <p:nvSpPr>
          <p:cNvPr id="11" name="Rectangle: Rounded Corners 10">
            <a:extLst>
              <a:ext uri="{FF2B5EF4-FFF2-40B4-BE49-F238E27FC236}">
                <a16:creationId xmlns:a16="http://schemas.microsoft.com/office/drawing/2014/main" id="{1797F9BB-D0EA-C4A2-4355-A1FD599E3D58}"/>
              </a:ext>
            </a:extLst>
          </p:cNvPr>
          <p:cNvSpPr/>
          <p:nvPr/>
        </p:nvSpPr>
        <p:spPr>
          <a:xfrm>
            <a:off x="5295529" y="2358989"/>
            <a:ext cx="3519030" cy="699171"/>
          </a:xfrm>
          <a:prstGeom prst="roundRect">
            <a:avLst>
              <a:gd name="adj" fmla="val 40738"/>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Politely delay and escalate</a:t>
            </a:r>
          </a:p>
        </p:txBody>
      </p:sp>
      <p:sp>
        <p:nvSpPr>
          <p:cNvPr id="10" name="TextBox 9">
            <a:extLst>
              <a:ext uri="{FF2B5EF4-FFF2-40B4-BE49-F238E27FC236}">
                <a16:creationId xmlns:a16="http://schemas.microsoft.com/office/drawing/2014/main" id="{EFCF390F-0DC2-F062-C0BF-CBE0293F5411}"/>
              </a:ext>
            </a:extLst>
          </p:cNvPr>
          <p:cNvSpPr txBox="1"/>
          <p:nvPr/>
        </p:nvSpPr>
        <p:spPr>
          <a:xfrm>
            <a:off x="1666240" y="3272175"/>
            <a:ext cx="9387840" cy="2031325"/>
          </a:xfrm>
          <a:prstGeom prst="rect">
            <a:avLst/>
          </a:prstGeom>
          <a:noFill/>
        </p:spPr>
        <p:txBody>
          <a:bodyPr wrap="square">
            <a:spAutoFit/>
          </a:bodyPr>
          <a:lstStyle/>
          <a:p>
            <a:r>
              <a:rPr lang="en-US" b="1" dirty="0">
                <a:solidFill>
                  <a:schemeClr val="accent2"/>
                </a:solidFill>
              </a:rPr>
              <a:t>What You Did Right:</a:t>
            </a:r>
          </a:p>
          <a:p>
            <a:endParaRPr lang="en-US" b="1" dirty="0">
              <a:solidFill>
                <a:schemeClr val="accent2"/>
              </a:solidFill>
            </a:endParaRPr>
          </a:p>
          <a:p>
            <a:pPr marL="285750" indent="-285750">
              <a:buFont typeface="Arial" panose="020B0604020202020204" pitchFamily="34" charset="0"/>
              <a:buChar char="•"/>
            </a:pPr>
            <a:r>
              <a:rPr lang="en-US" dirty="0"/>
              <a:t>Asked open-ended questions that revealed inconsistencies</a:t>
            </a:r>
          </a:p>
          <a:p>
            <a:pPr marL="285750" indent="-285750">
              <a:buFont typeface="Arial" panose="020B0604020202020204" pitchFamily="34" charset="0"/>
              <a:buChar char="•"/>
            </a:pPr>
            <a:r>
              <a:rPr lang="en-US" dirty="0"/>
              <a:t>Remained professional and non-accusatory</a:t>
            </a:r>
          </a:p>
          <a:p>
            <a:pPr marL="285750" indent="-285750">
              <a:buFont typeface="Arial" panose="020B0604020202020204" pitchFamily="34" charset="0"/>
              <a:buChar char="•"/>
            </a:pPr>
            <a:r>
              <a:rPr lang="en-US" dirty="0"/>
              <a:t>Delayed the transaction without tipping off the customer</a:t>
            </a:r>
          </a:p>
          <a:p>
            <a:pPr marL="285750" indent="-285750">
              <a:buFont typeface="Arial" panose="020B0604020202020204" pitchFamily="34" charset="0"/>
              <a:buChar char="•"/>
            </a:pPr>
            <a:r>
              <a:rPr lang="en-US" dirty="0"/>
              <a:t>Escalated to your manager for support</a:t>
            </a:r>
          </a:p>
          <a:p>
            <a:pPr marL="285750" indent="-285750">
              <a:buFont typeface="Arial" panose="020B0604020202020204" pitchFamily="34" charset="0"/>
              <a:buChar char="•"/>
            </a:pPr>
            <a:r>
              <a:rPr lang="en-US" dirty="0"/>
              <a:t>Documented all details while fresh</a:t>
            </a:r>
          </a:p>
        </p:txBody>
      </p:sp>
    </p:spTree>
    <p:extLst>
      <p:ext uri="{BB962C8B-B14F-4D97-AF65-F5344CB8AC3E}">
        <p14:creationId xmlns:p14="http://schemas.microsoft.com/office/powerpoint/2010/main" val="16812437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92D32-31E0-002A-E39A-3D8417E985D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39E0805-F88C-C5FB-16D5-72CCAD176CA0}"/>
              </a:ext>
            </a:extLst>
          </p:cNvPr>
          <p:cNvSpPr/>
          <p:nvPr/>
        </p:nvSpPr>
        <p:spPr>
          <a:xfrm>
            <a:off x="1137920" y="1212558"/>
            <a:ext cx="10241280" cy="5645442"/>
          </a:xfrm>
          <a:prstGeom prst="rect">
            <a:avLst/>
          </a:prstGeom>
          <a:solidFill>
            <a:schemeClr val="bg1"/>
          </a:solidFill>
          <a:ln>
            <a:noFill/>
          </a:ln>
          <a:effectLst>
            <a:outerShdw blurRad="63500" sx="102000" sy="102000" algn="ctr"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3" name="Text Placeholder 8">
            <a:extLst>
              <a:ext uri="{FF2B5EF4-FFF2-40B4-BE49-F238E27FC236}">
                <a16:creationId xmlns:a16="http://schemas.microsoft.com/office/drawing/2014/main" id="{012FE442-17B5-99B4-C856-80E06D9BA933}"/>
              </a:ext>
            </a:extLst>
          </p:cNvPr>
          <p:cNvSpPr txBox="1">
            <a:spLocks/>
          </p:cNvSpPr>
          <p:nvPr/>
        </p:nvSpPr>
        <p:spPr>
          <a:xfrm>
            <a:off x="1036042" y="650626"/>
            <a:ext cx="4832117" cy="423862"/>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01AFE6"/>
                </a:solidFill>
                <a:latin typeface="+mj-lt"/>
                <a:cs typeface="Arial" panose="020B0604020202020204" pitchFamily="34" charset="0"/>
              </a:rPr>
              <a:t>Ask Question First</a:t>
            </a:r>
            <a:endParaRPr lang="en-US" sz="2000" b="1" dirty="0">
              <a:solidFill>
                <a:srgbClr val="01AFE6"/>
              </a:solidFill>
              <a:latin typeface="+mj-lt"/>
            </a:endParaRPr>
          </a:p>
        </p:txBody>
      </p:sp>
      <p:sp>
        <p:nvSpPr>
          <p:cNvPr id="2" name="TextBox 1">
            <a:extLst>
              <a:ext uri="{FF2B5EF4-FFF2-40B4-BE49-F238E27FC236}">
                <a16:creationId xmlns:a16="http://schemas.microsoft.com/office/drawing/2014/main" id="{D616FE7D-2F2B-41C0-0781-6DCEE4581458}"/>
              </a:ext>
            </a:extLst>
          </p:cNvPr>
          <p:cNvSpPr txBox="1"/>
          <p:nvPr/>
        </p:nvSpPr>
        <p:spPr>
          <a:xfrm>
            <a:off x="1289698" y="1541272"/>
            <a:ext cx="9520555" cy="369332"/>
          </a:xfrm>
          <a:prstGeom prst="rect">
            <a:avLst/>
          </a:prstGeom>
          <a:noFill/>
        </p:spPr>
        <p:txBody>
          <a:bodyPr wrap="square">
            <a:spAutoFit/>
          </a:bodyPr>
          <a:lstStyle/>
          <a:p>
            <a:r>
              <a:rPr lang="en-US" b="1" dirty="0"/>
              <a:t>What do you do? </a:t>
            </a:r>
            <a:r>
              <a:rPr lang="en-US" b="1" i="1" dirty="0"/>
              <a:t>Select the appropriate option.</a:t>
            </a:r>
          </a:p>
        </p:txBody>
      </p:sp>
      <p:sp>
        <p:nvSpPr>
          <p:cNvPr id="9" name="Rectangle: Rounded Corners 8">
            <a:extLst>
              <a:ext uri="{FF2B5EF4-FFF2-40B4-BE49-F238E27FC236}">
                <a16:creationId xmlns:a16="http://schemas.microsoft.com/office/drawing/2014/main" id="{27F0B1A4-0EB0-D0DE-30B0-9BB4A0E2450C}"/>
              </a:ext>
            </a:extLst>
          </p:cNvPr>
          <p:cNvSpPr/>
          <p:nvPr/>
        </p:nvSpPr>
        <p:spPr>
          <a:xfrm>
            <a:off x="1495689" y="2048674"/>
            <a:ext cx="3519030" cy="699171"/>
          </a:xfrm>
          <a:prstGeom prst="roundRect">
            <a:avLst>
              <a:gd name="adj" fmla="val 40738"/>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Let her leave</a:t>
            </a:r>
          </a:p>
        </p:txBody>
      </p:sp>
      <p:sp>
        <p:nvSpPr>
          <p:cNvPr id="11" name="Rectangle: Rounded Corners 10">
            <a:extLst>
              <a:ext uri="{FF2B5EF4-FFF2-40B4-BE49-F238E27FC236}">
                <a16:creationId xmlns:a16="http://schemas.microsoft.com/office/drawing/2014/main" id="{297CB2A9-1BCE-6508-D4BE-B7059A7CEA92}"/>
              </a:ext>
            </a:extLst>
          </p:cNvPr>
          <p:cNvSpPr/>
          <p:nvPr/>
        </p:nvSpPr>
        <p:spPr>
          <a:xfrm>
            <a:off x="5295529" y="2048674"/>
            <a:ext cx="3519030" cy="699171"/>
          </a:xfrm>
          <a:prstGeom prst="roundRect">
            <a:avLst>
              <a:gd name="adj" fmla="val 40738"/>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Politely delay and escalate</a:t>
            </a:r>
          </a:p>
        </p:txBody>
      </p:sp>
      <p:sp>
        <p:nvSpPr>
          <p:cNvPr id="10" name="TextBox 9">
            <a:extLst>
              <a:ext uri="{FF2B5EF4-FFF2-40B4-BE49-F238E27FC236}">
                <a16:creationId xmlns:a16="http://schemas.microsoft.com/office/drawing/2014/main" id="{CF7712FA-B0A0-E9FF-9FC0-94CF6B60D3E6}"/>
              </a:ext>
            </a:extLst>
          </p:cNvPr>
          <p:cNvSpPr txBox="1"/>
          <p:nvPr/>
        </p:nvSpPr>
        <p:spPr>
          <a:xfrm>
            <a:off x="1666240" y="2961860"/>
            <a:ext cx="9387840" cy="1754326"/>
          </a:xfrm>
          <a:prstGeom prst="rect">
            <a:avLst/>
          </a:prstGeom>
          <a:noFill/>
        </p:spPr>
        <p:txBody>
          <a:bodyPr wrap="square">
            <a:spAutoFit/>
          </a:bodyPr>
          <a:lstStyle/>
          <a:p>
            <a:r>
              <a:rPr lang="en-US" b="1" dirty="0"/>
              <a:t>Impact:</a:t>
            </a:r>
          </a:p>
          <a:p>
            <a:pPr marL="285750" indent="-285750">
              <a:buFont typeface="Arial" panose="020B0604020202020204" pitchFamily="34" charset="0"/>
              <a:buChar char="•"/>
            </a:pPr>
            <a:r>
              <a:rPr lang="en-US" dirty="0"/>
              <a:t>Transaction blocked: $45,000 in suspected illicit funds</a:t>
            </a:r>
          </a:p>
          <a:p>
            <a:pPr marL="285750" indent="-285750">
              <a:buFont typeface="Arial" panose="020B0604020202020204" pitchFamily="34" charset="0"/>
              <a:buChar char="•"/>
            </a:pPr>
            <a:r>
              <a:rPr lang="en-US" dirty="0"/>
              <a:t>SAR filed with detailed observations</a:t>
            </a:r>
          </a:p>
          <a:p>
            <a:pPr marL="285750" indent="-285750">
              <a:buFont typeface="Arial" panose="020B0604020202020204" pitchFamily="34" charset="0"/>
              <a:buChar char="•"/>
            </a:pPr>
            <a:r>
              <a:rPr lang="en-US" dirty="0"/>
              <a:t>Law enforcement notified of suspected money mule operation</a:t>
            </a:r>
          </a:p>
          <a:p>
            <a:pPr marL="285750" indent="-285750">
              <a:buFont typeface="Arial" panose="020B0604020202020204" pitchFamily="34" charset="0"/>
              <a:buChar char="•"/>
            </a:pPr>
            <a:r>
              <a:rPr lang="en-US" dirty="0"/>
              <a:t>Maria's information entered into FinCEN database</a:t>
            </a:r>
          </a:p>
          <a:p>
            <a:pPr marL="285750" indent="-285750">
              <a:buFont typeface="Arial" panose="020B0604020202020204" pitchFamily="34" charset="0"/>
              <a:buChar char="•"/>
            </a:pPr>
            <a:r>
              <a:rPr lang="en-US" dirty="0"/>
              <a:t>You protected your institution and potentially interrupted a larger scheme</a:t>
            </a:r>
          </a:p>
        </p:txBody>
      </p:sp>
      <p:sp>
        <p:nvSpPr>
          <p:cNvPr id="6" name="TextBox 5">
            <a:extLst>
              <a:ext uri="{FF2B5EF4-FFF2-40B4-BE49-F238E27FC236}">
                <a16:creationId xmlns:a16="http://schemas.microsoft.com/office/drawing/2014/main" id="{3E8069C7-B96C-40AE-7837-28AD3CE92D92}"/>
              </a:ext>
            </a:extLst>
          </p:cNvPr>
          <p:cNvSpPr txBox="1"/>
          <p:nvPr/>
        </p:nvSpPr>
        <p:spPr>
          <a:xfrm>
            <a:off x="1666240" y="4807462"/>
            <a:ext cx="9144013" cy="1477328"/>
          </a:xfrm>
          <a:prstGeom prst="rect">
            <a:avLst/>
          </a:prstGeom>
          <a:noFill/>
        </p:spPr>
        <p:txBody>
          <a:bodyPr wrap="square">
            <a:spAutoFit/>
          </a:bodyPr>
          <a:lstStyle/>
          <a:p>
            <a:pPr algn="l">
              <a:buNone/>
            </a:pPr>
            <a:r>
              <a:rPr lang="en-US" b="1" i="0" dirty="0">
                <a:effectLst/>
                <a:latin typeface="+mj-lt"/>
              </a:rPr>
              <a:t>Key Principle:</a:t>
            </a:r>
            <a:r>
              <a:rPr lang="en-US" b="0" i="0" dirty="0">
                <a:effectLst/>
                <a:latin typeface="+mj-lt"/>
              </a:rPr>
              <a:t> You can't always know for certain if something is criminal—but you can recognize inconsistencies and follow protocol. That's exactly what you did.</a:t>
            </a:r>
          </a:p>
          <a:p>
            <a:pPr algn="l">
              <a:buNone/>
            </a:pPr>
            <a:r>
              <a:rPr lang="en-US" b="1" i="0" dirty="0">
                <a:effectLst/>
                <a:latin typeface="+mj-lt"/>
              </a:rPr>
              <a:t>Important Reminder:</a:t>
            </a:r>
            <a:r>
              <a:rPr lang="en-US" b="0" i="0" dirty="0">
                <a:effectLst/>
                <a:latin typeface="+mj-lt"/>
              </a:rPr>
              <a:t> Even if Maria had a legitimate explanation, asking questions and following procedure is always the right call.</a:t>
            </a:r>
          </a:p>
        </p:txBody>
      </p:sp>
      <p:sp>
        <p:nvSpPr>
          <p:cNvPr id="7" name="Rectangle: Rounded Corners 6">
            <a:extLst>
              <a:ext uri="{FF2B5EF4-FFF2-40B4-BE49-F238E27FC236}">
                <a16:creationId xmlns:a16="http://schemas.microsoft.com/office/drawing/2014/main" id="{3933FFCB-2E10-1BD5-5F62-879F83F42171}"/>
              </a:ext>
            </a:extLst>
          </p:cNvPr>
          <p:cNvSpPr/>
          <p:nvPr/>
        </p:nvSpPr>
        <p:spPr>
          <a:xfrm>
            <a:off x="9215438" y="6073274"/>
            <a:ext cx="2692082" cy="699171"/>
          </a:xfrm>
          <a:prstGeom prst="roundRect">
            <a:avLst>
              <a:gd name="adj" fmla="val 40738"/>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Continue to debrief</a:t>
            </a:r>
          </a:p>
        </p:txBody>
      </p:sp>
    </p:spTree>
    <p:extLst>
      <p:ext uri="{BB962C8B-B14F-4D97-AF65-F5344CB8AC3E}">
        <p14:creationId xmlns:p14="http://schemas.microsoft.com/office/powerpoint/2010/main" val="40651936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A2668-AED8-0DFC-741C-FE1F1642C4B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A56910B-A119-13AD-34EF-EE40D76A70A4}"/>
              </a:ext>
            </a:extLst>
          </p:cNvPr>
          <p:cNvSpPr/>
          <p:nvPr/>
        </p:nvSpPr>
        <p:spPr>
          <a:xfrm>
            <a:off x="1137920" y="1212558"/>
            <a:ext cx="10241280" cy="5645442"/>
          </a:xfrm>
          <a:prstGeom prst="rect">
            <a:avLst/>
          </a:prstGeom>
          <a:solidFill>
            <a:schemeClr val="bg1"/>
          </a:solidFill>
          <a:ln>
            <a:noFill/>
          </a:ln>
          <a:effectLst>
            <a:outerShdw blurRad="63500" sx="102000" sy="102000" algn="ctr"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3" name="Text Placeholder 8">
            <a:extLst>
              <a:ext uri="{FF2B5EF4-FFF2-40B4-BE49-F238E27FC236}">
                <a16:creationId xmlns:a16="http://schemas.microsoft.com/office/drawing/2014/main" id="{F61C637B-C595-C096-9C34-C157BC078D85}"/>
              </a:ext>
            </a:extLst>
          </p:cNvPr>
          <p:cNvSpPr txBox="1">
            <a:spLocks/>
          </p:cNvSpPr>
          <p:nvPr/>
        </p:nvSpPr>
        <p:spPr>
          <a:xfrm>
            <a:off x="1036042" y="650626"/>
            <a:ext cx="4832117" cy="423862"/>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01AFE6"/>
                </a:solidFill>
                <a:latin typeface="+mj-lt"/>
                <a:cs typeface="Arial" panose="020B0604020202020204" pitchFamily="34" charset="0"/>
              </a:rPr>
              <a:t>Decline and Escalate</a:t>
            </a:r>
            <a:endParaRPr lang="en-US" sz="2000" b="1" dirty="0">
              <a:solidFill>
                <a:srgbClr val="01AFE6"/>
              </a:solidFill>
              <a:latin typeface="+mj-lt"/>
            </a:endParaRPr>
          </a:p>
        </p:txBody>
      </p:sp>
      <p:pic>
        <p:nvPicPr>
          <p:cNvPr id="5" name="Picture 2" descr="Happy primary school teacher standing in the classroom and looking at camera.">
            <a:extLst>
              <a:ext uri="{FF2B5EF4-FFF2-40B4-BE49-F238E27FC236}">
                <a16:creationId xmlns:a16="http://schemas.microsoft.com/office/drawing/2014/main" id="{1AEE921C-2990-9B13-C990-0DC279C6DFB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6394" r="8029" b="23022"/>
          <a:stretch>
            <a:fillRect/>
          </a:stretch>
        </p:blipFill>
        <p:spPr bwMode="auto">
          <a:xfrm>
            <a:off x="9659462" y="1688380"/>
            <a:ext cx="1156859" cy="1175041"/>
          </a:xfrm>
          <a:prstGeom prst="ellipse">
            <a:avLst/>
          </a:prstGeom>
          <a:noFill/>
          <a:extLst>
            <a:ext uri="{909E8E84-426E-40DD-AFC4-6F175D3DCCD1}">
              <a14:hiddenFill xmlns:a14="http://schemas.microsoft.com/office/drawing/2010/main">
                <a:solidFill>
                  <a:srgbClr val="FFFFFF"/>
                </a:solidFill>
              </a14:hiddenFill>
            </a:ext>
          </a:extLst>
        </p:spPr>
      </p:pic>
      <p:sp>
        <p:nvSpPr>
          <p:cNvPr id="6" name="Speech Bubble: Rectangle with Corners Rounded 5">
            <a:extLst>
              <a:ext uri="{FF2B5EF4-FFF2-40B4-BE49-F238E27FC236}">
                <a16:creationId xmlns:a16="http://schemas.microsoft.com/office/drawing/2014/main" id="{B0520CCB-6B36-414E-FD5A-7237A5BA71D2}"/>
              </a:ext>
            </a:extLst>
          </p:cNvPr>
          <p:cNvSpPr/>
          <p:nvPr/>
        </p:nvSpPr>
        <p:spPr>
          <a:xfrm>
            <a:off x="3608893" y="1485900"/>
            <a:ext cx="5689600" cy="995414"/>
          </a:xfrm>
          <a:prstGeom prst="wedgeRoundRectCallout">
            <a:avLst>
              <a:gd name="adj1" fmla="val 54703"/>
              <a:gd name="adj2" fmla="val 33553"/>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 don't understand. Why are you treating me like a criminal? I've been banking here for three years!</a:t>
            </a:r>
            <a:endParaRPr lang="en-UG" dirty="0"/>
          </a:p>
        </p:txBody>
      </p:sp>
      <p:sp>
        <p:nvSpPr>
          <p:cNvPr id="8" name="TextBox 7">
            <a:extLst>
              <a:ext uri="{FF2B5EF4-FFF2-40B4-BE49-F238E27FC236}">
                <a16:creationId xmlns:a16="http://schemas.microsoft.com/office/drawing/2014/main" id="{36D59C8B-A321-780F-8327-F8007B9C3E5E}"/>
              </a:ext>
            </a:extLst>
          </p:cNvPr>
          <p:cNvSpPr txBox="1"/>
          <p:nvPr/>
        </p:nvSpPr>
        <p:spPr>
          <a:xfrm>
            <a:off x="1503760" y="2957136"/>
            <a:ext cx="9312561" cy="2031325"/>
          </a:xfrm>
          <a:prstGeom prst="rect">
            <a:avLst/>
          </a:prstGeom>
          <a:noFill/>
        </p:spPr>
        <p:txBody>
          <a:bodyPr wrap="square">
            <a:spAutoFit/>
          </a:bodyPr>
          <a:lstStyle/>
          <a:p>
            <a:pPr algn="l">
              <a:buNone/>
            </a:pPr>
            <a:r>
              <a:rPr lang="en-US" b="1" i="0" dirty="0">
                <a:effectLst/>
                <a:latin typeface="+mj-lt"/>
              </a:rPr>
              <a:t>Formal Letter from Corporate Office</a:t>
            </a:r>
          </a:p>
          <a:p>
            <a:pPr algn="l">
              <a:buNone/>
            </a:pPr>
            <a:endParaRPr lang="en-US" b="1" i="0" dirty="0">
              <a:effectLst/>
              <a:latin typeface="+mj-lt"/>
            </a:endParaRPr>
          </a:p>
          <a:p>
            <a:pPr algn="l">
              <a:buNone/>
            </a:pPr>
            <a:r>
              <a:rPr lang="en-US" b="0" i="0" dirty="0">
                <a:effectLst/>
                <a:latin typeface="+mj-lt"/>
              </a:rPr>
              <a:t>"...Ms. Santos has provided documentation showing the deposit was a legitimate inheritance from a deceased aunt's estate, distributed in cash per the aunt's wishes and local probate court approval. The accusatory manner in which this was handled has resulted in significant distress to Ms. Santos and potential discrimination concerns...</a:t>
            </a:r>
          </a:p>
        </p:txBody>
      </p:sp>
    </p:spTree>
    <p:extLst>
      <p:ext uri="{BB962C8B-B14F-4D97-AF65-F5344CB8AC3E}">
        <p14:creationId xmlns:p14="http://schemas.microsoft.com/office/powerpoint/2010/main" val="18875868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E2539-D6CC-EEF5-E1B4-81AE5DEA167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9E48A2F-AD90-955C-0A6A-4AD6E7A32492}"/>
              </a:ext>
            </a:extLst>
          </p:cNvPr>
          <p:cNvSpPr/>
          <p:nvPr/>
        </p:nvSpPr>
        <p:spPr>
          <a:xfrm>
            <a:off x="1137920" y="1212558"/>
            <a:ext cx="10241280" cy="5645442"/>
          </a:xfrm>
          <a:prstGeom prst="rect">
            <a:avLst/>
          </a:prstGeom>
          <a:solidFill>
            <a:schemeClr val="bg1"/>
          </a:solidFill>
          <a:ln>
            <a:noFill/>
          </a:ln>
          <a:effectLst>
            <a:outerShdw blurRad="63500" sx="102000" sy="102000" algn="ctr"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3" name="Text Placeholder 8">
            <a:extLst>
              <a:ext uri="{FF2B5EF4-FFF2-40B4-BE49-F238E27FC236}">
                <a16:creationId xmlns:a16="http://schemas.microsoft.com/office/drawing/2014/main" id="{43AF416C-7C09-4DFB-B310-7969C20BE8C6}"/>
              </a:ext>
            </a:extLst>
          </p:cNvPr>
          <p:cNvSpPr txBox="1">
            <a:spLocks/>
          </p:cNvSpPr>
          <p:nvPr/>
        </p:nvSpPr>
        <p:spPr>
          <a:xfrm>
            <a:off x="1036042" y="650626"/>
            <a:ext cx="4832117" cy="423862"/>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solidFill>
                  <a:srgbClr val="01AFE6"/>
                </a:solidFill>
                <a:cs typeface="Arial" panose="020B0604020202020204" pitchFamily="34" charset="0"/>
              </a:rPr>
              <a:t>Decline and Escalate</a:t>
            </a:r>
            <a:endParaRPr lang="en-US" sz="2000" b="1" dirty="0">
              <a:solidFill>
                <a:srgbClr val="01AFE6"/>
              </a:solidFill>
            </a:endParaRPr>
          </a:p>
        </p:txBody>
      </p:sp>
      <p:sp>
        <p:nvSpPr>
          <p:cNvPr id="9" name="TextBox 8">
            <a:extLst>
              <a:ext uri="{FF2B5EF4-FFF2-40B4-BE49-F238E27FC236}">
                <a16:creationId xmlns:a16="http://schemas.microsoft.com/office/drawing/2014/main" id="{44CAFB07-0435-B726-A533-993F1499319C}"/>
              </a:ext>
            </a:extLst>
          </p:cNvPr>
          <p:cNvSpPr txBox="1"/>
          <p:nvPr/>
        </p:nvSpPr>
        <p:spPr>
          <a:xfrm>
            <a:off x="1477867" y="1901760"/>
            <a:ext cx="9766395" cy="3139321"/>
          </a:xfrm>
          <a:prstGeom prst="rect">
            <a:avLst/>
          </a:prstGeom>
          <a:noFill/>
        </p:spPr>
        <p:txBody>
          <a:bodyPr wrap="square">
            <a:spAutoFit/>
          </a:bodyPr>
          <a:lstStyle/>
          <a:p>
            <a:r>
              <a:rPr lang="en-US" b="1" dirty="0">
                <a:solidFill>
                  <a:schemeClr val="accent2"/>
                </a:solidFill>
              </a:rPr>
              <a:t>You Recognized the Red Flag — But Over-Reacted</a:t>
            </a:r>
          </a:p>
          <a:p>
            <a:endParaRPr lang="en-US" b="1" dirty="0"/>
          </a:p>
          <a:p>
            <a:r>
              <a:rPr lang="en-US" b="1" dirty="0">
                <a:solidFill>
                  <a:schemeClr val="accent2"/>
                </a:solidFill>
              </a:rPr>
              <a:t>What Went Wrong:</a:t>
            </a:r>
          </a:p>
          <a:p>
            <a:pPr marL="285750" indent="-285750">
              <a:buFont typeface="Arial" panose="020B0604020202020204" pitchFamily="34" charset="0"/>
              <a:buChar char="•"/>
            </a:pPr>
            <a:r>
              <a:rPr lang="en-US" b="1" dirty="0"/>
              <a:t>Premature escalation</a:t>
            </a:r>
            <a:r>
              <a:rPr lang="en-US" dirty="0"/>
              <a:t> — You flagged suspicious activity correctly, but immediately refusing the transaction without any questions was extreme</a:t>
            </a:r>
          </a:p>
          <a:p>
            <a:pPr marL="285750" indent="-285750">
              <a:buFont typeface="Arial" panose="020B0604020202020204" pitchFamily="34" charset="0"/>
              <a:buChar char="•"/>
            </a:pPr>
            <a:r>
              <a:rPr lang="en-US" b="1" dirty="0"/>
              <a:t>Customer experience</a:t>
            </a:r>
            <a:r>
              <a:rPr lang="en-US" dirty="0"/>
              <a:t> — Public escalation without conversation caused unnecessary embarrassment</a:t>
            </a:r>
          </a:p>
          <a:p>
            <a:pPr marL="285750" indent="-285750">
              <a:buFont typeface="Arial" panose="020B0604020202020204" pitchFamily="34" charset="0"/>
              <a:buChar char="•"/>
            </a:pPr>
            <a:r>
              <a:rPr lang="en-US" b="1" dirty="0"/>
              <a:t>Missed information</a:t>
            </a:r>
            <a:r>
              <a:rPr lang="en-US" dirty="0"/>
              <a:t> — If you'd asked questions first, Maria could have explained and provided documentation</a:t>
            </a:r>
          </a:p>
          <a:p>
            <a:pPr marL="285750" indent="-285750">
              <a:buFont typeface="Arial" panose="020B0604020202020204" pitchFamily="34" charset="0"/>
              <a:buChar char="•"/>
            </a:pPr>
            <a:r>
              <a:rPr lang="en-US" b="1" dirty="0"/>
              <a:t>Process violation</a:t>
            </a:r>
            <a:r>
              <a:rPr lang="en-US" dirty="0"/>
              <a:t> — Standard protocol is to inquire first, then escalate if answers are suspicious or evasive</a:t>
            </a:r>
          </a:p>
        </p:txBody>
      </p:sp>
    </p:spTree>
    <p:extLst>
      <p:ext uri="{BB962C8B-B14F-4D97-AF65-F5344CB8AC3E}">
        <p14:creationId xmlns:p14="http://schemas.microsoft.com/office/powerpoint/2010/main" val="21410278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F1DF7-1436-E703-83BB-036F8376D0F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C8E437F-1460-F8D2-15B1-4C5B68813984}"/>
              </a:ext>
            </a:extLst>
          </p:cNvPr>
          <p:cNvSpPr/>
          <p:nvPr/>
        </p:nvSpPr>
        <p:spPr>
          <a:xfrm>
            <a:off x="1137920" y="1212558"/>
            <a:ext cx="10241280" cy="5645442"/>
          </a:xfrm>
          <a:prstGeom prst="rect">
            <a:avLst/>
          </a:prstGeom>
          <a:solidFill>
            <a:schemeClr val="bg1"/>
          </a:solidFill>
          <a:ln>
            <a:noFill/>
          </a:ln>
          <a:effectLst>
            <a:outerShdw blurRad="63500" sx="102000" sy="102000" algn="ctr"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3" name="Text Placeholder 8">
            <a:extLst>
              <a:ext uri="{FF2B5EF4-FFF2-40B4-BE49-F238E27FC236}">
                <a16:creationId xmlns:a16="http://schemas.microsoft.com/office/drawing/2014/main" id="{94ACBDFD-F80F-129E-989D-2E15F4D7F0AF}"/>
              </a:ext>
            </a:extLst>
          </p:cNvPr>
          <p:cNvSpPr txBox="1">
            <a:spLocks/>
          </p:cNvSpPr>
          <p:nvPr/>
        </p:nvSpPr>
        <p:spPr>
          <a:xfrm>
            <a:off x="1036042" y="650626"/>
            <a:ext cx="4832117" cy="423862"/>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solidFill>
                  <a:srgbClr val="01AFE6"/>
                </a:solidFill>
                <a:cs typeface="Arial" panose="020B0604020202020204" pitchFamily="34" charset="0"/>
              </a:rPr>
              <a:t>Decline and Escalate</a:t>
            </a:r>
            <a:endParaRPr lang="en-US" sz="2000" b="1" dirty="0">
              <a:solidFill>
                <a:srgbClr val="01AFE6"/>
              </a:solidFill>
            </a:endParaRPr>
          </a:p>
        </p:txBody>
      </p:sp>
      <p:sp>
        <p:nvSpPr>
          <p:cNvPr id="9" name="TextBox 8">
            <a:extLst>
              <a:ext uri="{FF2B5EF4-FFF2-40B4-BE49-F238E27FC236}">
                <a16:creationId xmlns:a16="http://schemas.microsoft.com/office/drawing/2014/main" id="{8ACCF84F-BC75-0643-2DDD-9B29C2595EA4}"/>
              </a:ext>
            </a:extLst>
          </p:cNvPr>
          <p:cNvSpPr txBox="1"/>
          <p:nvPr/>
        </p:nvSpPr>
        <p:spPr>
          <a:xfrm>
            <a:off x="1477867" y="1901760"/>
            <a:ext cx="9766395" cy="2031325"/>
          </a:xfrm>
          <a:prstGeom prst="rect">
            <a:avLst/>
          </a:prstGeom>
          <a:noFill/>
        </p:spPr>
        <p:txBody>
          <a:bodyPr wrap="square">
            <a:spAutoFit/>
          </a:bodyPr>
          <a:lstStyle/>
          <a:p>
            <a:r>
              <a:rPr lang="en-US" b="1" dirty="0">
                <a:solidFill>
                  <a:schemeClr val="accent2"/>
                </a:solidFill>
              </a:rPr>
              <a:t>The Balance:</a:t>
            </a:r>
          </a:p>
          <a:p>
            <a:endParaRPr lang="en-US" b="1" dirty="0">
              <a:solidFill>
                <a:schemeClr val="accent2"/>
              </a:solidFill>
            </a:endParaRPr>
          </a:p>
          <a:p>
            <a:r>
              <a:rPr lang="en-US" dirty="0"/>
              <a:t>Being vigilant ≠ being accusatory. Your job is to:</a:t>
            </a:r>
          </a:p>
          <a:p>
            <a:pPr marL="285750" indent="-285750">
              <a:buFont typeface="Arial" panose="020B0604020202020204" pitchFamily="34" charset="0"/>
              <a:buChar char="•"/>
            </a:pPr>
            <a:r>
              <a:rPr lang="en-US" dirty="0"/>
              <a:t>Observe red flags</a:t>
            </a:r>
          </a:p>
          <a:p>
            <a:pPr marL="285750" indent="-285750">
              <a:buFont typeface="Arial" panose="020B0604020202020204" pitchFamily="34" charset="0"/>
              <a:buChar char="•"/>
            </a:pPr>
            <a:r>
              <a:rPr lang="en-US" dirty="0"/>
              <a:t>Inquire professionally</a:t>
            </a:r>
          </a:p>
          <a:p>
            <a:pPr marL="285750" indent="-285750">
              <a:buFont typeface="Arial" panose="020B0604020202020204" pitchFamily="34" charset="0"/>
              <a:buChar char="•"/>
            </a:pPr>
            <a:r>
              <a:rPr lang="en-US" dirty="0"/>
              <a:t>Escalate when responses are evasive or incomplete</a:t>
            </a:r>
          </a:p>
          <a:p>
            <a:pPr marL="285750" indent="-285750">
              <a:buFont typeface="Arial" panose="020B0604020202020204" pitchFamily="34" charset="0"/>
              <a:buChar char="•"/>
            </a:pPr>
            <a:r>
              <a:rPr lang="en-US" dirty="0"/>
              <a:t>Document thoroughly</a:t>
            </a:r>
          </a:p>
        </p:txBody>
      </p:sp>
      <p:sp>
        <p:nvSpPr>
          <p:cNvPr id="2" name="Rectangle: Rounded Corners 1">
            <a:extLst>
              <a:ext uri="{FF2B5EF4-FFF2-40B4-BE49-F238E27FC236}">
                <a16:creationId xmlns:a16="http://schemas.microsoft.com/office/drawing/2014/main" id="{DABAA6B5-0D5D-E9FA-9B12-77A2D7F20841}"/>
              </a:ext>
            </a:extLst>
          </p:cNvPr>
          <p:cNvSpPr/>
          <p:nvPr/>
        </p:nvSpPr>
        <p:spPr>
          <a:xfrm>
            <a:off x="1477867" y="4549676"/>
            <a:ext cx="3258539" cy="418875"/>
          </a:xfrm>
          <a:prstGeom prst="roundRect">
            <a:avLst>
              <a:gd name="adj" fmla="val 40738"/>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Key Learning</a:t>
            </a:r>
          </a:p>
        </p:txBody>
      </p:sp>
      <p:sp>
        <p:nvSpPr>
          <p:cNvPr id="5" name="TextBox 4">
            <a:extLst>
              <a:ext uri="{FF2B5EF4-FFF2-40B4-BE49-F238E27FC236}">
                <a16:creationId xmlns:a16="http://schemas.microsoft.com/office/drawing/2014/main" id="{72BCBCB9-12E7-21A6-093D-AD2EE33F206A}"/>
              </a:ext>
            </a:extLst>
          </p:cNvPr>
          <p:cNvSpPr txBox="1"/>
          <p:nvPr/>
        </p:nvSpPr>
        <p:spPr>
          <a:xfrm>
            <a:off x="1477867" y="5183777"/>
            <a:ext cx="9766394" cy="646331"/>
          </a:xfrm>
          <a:prstGeom prst="rect">
            <a:avLst/>
          </a:prstGeom>
          <a:noFill/>
        </p:spPr>
        <p:txBody>
          <a:bodyPr wrap="square">
            <a:spAutoFit/>
          </a:bodyPr>
          <a:lstStyle/>
          <a:p>
            <a:r>
              <a:rPr lang="en-US" dirty="0"/>
              <a:t>Not every red flag is a crime. Your role is to be curious, not suspicious — to gather information, not rush to judgment. Let the investigation process work.</a:t>
            </a:r>
            <a:endParaRPr lang="en-UG" dirty="0"/>
          </a:p>
        </p:txBody>
      </p:sp>
      <p:sp>
        <p:nvSpPr>
          <p:cNvPr id="6" name="Rectangle: Rounded Corners 5">
            <a:extLst>
              <a:ext uri="{FF2B5EF4-FFF2-40B4-BE49-F238E27FC236}">
                <a16:creationId xmlns:a16="http://schemas.microsoft.com/office/drawing/2014/main" id="{56E30A7A-C3FC-602D-E6C9-0BEDC354328F}"/>
              </a:ext>
            </a:extLst>
          </p:cNvPr>
          <p:cNvSpPr/>
          <p:nvPr/>
        </p:nvSpPr>
        <p:spPr>
          <a:xfrm>
            <a:off x="1477867" y="6218162"/>
            <a:ext cx="3258539" cy="418875"/>
          </a:xfrm>
          <a:prstGeom prst="roundRect">
            <a:avLst>
              <a:gd name="adj" fmla="val 40738"/>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Try Again!</a:t>
            </a:r>
          </a:p>
        </p:txBody>
      </p:sp>
    </p:spTree>
    <p:extLst>
      <p:ext uri="{BB962C8B-B14F-4D97-AF65-F5344CB8AC3E}">
        <p14:creationId xmlns:p14="http://schemas.microsoft.com/office/powerpoint/2010/main" val="5813704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2E18A-2863-1B29-225F-7426E1C92C39}"/>
            </a:ext>
          </a:extLst>
        </p:cNvPr>
        <p:cNvGrpSpPr/>
        <p:nvPr/>
      </p:nvGrpSpPr>
      <p:grpSpPr>
        <a:xfrm>
          <a:off x="0" y="0"/>
          <a:ext cx="0" cy="0"/>
          <a:chOff x="0" y="0"/>
          <a:chExt cx="0" cy="0"/>
        </a:xfrm>
      </p:grpSpPr>
      <p:sp>
        <p:nvSpPr>
          <p:cNvPr id="2" name="Text Placeholder 8">
            <a:extLst>
              <a:ext uri="{FF2B5EF4-FFF2-40B4-BE49-F238E27FC236}">
                <a16:creationId xmlns:a16="http://schemas.microsoft.com/office/drawing/2014/main" id="{20E167A8-9C93-306F-3C41-EB63E477B27E}"/>
              </a:ext>
            </a:extLst>
          </p:cNvPr>
          <p:cNvSpPr txBox="1">
            <a:spLocks/>
          </p:cNvSpPr>
          <p:nvPr/>
        </p:nvSpPr>
        <p:spPr>
          <a:xfrm>
            <a:off x="1036042" y="650626"/>
            <a:ext cx="6479183" cy="507130"/>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solidFill>
                  <a:schemeClr val="accent2"/>
                </a:solidFill>
              </a:rPr>
              <a:t>Scenario Debrief &amp; Learning Reinforcement</a:t>
            </a:r>
          </a:p>
        </p:txBody>
      </p:sp>
      <p:sp>
        <p:nvSpPr>
          <p:cNvPr id="3" name="TextBox 2">
            <a:extLst>
              <a:ext uri="{FF2B5EF4-FFF2-40B4-BE49-F238E27FC236}">
                <a16:creationId xmlns:a16="http://schemas.microsoft.com/office/drawing/2014/main" id="{0384D095-E884-B742-502C-B44C13372947}"/>
              </a:ext>
            </a:extLst>
          </p:cNvPr>
          <p:cNvSpPr txBox="1"/>
          <p:nvPr/>
        </p:nvSpPr>
        <p:spPr>
          <a:xfrm>
            <a:off x="1036042" y="1173611"/>
            <a:ext cx="9977938" cy="371705"/>
          </a:xfrm>
          <a:prstGeom prst="rect">
            <a:avLst/>
          </a:prstGeom>
          <a:noFill/>
        </p:spPr>
        <p:txBody>
          <a:bodyPr wrap="square">
            <a:spAutoFit/>
          </a:bodyPr>
          <a:lstStyle/>
          <a:p>
            <a:pPr marL="0" marR="0">
              <a:lnSpc>
                <a:spcPct val="107000"/>
              </a:lnSpc>
              <a:spcBef>
                <a:spcPts val="0"/>
              </a:spcBef>
              <a:spcAft>
                <a:spcPts val="800"/>
              </a:spcAft>
            </a:pPr>
            <a:r>
              <a:rPr lang="en-US" dirty="0"/>
              <a:t>Let’s unpack what you learned.</a:t>
            </a:r>
            <a:endParaRPr lang="en-UG" sz="1800" kern="100" dirty="0">
              <a:effectLst/>
              <a:latin typeface="+mj-lt"/>
              <a:ea typeface="Aptos" panose="020B0004020202020204" pitchFamily="34" charset="0"/>
              <a:cs typeface="Mangal" panose="02040503050203030202" pitchFamily="18" charset="0"/>
            </a:endParaRPr>
          </a:p>
        </p:txBody>
      </p:sp>
      <p:grpSp>
        <p:nvGrpSpPr>
          <p:cNvPr id="13" name="Group 12">
            <a:extLst>
              <a:ext uri="{FF2B5EF4-FFF2-40B4-BE49-F238E27FC236}">
                <a16:creationId xmlns:a16="http://schemas.microsoft.com/office/drawing/2014/main" id="{417E7F71-2677-5F1F-82F8-F8C91063839B}"/>
              </a:ext>
            </a:extLst>
          </p:cNvPr>
          <p:cNvGrpSpPr/>
          <p:nvPr/>
        </p:nvGrpSpPr>
        <p:grpSpPr>
          <a:xfrm>
            <a:off x="471486" y="2146972"/>
            <a:ext cx="11249028" cy="3440896"/>
            <a:chOff x="471486" y="2146972"/>
            <a:chExt cx="11249028" cy="3440896"/>
          </a:xfrm>
        </p:grpSpPr>
        <p:pic>
          <p:nvPicPr>
            <p:cNvPr id="1026" name="Picture 2" descr="Busy middle aged business man executive wearing shirt and glasses sitting at desk using laptop. Mature serious professional businessman manager working looking at computer technology in office.">
              <a:extLst>
                <a:ext uri="{FF2B5EF4-FFF2-40B4-BE49-F238E27FC236}">
                  <a16:creationId xmlns:a16="http://schemas.microsoft.com/office/drawing/2014/main" id="{CF18E625-2966-CDF4-48B3-80402F0FFF4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809" r="12955" b="9376"/>
            <a:stretch>
              <a:fillRect/>
            </a:stretch>
          </p:blipFill>
          <p:spPr bwMode="auto">
            <a:xfrm>
              <a:off x="471487" y="2185876"/>
              <a:ext cx="3425819" cy="338613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miling African female financial advisor, attorney lawyer or bank manager consulting male client investor reading document at business meeting reviewing legal paper planning taxes working in office.">
              <a:extLst>
                <a:ext uri="{FF2B5EF4-FFF2-40B4-BE49-F238E27FC236}">
                  <a16:creationId xmlns:a16="http://schemas.microsoft.com/office/drawing/2014/main" id="{0B0284E1-5B90-4DFA-4279-FD74D8367B1C}"/>
                </a:ext>
              </a:extLst>
            </p:cNvPr>
            <p:cNvPicPr>
              <a:picLocks noChangeAspect="1" noChangeArrowheads="1"/>
            </p:cNvPicPr>
            <p:nvPr/>
          </p:nvPicPr>
          <p:blipFill rotWithShape="1">
            <a:blip r:embed="rId4">
              <a:alphaModFix/>
              <a:extLst>
                <a:ext uri="{28A0092B-C50C-407E-A947-70E740481C1C}">
                  <a14:useLocalDpi xmlns:a14="http://schemas.microsoft.com/office/drawing/2010/main" val="0"/>
                </a:ext>
              </a:extLst>
            </a:blip>
            <a:srcRect l="20242" r="14226" b="11667"/>
            <a:stretch>
              <a:fillRect/>
            </a:stretch>
          </p:blipFill>
          <p:spPr bwMode="auto">
            <a:xfrm>
              <a:off x="4383090" y="2185876"/>
              <a:ext cx="3425820" cy="338624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Middle aged businessman looking at camera working holding smartphone. Mature 45 years old business man executive, business owner or entrepreneur sitting at desk using mobile cell phone. Portrait.">
              <a:extLst>
                <a:ext uri="{FF2B5EF4-FFF2-40B4-BE49-F238E27FC236}">
                  <a16:creationId xmlns:a16="http://schemas.microsoft.com/office/drawing/2014/main" id="{518D959F-777F-09E8-0802-1088DD914BE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4393" r="11145" b="12708"/>
            <a:stretch>
              <a:fillRect/>
            </a:stretch>
          </p:blipFill>
          <p:spPr bwMode="auto">
            <a:xfrm>
              <a:off x="8294694" y="2185876"/>
              <a:ext cx="3425820" cy="3401992"/>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29CC201C-09FE-C60D-EC48-4B2DA9FC0361}"/>
                </a:ext>
              </a:extLst>
            </p:cNvPr>
            <p:cNvSpPr/>
            <p:nvPr/>
          </p:nvSpPr>
          <p:spPr>
            <a:xfrm>
              <a:off x="471486" y="2185876"/>
              <a:ext cx="3425817" cy="6405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11" name="Rectangle 10">
              <a:extLst>
                <a:ext uri="{FF2B5EF4-FFF2-40B4-BE49-F238E27FC236}">
                  <a16:creationId xmlns:a16="http://schemas.microsoft.com/office/drawing/2014/main" id="{9DB1B00B-F594-39BC-AF25-32DFE16BBD82}"/>
                </a:ext>
              </a:extLst>
            </p:cNvPr>
            <p:cNvSpPr/>
            <p:nvPr/>
          </p:nvSpPr>
          <p:spPr>
            <a:xfrm>
              <a:off x="4383091" y="2183387"/>
              <a:ext cx="3425817" cy="6405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12" name="Rectangle 11">
              <a:extLst>
                <a:ext uri="{FF2B5EF4-FFF2-40B4-BE49-F238E27FC236}">
                  <a16:creationId xmlns:a16="http://schemas.microsoft.com/office/drawing/2014/main" id="{DA4B2841-D33D-A947-8BD8-E61EB60C7284}"/>
                </a:ext>
              </a:extLst>
            </p:cNvPr>
            <p:cNvSpPr/>
            <p:nvPr/>
          </p:nvSpPr>
          <p:spPr>
            <a:xfrm>
              <a:off x="8294693" y="2146972"/>
              <a:ext cx="3425817" cy="6405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5" name="TextBox 4">
              <a:extLst>
                <a:ext uri="{FF2B5EF4-FFF2-40B4-BE49-F238E27FC236}">
                  <a16:creationId xmlns:a16="http://schemas.microsoft.com/office/drawing/2014/main" id="{4A1E6DD7-DED1-CC37-45B7-CCA6E91666F6}"/>
                </a:ext>
              </a:extLst>
            </p:cNvPr>
            <p:cNvSpPr txBox="1"/>
            <p:nvPr/>
          </p:nvSpPr>
          <p:spPr>
            <a:xfrm>
              <a:off x="471486" y="2287372"/>
              <a:ext cx="3425819" cy="369332"/>
            </a:xfrm>
            <a:prstGeom prst="rect">
              <a:avLst/>
            </a:prstGeom>
            <a:noFill/>
          </p:spPr>
          <p:txBody>
            <a:bodyPr wrap="square">
              <a:spAutoFit/>
            </a:bodyPr>
            <a:lstStyle/>
            <a:p>
              <a:pPr algn="l" rtl="0" fontAlgn="base"/>
              <a:r>
                <a:rPr lang="en-US" b="1" dirty="0">
                  <a:solidFill>
                    <a:schemeClr val="bg1"/>
                  </a:solidFill>
                </a:rPr>
                <a:t>Process the Transaction</a:t>
              </a:r>
            </a:p>
          </p:txBody>
        </p:sp>
        <p:sp>
          <p:nvSpPr>
            <p:cNvPr id="7" name="TextBox 6">
              <a:extLst>
                <a:ext uri="{FF2B5EF4-FFF2-40B4-BE49-F238E27FC236}">
                  <a16:creationId xmlns:a16="http://schemas.microsoft.com/office/drawing/2014/main" id="{6585A952-9D10-5205-5333-D27592A93650}"/>
                </a:ext>
              </a:extLst>
            </p:cNvPr>
            <p:cNvSpPr txBox="1"/>
            <p:nvPr/>
          </p:nvSpPr>
          <p:spPr>
            <a:xfrm>
              <a:off x="4383089" y="2287372"/>
              <a:ext cx="3425819" cy="369332"/>
            </a:xfrm>
            <a:prstGeom prst="rect">
              <a:avLst/>
            </a:prstGeom>
            <a:noFill/>
          </p:spPr>
          <p:txBody>
            <a:bodyPr wrap="square">
              <a:spAutoFit/>
            </a:bodyPr>
            <a:lstStyle/>
            <a:p>
              <a:pPr algn="l" rtl="0" fontAlgn="base"/>
              <a:r>
                <a:rPr lang="en-US" b="1" dirty="0">
                  <a:solidFill>
                    <a:schemeClr val="bg1"/>
                  </a:solidFill>
                </a:rPr>
                <a:t>Ask Question First</a:t>
              </a:r>
            </a:p>
          </p:txBody>
        </p:sp>
        <p:sp>
          <p:nvSpPr>
            <p:cNvPr id="9" name="TextBox 8">
              <a:extLst>
                <a:ext uri="{FF2B5EF4-FFF2-40B4-BE49-F238E27FC236}">
                  <a16:creationId xmlns:a16="http://schemas.microsoft.com/office/drawing/2014/main" id="{72D426D1-1ABF-EE38-85C5-C9BB8B19A043}"/>
                </a:ext>
              </a:extLst>
            </p:cNvPr>
            <p:cNvSpPr txBox="1"/>
            <p:nvPr/>
          </p:nvSpPr>
          <p:spPr>
            <a:xfrm>
              <a:off x="8294691" y="2146972"/>
              <a:ext cx="3425819" cy="646331"/>
            </a:xfrm>
            <a:prstGeom prst="rect">
              <a:avLst/>
            </a:prstGeom>
            <a:noFill/>
          </p:spPr>
          <p:txBody>
            <a:bodyPr wrap="square">
              <a:spAutoFit/>
            </a:bodyPr>
            <a:lstStyle/>
            <a:p>
              <a:pPr algn="l" rtl="0" fontAlgn="base"/>
              <a:r>
                <a:rPr lang="en-US" b="1" dirty="0">
                  <a:solidFill>
                    <a:schemeClr val="bg1"/>
                  </a:solidFill>
                </a:rPr>
                <a:t>Decline and Escalate Immediately</a:t>
              </a:r>
            </a:p>
          </p:txBody>
        </p:sp>
      </p:grpSp>
      <p:sp>
        <p:nvSpPr>
          <p:cNvPr id="15" name="TextBox 14">
            <a:extLst>
              <a:ext uri="{FF2B5EF4-FFF2-40B4-BE49-F238E27FC236}">
                <a16:creationId xmlns:a16="http://schemas.microsoft.com/office/drawing/2014/main" id="{D82AE288-FDCD-F0D6-04BC-D0350A414BFE}"/>
              </a:ext>
            </a:extLst>
          </p:cNvPr>
          <p:cNvSpPr txBox="1"/>
          <p:nvPr/>
        </p:nvSpPr>
        <p:spPr>
          <a:xfrm>
            <a:off x="405291" y="5587868"/>
            <a:ext cx="3492012" cy="646331"/>
          </a:xfrm>
          <a:prstGeom prst="rect">
            <a:avLst/>
          </a:prstGeom>
          <a:noFill/>
        </p:spPr>
        <p:txBody>
          <a:bodyPr wrap="square">
            <a:spAutoFit/>
          </a:bodyPr>
          <a:lstStyle/>
          <a:p>
            <a:pPr fontAlgn="base"/>
            <a:r>
              <a:rPr lang="en-US" dirty="0"/>
              <a:t>Missing red flags enables crime to continue.</a:t>
            </a:r>
          </a:p>
        </p:txBody>
      </p:sp>
      <p:sp>
        <p:nvSpPr>
          <p:cNvPr id="17" name="TextBox 16">
            <a:extLst>
              <a:ext uri="{FF2B5EF4-FFF2-40B4-BE49-F238E27FC236}">
                <a16:creationId xmlns:a16="http://schemas.microsoft.com/office/drawing/2014/main" id="{34EA20CF-2D50-16C7-00F6-7AEF15C97FD8}"/>
              </a:ext>
            </a:extLst>
          </p:cNvPr>
          <p:cNvSpPr txBox="1"/>
          <p:nvPr/>
        </p:nvSpPr>
        <p:spPr>
          <a:xfrm>
            <a:off x="4383087" y="5587868"/>
            <a:ext cx="3425817" cy="923330"/>
          </a:xfrm>
          <a:prstGeom prst="rect">
            <a:avLst/>
          </a:prstGeom>
          <a:noFill/>
        </p:spPr>
        <p:txBody>
          <a:bodyPr wrap="square">
            <a:spAutoFit/>
          </a:bodyPr>
          <a:lstStyle/>
          <a:p>
            <a:pPr fontAlgn="base"/>
            <a:r>
              <a:rPr lang="en-US" dirty="0"/>
              <a:t>Optimal approach - professional inquiry reveals truth.</a:t>
            </a:r>
          </a:p>
        </p:txBody>
      </p:sp>
      <p:sp>
        <p:nvSpPr>
          <p:cNvPr id="19" name="TextBox 18">
            <a:extLst>
              <a:ext uri="{FF2B5EF4-FFF2-40B4-BE49-F238E27FC236}">
                <a16:creationId xmlns:a16="http://schemas.microsoft.com/office/drawing/2014/main" id="{F1B66E7E-30BA-D2BF-36DA-1BF54AE90AD3}"/>
              </a:ext>
            </a:extLst>
          </p:cNvPr>
          <p:cNvSpPr txBox="1"/>
          <p:nvPr/>
        </p:nvSpPr>
        <p:spPr>
          <a:xfrm>
            <a:off x="8294688" y="5626772"/>
            <a:ext cx="3425817" cy="646331"/>
          </a:xfrm>
          <a:prstGeom prst="rect">
            <a:avLst/>
          </a:prstGeom>
          <a:noFill/>
        </p:spPr>
        <p:txBody>
          <a:bodyPr wrap="square">
            <a:spAutoFit/>
          </a:bodyPr>
          <a:lstStyle/>
          <a:p>
            <a:pPr fontAlgn="base"/>
            <a:r>
              <a:rPr lang="en-US" dirty="0"/>
              <a:t>Over-reaction damages customer relationships.</a:t>
            </a:r>
            <a:endParaRPr lang="en-IN" b="0" i="0" dirty="0">
              <a:effectLst/>
              <a:latin typeface="+mn-lt"/>
              <a:cs typeface="Arial" panose="020B0604020202020204" pitchFamily="34" charset="0"/>
            </a:endParaRPr>
          </a:p>
        </p:txBody>
      </p:sp>
    </p:spTree>
    <p:extLst>
      <p:ext uri="{BB962C8B-B14F-4D97-AF65-F5344CB8AC3E}">
        <p14:creationId xmlns:p14="http://schemas.microsoft.com/office/powerpoint/2010/main" val="28115470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0809D-D447-3788-B45C-9945DED0482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CEA4E36-4014-3EEC-E9DC-AC30D95F7B98}"/>
              </a:ext>
            </a:extLst>
          </p:cNvPr>
          <p:cNvSpPr/>
          <p:nvPr/>
        </p:nvSpPr>
        <p:spPr>
          <a:xfrm>
            <a:off x="628701" y="1946086"/>
            <a:ext cx="10583784" cy="4508214"/>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A3E673D-A711-8CF1-DA75-2424119A7623}"/>
              </a:ext>
            </a:extLst>
          </p:cNvPr>
          <p:cNvSpPr txBox="1"/>
          <p:nvPr/>
        </p:nvSpPr>
        <p:spPr>
          <a:xfrm>
            <a:off x="979514" y="1285804"/>
            <a:ext cx="10583783" cy="523220"/>
          </a:xfrm>
          <a:prstGeom prst="rect">
            <a:avLst/>
          </a:prstGeom>
          <a:noFill/>
        </p:spPr>
        <p:txBody>
          <a:bodyPr wrap="square">
            <a:spAutoFit/>
          </a:bodyPr>
          <a:lstStyle/>
          <a:p>
            <a:r>
              <a:rPr lang="en-US" sz="1400" i="1" dirty="0">
                <a:solidFill>
                  <a:schemeClr val="tx2">
                    <a:lumMod val="60000"/>
                    <a:lumOff val="40000"/>
                  </a:schemeClr>
                </a:solidFill>
              </a:rPr>
              <a:t>Select the tabs to know about red flags, decision-making principles, and investigations of money laundering cases.  .</a:t>
            </a:r>
            <a:endParaRPr lang="en-UG" sz="1400" i="1" dirty="0">
              <a:solidFill>
                <a:schemeClr val="tx2">
                  <a:lumMod val="60000"/>
                  <a:lumOff val="40000"/>
                </a:schemeClr>
              </a:solidFill>
            </a:endParaRPr>
          </a:p>
        </p:txBody>
      </p:sp>
      <p:sp>
        <p:nvSpPr>
          <p:cNvPr id="14" name="Text Placeholder 8">
            <a:extLst>
              <a:ext uri="{FF2B5EF4-FFF2-40B4-BE49-F238E27FC236}">
                <a16:creationId xmlns:a16="http://schemas.microsoft.com/office/drawing/2014/main" id="{5F3E50A7-7A26-A658-BAAE-8CAAE2C2B947}"/>
              </a:ext>
            </a:extLst>
          </p:cNvPr>
          <p:cNvSpPr txBox="1">
            <a:spLocks/>
          </p:cNvSpPr>
          <p:nvPr/>
        </p:nvSpPr>
        <p:spPr>
          <a:xfrm>
            <a:off x="1036042" y="650626"/>
            <a:ext cx="6479183" cy="507130"/>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solidFill>
                  <a:schemeClr val="accent2"/>
                </a:solidFill>
              </a:rPr>
              <a:t>Scenario Debrief &amp; Learning Reinforcement</a:t>
            </a:r>
          </a:p>
        </p:txBody>
      </p:sp>
      <p:sp>
        <p:nvSpPr>
          <p:cNvPr id="24" name="Rectangle 23">
            <a:extLst>
              <a:ext uri="{FF2B5EF4-FFF2-40B4-BE49-F238E27FC236}">
                <a16:creationId xmlns:a16="http://schemas.microsoft.com/office/drawing/2014/main" id="{2CEDA788-1E4F-EB21-576C-4CADB30D92B4}"/>
              </a:ext>
            </a:extLst>
          </p:cNvPr>
          <p:cNvSpPr/>
          <p:nvPr/>
        </p:nvSpPr>
        <p:spPr>
          <a:xfrm>
            <a:off x="4158579" y="1937071"/>
            <a:ext cx="3524028" cy="724587"/>
          </a:xfrm>
          <a:prstGeom prst="rect">
            <a:avLst/>
          </a:prstGeom>
          <a:solidFill>
            <a:srgbClr val="F5F5F5"/>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1CADE18-0C32-DE92-F58D-F17A27AE184E}"/>
              </a:ext>
            </a:extLst>
          </p:cNvPr>
          <p:cNvSpPr/>
          <p:nvPr/>
        </p:nvSpPr>
        <p:spPr>
          <a:xfrm>
            <a:off x="7691382" y="1937072"/>
            <a:ext cx="3524028" cy="724587"/>
          </a:xfrm>
          <a:prstGeom prst="rect">
            <a:avLst/>
          </a:prstGeom>
          <a:solidFill>
            <a:srgbClr val="F5F5F5"/>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8">
            <a:extLst>
              <a:ext uri="{FF2B5EF4-FFF2-40B4-BE49-F238E27FC236}">
                <a16:creationId xmlns:a16="http://schemas.microsoft.com/office/drawing/2014/main" id="{ED152901-0A77-541E-7430-421AD8301128}"/>
              </a:ext>
            </a:extLst>
          </p:cNvPr>
          <p:cNvSpPr txBox="1">
            <a:spLocks/>
          </p:cNvSpPr>
          <p:nvPr/>
        </p:nvSpPr>
        <p:spPr>
          <a:xfrm>
            <a:off x="8504011" y="2170394"/>
            <a:ext cx="1922587" cy="423862"/>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400" b="1" dirty="0">
                <a:latin typeface="+mj-lt"/>
                <a:cs typeface="Arial" panose="020B0604020202020204" pitchFamily="34" charset="0"/>
              </a:rPr>
              <a:t>Investigations</a:t>
            </a:r>
            <a:endParaRPr lang="en-US" sz="1400" b="1" dirty="0">
              <a:latin typeface="+mj-lt"/>
            </a:endParaRPr>
          </a:p>
        </p:txBody>
      </p:sp>
      <p:sp>
        <p:nvSpPr>
          <p:cNvPr id="11" name="Text Placeholder 8">
            <a:extLst>
              <a:ext uri="{FF2B5EF4-FFF2-40B4-BE49-F238E27FC236}">
                <a16:creationId xmlns:a16="http://schemas.microsoft.com/office/drawing/2014/main" id="{2C639409-A19B-AF37-85F4-5FD1D2475649}"/>
              </a:ext>
            </a:extLst>
          </p:cNvPr>
          <p:cNvSpPr txBox="1">
            <a:spLocks/>
          </p:cNvSpPr>
          <p:nvPr/>
        </p:nvSpPr>
        <p:spPr>
          <a:xfrm>
            <a:off x="4385926" y="2190235"/>
            <a:ext cx="3009953" cy="507004"/>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400" b="1" dirty="0">
                <a:latin typeface="+mj-lt"/>
                <a:cs typeface="Arial" panose="020B0604020202020204" pitchFamily="34" charset="0"/>
              </a:rPr>
              <a:t>Decision-Making Principle</a:t>
            </a:r>
            <a:endParaRPr lang="en-US" sz="1400" b="1" dirty="0">
              <a:latin typeface="+mj-lt"/>
            </a:endParaRPr>
          </a:p>
        </p:txBody>
      </p:sp>
      <p:sp>
        <p:nvSpPr>
          <p:cNvPr id="9" name="Text Placeholder 8">
            <a:extLst>
              <a:ext uri="{FF2B5EF4-FFF2-40B4-BE49-F238E27FC236}">
                <a16:creationId xmlns:a16="http://schemas.microsoft.com/office/drawing/2014/main" id="{8A78AACB-F346-CF9F-3CFD-3B4491B6AAE2}"/>
              </a:ext>
            </a:extLst>
          </p:cNvPr>
          <p:cNvSpPr txBox="1">
            <a:spLocks/>
          </p:cNvSpPr>
          <p:nvPr/>
        </p:nvSpPr>
        <p:spPr>
          <a:xfrm>
            <a:off x="1276161" y="2238850"/>
            <a:ext cx="1922587" cy="423862"/>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400" b="1" dirty="0">
                <a:latin typeface="+mj-lt"/>
                <a:cs typeface="Arial" panose="020B0604020202020204" pitchFamily="34" charset="0"/>
              </a:rPr>
              <a:t>Red Flags</a:t>
            </a:r>
            <a:endParaRPr lang="en-US" sz="1400" b="1" dirty="0">
              <a:latin typeface="+mj-lt"/>
            </a:endParaRPr>
          </a:p>
        </p:txBody>
      </p:sp>
      <p:sp>
        <p:nvSpPr>
          <p:cNvPr id="3" name="TextBox 2">
            <a:extLst>
              <a:ext uri="{FF2B5EF4-FFF2-40B4-BE49-F238E27FC236}">
                <a16:creationId xmlns:a16="http://schemas.microsoft.com/office/drawing/2014/main" id="{927AFE26-FB12-8367-DD14-011A9EC26D3C}"/>
              </a:ext>
            </a:extLst>
          </p:cNvPr>
          <p:cNvSpPr txBox="1"/>
          <p:nvPr/>
        </p:nvSpPr>
        <p:spPr>
          <a:xfrm>
            <a:off x="901934" y="3187616"/>
            <a:ext cx="9977938" cy="369332"/>
          </a:xfrm>
          <a:prstGeom prst="rect">
            <a:avLst/>
          </a:prstGeom>
          <a:noFill/>
        </p:spPr>
        <p:txBody>
          <a:bodyPr wrap="square">
            <a:spAutoFit/>
          </a:bodyPr>
          <a:lstStyle/>
          <a:p>
            <a:r>
              <a:rPr lang="en-US" dirty="0"/>
              <a:t>The following are the red flags in the scenario:</a:t>
            </a:r>
            <a:endParaRPr lang="en-UG" dirty="0"/>
          </a:p>
        </p:txBody>
      </p:sp>
      <p:sp>
        <p:nvSpPr>
          <p:cNvPr id="5" name="TextBox 4">
            <a:extLst>
              <a:ext uri="{FF2B5EF4-FFF2-40B4-BE49-F238E27FC236}">
                <a16:creationId xmlns:a16="http://schemas.microsoft.com/office/drawing/2014/main" id="{88977866-884C-EB2D-9401-3141CBCF2A56}"/>
              </a:ext>
            </a:extLst>
          </p:cNvPr>
          <p:cNvSpPr txBox="1"/>
          <p:nvPr/>
        </p:nvSpPr>
        <p:spPr>
          <a:xfrm>
            <a:off x="1479783" y="3852039"/>
            <a:ext cx="10083514" cy="369332"/>
          </a:xfrm>
          <a:prstGeom prst="rect">
            <a:avLst/>
          </a:prstGeom>
          <a:noFill/>
        </p:spPr>
        <p:txBody>
          <a:bodyPr wrap="square">
            <a:spAutoFit/>
          </a:bodyPr>
          <a:lstStyle/>
          <a:p>
            <a:r>
              <a:rPr lang="en-US" dirty="0"/>
              <a:t>Income-to-deposit mismatch ($52K salary vs. $45K cash deposit).</a:t>
            </a:r>
          </a:p>
        </p:txBody>
      </p:sp>
      <p:sp>
        <p:nvSpPr>
          <p:cNvPr id="6" name="Oval 5">
            <a:extLst>
              <a:ext uri="{FF2B5EF4-FFF2-40B4-BE49-F238E27FC236}">
                <a16:creationId xmlns:a16="http://schemas.microsoft.com/office/drawing/2014/main" id="{536E0F44-4BD1-0DFC-4FAC-3A2EAD9A7F32}"/>
              </a:ext>
            </a:extLst>
          </p:cNvPr>
          <p:cNvSpPr/>
          <p:nvPr/>
        </p:nvSpPr>
        <p:spPr>
          <a:xfrm>
            <a:off x="904426" y="3852039"/>
            <a:ext cx="369332" cy="369332"/>
          </a:xfrm>
          <a:prstGeom prst="ellipse">
            <a:avLst/>
          </a:prstGeom>
          <a:solidFill>
            <a:srgbClr val="01AF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endParaRPr lang="en-UG" dirty="0"/>
          </a:p>
        </p:txBody>
      </p:sp>
      <p:sp>
        <p:nvSpPr>
          <p:cNvPr id="7" name="Oval 6">
            <a:extLst>
              <a:ext uri="{FF2B5EF4-FFF2-40B4-BE49-F238E27FC236}">
                <a16:creationId xmlns:a16="http://schemas.microsoft.com/office/drawing/2014/main" id="{FED80A0D-11DE-9DFB-DA1C-1104176F48FE}"/>
              </a:ext>
            </a:extLst>
          </p:cNvPr>
          <p:cNvSpPr/>
          <p:nvPr/>
        </p:nvSpPr>
        <p:spPr>
          <a:xfrm>
            <a:off x="904426" y="4485538"/>
            <a:ext cx="369332" cy="369332"/>
          </a:xfrm>
          <a:prstGeom prst="ellipse">
            <a:avLst/>
          </a:prstGeom>
          <a:solidFill>
            <a:srgbClr val="01AF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endParaRPr lang="en-UG" dirty="0"/>
          </a:p>
        </p:txBody>
      </p:sp>
      <p:sp>
        <p:nvSpPr>
          <p:cNvPr id="8" name="Oval 7">
            <a:extLst>
              <a:ext uri="{FF2B5EF4-FFF2-40B4-BE49-F238E27FC236}">
                <a16:creationId xmlns:a16="http://schemas.microsoft.com/office/drawing/2014/main" id="{EC1F4728-24C0-B9B8-4150-D677A54CDF4C}"/>
              </a:ext>
            </a:extLst>
          </p:cNvPr>
          <p:cNvSpPr/>
          <p:nvPr/>
        </p:nvSpPr>
        <p:spPr>
          <a:xfrm>
            <a:off x="901934" y="5119037"/>
            <a:ext cx="369332" cy="369332"/>
          </a:xfrm>
          <a:prstGeom prst="ellipse">
            <a:avLst/>
          </a:prstGeom>
          <a:solidFill>
            <a:srgbClr val="01AF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endParaRPr lang="en-UG" dirty="0"/>
          </a:p>
        </p:txBody>
      </p:sp>
      <p:sp>
        <p:nvSpPr>
          <p:cNvPr id="12" name="TextBox 11">
            <a:extLst>
              <a:ext uri="{FF2B5EF4-FFF2-40B4-BE49-F238E27FC236}">
                <a16:creationId xmlns:a16="http://schemas.microsoft.com/office/drawing/2014/main" id="{F8FCDE80-CFEE-DB29-DD41-A8373F5656BB}"/>
              </a:ext>
            </a:extLst>
          </p:cNvPr>
          <p:cNvSpPr txBox="1"/>
          <p:nvPr/>
        </p:nvSpPr>
        <p:spPr>
          <a:xfrm>
            <a:off x="1474890" y="4534471"/>
            <a:ext cx="9593030" cy="369332"/>
          </a:xfrm>
          <a:prstGeom prst="rect">
            <a:avLst/>
          </a:prstGeom>
          <a:noFill/>
        </p:spPr>
        <p:txBody>
          <a:bodyPr wrap="square">
            <a:spAutoFit/>
          </a:bodyPr>
          <a:lstStyle/>
          <a:p>
            <a:r>
              <a:rPr lang="en-US" dirty="0"/>
              <a:t>Cash form (legitimate large sums usually transfer electronically).</a:t>
            </a:r>
          </a:p>
        </p:txBody>
      </p:sp>
      <p:sp>
        <p:nvSpPr>
          <p:cNvPr id="13" name="TextBox 12">
            <a:extLst>
              <a:ext uri="{FF2B5EF4-FFF2-40B4-BE49-F238E27FC236}">
                <a16:creationId xmlns:a16="http://schemas.microsoft.com/office/drawing/2014/main" id="{9915E087-CF27-5B25-ACCC-413EDF207179}"/>
              </a:ext>
            </a:extLst>
          </p:cNvPr>
          <p:cNvSpPr txBox="1"/>
          <p:nvPr/>
        </p:nvSpPr>
        <p:spPr>
          <a:xfrm>
            <a:off x="1479783" y="5119037"/>
            <a:ext cx="10083514" cy="369332"/>
          </a:xfrm>
          <a:prstGeom prst="rect">
            <a:avLst/>
          </a:prstGeom>
          <a:noFill/>
        </p:spPr>
        <p:txBody>
          <a:bodyPr wrap="square">
            <a:spAutoFit/>
          </a:bodyPr>
          <a:lstStyle/>
          <a:p>
            <a:r>
              <a:rPr lang="en-US" dirty="0"/>
              <a:t>Lack of volunteered explanation.</a:t>
            </a:r>
          </a:p>
        </p:txBody>
      </p:sp>
      <p:sp>
        <p:nvSpPr>
          <p:cNvPr id="25" name="Oval 24">
            <a:extLst>
              <a:ext uri="{FF2B5EF4-FFF2-40B4-BE49-F238E27FC236}">
                <a16:creationId xmlns:a16="http://schemas.microsoft.com/office/drawing/2014/main" id="{0A4A8BBA-65E8-894C-9542-C06705DD2ADC}"/>
              </a:ext>
            </a:extLst>
          </p:cNvPr>
          <p:cNvSpPr/>
          <p:nvPr/>
        </p:nvSpPr>
        <p:spPr>
          <a:xfrm>
            <a:off x="901934" y="5752536"/>
            <a:ext cx="369332" cy="369332"/>
          </a:xfrm>
          <a:prstGeom prst="ellipse">
            <a:avLst/>
          </a:prstGeom>
          <a:solidFill>
            <a:srgbClr val="01AF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endParaRPr lang="en-UG" dirty="0"/>
          </a:p>
        </p:txBody>
      </p:sp>
      <p:sp>
        <p:nvSpPr>
          <p:cNvPr id="26" name="TextBox 25">
            <a:extLst>
              <a:ext uri="{FF2B5EF4-FFF2-40B4-BE49-F238E27FC236}">
                <a16:creationId xmlns:a16="http://schemas.microsoft.com/office/drawing/2014/main" id="{ADF320AB-B300-B0C3-96A2-0CFFE9F53AEC}"/>
              </a:ext>
            </a:extLst>
          </p:cNvPr>
          <p:cNvSpPr txBox="1"/>
          <p:nvPr/>
        </p:nvSpPr>
        <p:spPr>
          <a:xfrm>
            <a:off x="1479783" y="5752536"/>
            <a:ext cx="10083514" cy="369332"/>
          </a:xfrm>
          <a:prstGeom prst="rect">
            <a:avLst/>
          </a:prstGeom>
          <a:noFill/>
        </p:spPr>
        <p:txBody>
          <a:bodyPr wrap="square">
            <a:spAutoFit/>
          </a:bodyPr>
          <a:lstStyle/>
          <a:p>
            <a:r>
              <a:rPr lang="en-US" dirty="0"/>
              <a:t>Overseas source (when revealed through questioning)</a:t>
            </a:r>
          </a:p>
        </p:txBody>
      </p:sp>
    </p:spTree>
    <p:extLst>
      <p:ext uri="{BB962C8B-B14F-4D97-AF65-F5344CB8AC3E}">
        <p14:creationId xmlns:p14="http://schemas.microsoft.com/office/powerpoint/2010/main" val="21142312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2CF4C-EE68-F8CF-94E7-E5A33C84B27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5E03E09-784B-3D70-604B-0D8E4AEB88A6}"/>
              </a:ext>
            </a:extLst>
          </p:cNvPr>
          <p:cNvSpPr/>
          <p:nvPr/>
        </p:nvSpPr>
        <p:spPr>
          <a:xfrm>
            <a:off x="628701" y="1946086"/>
            <a:ext cx="10583784" cy="4508214"/>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AD613B3-0AB9-7309-6325-C2A2305B2905}"/>
              </a:ext>
            </a:extLst>
          </p:cNvPr>
          <p:cNvSpPr txBox="1"/>
          <p:nvPr/>
        </p:nvSpPr>
        <p:spPr>
          <a:xfrm>
            <a:off x="979514" y="1285804"/>
            <a:ext cx="10583783" cy="523220"/>
          </a:xfrm>
          <a:prstGeom prst="rect">
            <a:avLst/>
          </a:prstGeom>
          <a:noFill/>
        </p:spPr>
        <p:txBody>
          <a:bodyPr wrap="square">
            <a:spAutoFit/>
          </a:bodyPr>
          <a:lstStyle/>
          <a:p>
            <a:r>
              <a:rPr lang="en-US" sz="1400" i="1" dirty="0">
                <a:solidFill>
                  <a:schemeClr val="tx2">
                    <a:lumMod val="60000"/>
                    <a:lumOff val="40000"/>
                  </a:schemeClr>
                </a:solidFill>
              </a:rPr>
              <a:t>Select the tabs to know about red flags, decision-making principles, and investigations of money laundering cases.  .</a:t>
            </a:r>
            <a:endParaRPr lang="en-UG" sz="1400" i="1" dirty="0">
              <a:solidFill>
                <a:schemeClr val="tx2">
                  <a:lumMod val="60000"/>
                  <a:lumOff val="40000"/>
                </a:schemeClr>
              </a:solidFill>
            </a:endParaRPr>
          </a:p>
        </p:txBody>
      </p:sp>
      <p:sp>
        <p:nvSpPr>
          <p:cNvPr id="14" name="Text Placeholder 8">
            <a:extLst>
              <a:ext uri="{FF2B5EF4-FFF2-40B4-BE49-F238E27FC236}">
                <a16:creationId xmlns:a16="http://schemas.microsoft.com/office/drawing/2014/main" id="{731FE1D9-BB48-BF59-92C9-A653F385A8EC}"/>
              </a:ext>
            </a:extLst>
          </p:cNvPr>
          <p:cNvSpPr txBox="1">
            <a:spLocks/>
          </p:cNvSpPr>
          <p:nvPr/>
        </p:nvSpPr>
        <p:spPr>
          <a:xfrm>
            <a:off x="1036042" y="650626"/>
            <a:ext cx="6479183" cy="507130"/>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solidFill>
                  <a:schemeClr val="accent2"/>
                </a:solidFill>
              </a:rPr>
              <a:t>Scenario Debrief &amp; Learning Reinforcement</a:t>
            </a:r>
          </a:p>
        </p:txBody>
      </p:sp>
      <p:sp>
        <p:nvSpPr>
          <p:cNvPr id="24" name="Rectangle 23">
            <a:extLst>
              <a:ext uri="{FF2B5EF4-FFF2-40B4-BE49-F238E27FC236}">
                <a16:creationId xmlns:a16="http://schemas.microsoft.com/office/drawing/2014/main" id="{36B1F802-CE31-8E2F-F786-E81319AD9578}"/>
              </a:ext>
            </a:extLst>
          </p:cNvPr>
          <p:cNvSpPr/>
          <p:nvPr/>
        </p:nvSpPr>
        <p:spPr>
          <a:xfrm>
            <a:off x="636014" y="1946086"/>
            <a:ext cx="3524028" cy="724587"/>
          </a:xfrm>
          <a:prstGeom prst="rect">
            <a:avLst/>
          </a:prstGeom>
          <a:solidFill>
            <a:srgbClr val="F5F5F5"/>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A2BCF949-FFA7-0797-8F2B-AB138F90EC60}"/>
              </a:ext>
            </a:extLst>
          </p:cNvPr>
          <p:cNvSpPr/>
          <p:nvPr/>
        </p:nvSpPr>
        <p:spPr>
          <a:xfrm>
            <a:off x="7691382" y="1937072"/>
            <a:ext cx="3524028" cy="724587"/>
          </a:xfrm>
          <a:prstGeom prst="rect">
            <a:avLst/>
          </a:prstGeom>
          <a:solidFill>
            <a:srgbClr val="F5F5F5"/>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8">
            <a:extLst>
              <a:ext uri="{FF2B5EF4-FFF2-40B4-BE49-F238E27FC236}">
                <a16:creationId xmlns:a16="http://schemas.microsoft.com/office/drawing/2014/main" id="{F897F406-6DB1-D8ED-A1C1-05B793F67922}"/>
              </a:ext>
            </a:extLst>
          </p:cNvPr>
          <p:cNvSpPr txBox="1">
            <a:spLocks/>
          </p:cNvSpPr>
          <p:nvPr/>
        </p:nvSpPr>
        <p:spPr>
          <a:xfrm>
            <a:off x="8504011" y="2170394"/>
            <a:ext cx="1922587" cy="423862"/>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400" b="1" dirty="0">
                <a:latin typeface="+mj-lt"/>
                <a:cs typeface="Arial" panose="020B0604020202020204" pitchFamily="34" charset="0"/>
              </a:rPr>
              <a:t>Investigations</a:t>
            </a:r>
            <a:endParaRPr lang="en-US" sz="1400" b="1" dirty="0">
              <a:latin typeface="+mj-lt"/>
            </a:endParaRPr>
          </a:p>
        </p:txBody>
      </p:sp>
      <p:sp>
        <p:nvSpPr>
          <p:cNvPr id="11" name="Text Placeholder 8">
            <a:extLst>
              <a:ext uri="{FF2B5EF4-FFF2-40B4-BE49-F238E27FC236}">
                <a16:creationId xmlns:a16="http://schemas.microsoft.com/office/drawing/2014/main" id="{70B0D98A-1B6C-F630-1AD9-D9AC723AFB36}"/>
              </a:ext>
            </a:extLst>
          </p:cNvPr>
          <p:cNvSpPr txBox="1">
            <a:spLocks/>
          </p:cNvSpPr>
          <p:nvPr/>
        </p:nvSpPr>
        <p:spPr>
          <a:xfrm>
            <a:off x="4385926" y="2190235"/>
            <a:ext cx="3009953" cy="507004"/>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400" b="1" dirty="0">
                <a:latin typeface="+mj-lt"/>
                <a:cs typeface="Arial" panose="020B0604020202020204" pitchFamily="34" charset="0"/>
              </a:rPr>
              <a:t>Decision-Making Principle</a:t>
            </a:r>
            <a:endParaRPr lang="en-US" sz="1400" b="1" dirty="0">
              <a:latin typeface="+mj-lt"/>
            </a:endParaRPr>
          </a:p>
        </p:txBody>
      </p:sp>
      <p:sp>
        <p:nvSpPr>
          <p:cNvPr id="9" name="Text Placeholder 8">
            <a:extLst>
              <a:ext uri="{FF2B5EF4-FFF2-40B4-BE49-F238E27FC236}">
                <a16:creationId xmlns:a16="http://schemas.microsoft.com/office/drawing/2014/main" id="{AACBEFDB-C0CE-602A-0A36-2249D903AB45}"/>
              </a:ext>
            </a:extLst>
          </p:cNvPr>
          <p:cNvSpPr txBox="1">
            <a:spLocks/>
          </p:cNvSpPr>
          <p:nvPr/>
        </p:nvSpPr>
        <p:spPr>
          <a:xfrm>
            <a:off x="1276161" y="2238850"/>
            <a:ext cx="1922587" cy="423862"/>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400" b="1" dirty="0">
                <a:latin typeface="+mj-lt"/>
                <a:cs typeface="Arial" panose="020B0604020202020204" pitchFamily="34" charset="0"/>
              </a:rPr>
              <a:t>Red Flags</a:t>
            </a:r>
            <a:endParaRPr lang="en-US" sz="1400" b="1" dirty="0">
              <a:latin typeface="+mj-lt"/>
            </a:endParaRPr>
          </a:p>
        </p:txBody>
      </p:sp>
      <p:sp>
        <p:nvSpPr>
          <p:cNvPr id="3" name="TextBox 2">
            <a:extLst>
              <a:ext uri="{FF2B5EF4-FFF2-40B4-BE49-F238E27FC236}">
                <a16:creationId xmlns:a16="http://schemas.microsoft.com/office/drawing/2014/main" id="{E1F44101-9F85-C64E-8BED-14045B731AC3}"/>
              </a:ext>
            </a:extLst>
          </p:cNvPr>
          <p:cNvSpPr txBox="1"/>
          <p:nvPr/>
        </p:nvSpPr>
        <p:spPr>
          <a:xfrm>
            <a:off x="901934" y="3187616"/>
            <a:ext cx="9977938" cy="369332"/>
          </a:xfrm>
          <a:prstGeom prst="rect">
            <a:avLst/>
          </a:prstGeom>
          <a:noFill/>
        </p:spPr>
        <p:txBody>
          <a:bodyPr wrap="square">
            <a:spAutoFit/>
          </a:bodyPr>
          <a:lstStyle/>
          <a:p>
            <a:r>
              <a:rPr lang="en-US" dirty="0"/>
              <a:t>The following are the decision-making principles from the scenario:</a:t>
            </a:r>
            <a:endParaRPr lang="en-UG" dirty="0"/>
          </a:p>
        </p:txBody>
      </p:sp>
      <p:sp>
        <p:nvSpPr>
          <p:cNvPr id="5" name="TextBox 4">
            <a:extLst>
              <a:ext uri="{FF2B5EF4-FFF2-40B4-BE49-F238E27FC236}">
                <a16:creationId xmlns:a16="http://schemas.microsoft.com/office/drawing/2014/main" id="{49859071-4EF7-A63B-B198-01CC500010CE}"/>
              </a:ext>
            </a:extLst>
          </p:cNvPr>
          <p:cNvSpPr txBox="1"/>
          <p:nvPr/>
        </p:nvSpPr>
        <p:spPr>
          <a:xfrm>
            <a:off x="1479783" y="3774145"/>
            <a:ext cx="10083514" cy="646331"/>
          </a:xfrm>
          <a:prstGeom prst="rect">
            <a:avLst/>
          </a:prstGeom>
          <a:noFill/>
        </p:spPr>
        <p:txBody>
          <a:bodyPr wrap="square">
            <a:spAutoFit/>
          </a:bodyPr>
          <a:lstStyle/>
          <a:p>
            <a:r>
              <a:rPr lang="en-US" b="1" dirty="0"/>
              <a:t>Familiarity ≠ Trust</a:t>
            </a:r>
            <a:r>
              <a:rPr lang="en-US" dirty="0"/>
              <a:t> — Long-time customers can be coerced, compromised, or complicit</a:t>
            </a:r>
          </a:p>
        </p:txBody>
      </p:sp>
      <p:sp>
        <p:nvSpPr>
          <p:cNvPr id="6" name="Oval 5">
            <a:extLst>
              <a:ext uri="{FF2B5EF4-FFF2-40B4-BE49-F238E27FC236}">
                <a16:creationId xmlns:a16="http://schemas.microsoft.com/office/drawing/2014/main" id="{75DA5800-CAB3-F4F5-CFA7-AF309BC98350}"/>
              </a:ext>
            </a:extLst>
          </p:cNvPr>
          <p:cNvSpPr/>
          <p:nvPr/>
        </p:nvSpPr>
        <p:spPr>
          <a:xfrm>
            <a:off x="904426" y="3852039"/>
            <a:ext cx="369332" cy="369332"/>
          </a:xfrm>
          <a:prstGeom prst="ellipse">
            <a:avLst/>
          </a:prstGeom>
          <a:solidFill>
            <a:srgbClr val="01AF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endParaRPr lang="en-UG" dirty="0"/>
          </a:p>
        </p:txBody>
      </p:sp>
      <p:sp>
        <p:nvSpPr>
          <p:cNvPr id="7" name="Oval 6">
            <a:extLst>
              <a:ext uri="{FF2B5EF4-FFF2-40B4-BE49-F238E27FC236}">
                <a16:creationId xmlns:a16="http://schemas.microsoft.com/office/drawing/2014/main" id="{B83B41DC-D3D6-5724-C9A6-73D45CC90C4B}"/>
              </a:ext>
            </a:extLst>
          </p:cNvPr>
          <p:cNvSpPr/>
          <p:nvPr/>
        </p:nvSpPr>
        <p:spPr>
          <a:xfrm>
            <a:off x="904426" y="4485538"/>
            <a:ext cx="369332" cy="369332"/>
          </a:xfrm>
          <a:prstGeom prst="ellipse">
            <a:avLst/>
          </a:prstGeom>
          <a:solidFill>
            <a:srgbClr val="01AF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endParaRPr lang="en-UG" dirty="0"/>
          </a:p>
        </p:txBody>
      </p:sp>
      <p:sp>
        <p:nvSpPr>
          <p:cNvPr id="8" name="Oval 7">
            <a:extLst>
              <a:ext uri="{FF2B5EF4-FFF2-40B4-BE49-F238E27FC236}">
                <a16:creationId xmlns:a16="http://schemas.microsoft.com/office/drawing/2014/main" id="{96451757-CD4B-E9A8-4CD1-C4974CFC641B}"/>
              </a:ext>
            </a:extLst>
          </p:cNvPr>
          <p:cNvSpPr/>
          <p:nvPr/>
        </p:nvSpPr>
        <p:spPr>
          <a:xfrm>
            <a:off x="901934" y="5119037"/>
            <a:ext cx="369332" cy="369332"/>
          </a:xfrm>
          <a:prstGeom prst="ellipse">
            <a:avLst/>
          </a:prstGeom>
          <a:solidFill>
            <a:srgbClr val="01AF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endParaRPr lang="en-UG" dirty="0"/>
          </a:p>
        </p:txBody>
      </p:sp>
      <p:sp>
        <p:nvSpPr>
          <p:cNvPr id="12" name="TextBox 11">
            <a:extLst>
              <a:ext uri="{FF2B5EF4-FFF2-40B4-BE49-F238E27FC236}">
                <a16:creationId xmlns:a16="http://schemas.microsoft.com/office/drawing/2014/main" id="{B7B8BD3B-E97B-AB85-6137-7F13EB07C889}"/>
              </a:ext>
            </a:extLst>
          </p:cNvPr>
          <p:cNvSpPr txBox="1"/>
          <p:nvPr/>
        </p:nvSpPr>
        <p:spPr>
          <a:xfrm>
            <a:off x="1479783" y="4428753"/>
            <a:ext cx="9593030" cy="646331"/>
          </a:xfrm>
          <a:prstGeom prst="rect">
            <a:avLst/>
          </a:prstGeom>
          <a:noFill/>
        </p:spPr>
        <p:txBody>
          <a:bodyPr wrap="square">
            <a:spAutoFit/>
          </a:bodyPr>
          <a:lstStyle/>
          <a:p>
            <a:r>
              <a:rPr lang="en-US" b="1" dirty="0"/>
              <a:t>Questions &gt; Assumptions</a:t>
            </a:r>
            <a:r>
              <a:rPr lang="en-US" dirty="0"/>
              <a:t> — Professional inquiry reveals truth faster than suspicion</a:t>
            </a:r>
          </a:p>
        </p:txBody>
      </p:sp>
      <p:sp>
        <p:nvSpPr>
          <p:cNvPr id="13" name="TextBox 12">
            <a:extLst>
              <a:ext uri="{FF2B5EF4-FFF2-40B4-BE49-F238E27FC236}">
                <a16:creationId xmlns:a16="http://schemas.microsoft.com/office/drawing/2014/main" id="{1447C7CF-B51D-ABCD-0167-C2BCF5B370DF}"/>
              </a:ext>
            </a:extLst>
          </p:cNvPr>
          <p:cNvSpPr txBox="1"/>
          <p:nvPr/>
        </p:nvSpPr>
        <p:spPr>
          <a:xfrm>
            <a:off x="1479783" y="5119037"/>
            <a:ext cx="10083514" cy="369332"/>
          </a:xfrm>
          <a:prstGeom prst="rect">
            <a:avLst/>
          </a:prstGeom>
          <a:noFill/>
        </p:spPr>
        <p:txBody>
          <a:bodyPr wrap="square">
            <a:spAutoFit/>
          </a:bodyPr>
          <a:lstStyle/>
          <a:p>
            <a:r>
              <a:rPr lang="en-US" b="1" dirty="0"/>
              <a:t>Delay &gt; Deny</a:t>
            </a:r>
            <a:r>
              <a:rPr lang="en-US" dirty="0"/>
              <a:t> — Buying time to assess doesn't tip off subjects</a:t>
            </a:r>
          </a:p>
        </p:txBody>
      </p:sp>
      <p:sp>
        <p:nvSpPr>
          <p:cNvPr id="25" name="Oval 24">
            <a:extLst>
              <a:ext uri="{FF2B5EF4-FFF2-40B4-BE49-F238E27FC236}">
                <a16:creationId xmlns:a16="http://schemas.microsoft.com/office/drawing/2014/main" id="{BBC97A0C-007A-CA43-625E-4B009C92734B}"/>
              </a:ext>
            </a:extLst>
          </p:cNvPr>
          <p:cNvSpPr/>
          <p:nvPr/>
        </p:nvSpPr>
        <p:spPr>
          <a:xfrm>
            <a:off x="901934" y="5752536"/>
            <a:ext cx="369332" cy="369332"/>
          </a:xfrm>
          <a:prstGeom prst="ellipse">
            <a:avLst/>
          </a:prstGeom>
          <a:solidFill>
            <a:srgbClr val="01AF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endParaRPr lang="en-UG" dirty="0"/>
          </a:p>
        </p:txBody>
      </p:sp>
      <p:sp>
        <p:nvSpPr>
          <p:cNvPr id="26" name="TextBox 25">
            <a:extLst>
              <a:ext uri="{FF2B5EF4-FFF2-40B4-BE49-F238E27FC236}">
                <a16:creationId xmlns:a16="http://schemas.microsoft.com/office/drawing/2014/main" id="{B9C0D3AB-2DB2-1A7B-6B74-B0DB18C90648}"/>
              </a:ext>
            </a:extLst>
          </p:cNvPr>
          <p:cNvSpPr txBox="1"/>
          <p:nvPr/>
        </p:nvSpPr>
        <p:spPr>
          <a:xfrm>
            <a:off x="1479783" y="5656900"/>
            <a:ext cx="10083514" cy="646331"/>
          </a:xfrm>
          <a:prstGeom prst="rect">
            <a:avLst/>
          </a:prstGeom>
          <a:noFill/>
        </p:spPr>
        <p:txBody>
          <a:bodyPr wrap="square">
            <a:spAutoFit/>
          </a:bodyPr>
          <a:lstStyle/>
          <a:p>
            <a:r>
              <a:rPr lang="en-US" b="1" dirty="0"/>
              <a:t>Document Everything</a:t>
            </a:r>
            <a:r>
              <a:rPr lang="en-US" dirty="0"/>
              <a:t> — Your observations are evidence, even if nothing comes of them</a:t>
            </a:r>
          </a:p>
        </p:txBody>
      </p:sp>
    </p:spTree>
    <p:extLst>
      <p:ext uri="{BB962C8B-B14F-4D97-AF65-F5344CB8AC3E}">
        <p14:creationId xmlns:p14="http://schemas.microsoft.com/office/powerpoint/2010/main" val="36941915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B2552-07F5-3728-42B0-698C13C4D88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542C13F-9F55-7D4C-8B61-6F01A630F715}"/>
              </a:ext>
            </a:extLst>
          </p:cNvPr>
          <p:cNvSpPr/>
          <p:nvPr/>
        </p:nvSpPr>
        <p:spPr>
          <a:xfrm>
            <a:off x="628701" y="1946086"/>
            <a:ext cx="10583784" cy="4508214"/>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94838D0-EB5C-2158-8E89-A78843E287C0}"/>
              </a:ext>
            </a:extLst>
          </p:cNvPr>
          <p:cNvSpPr txBox="1"/>
          <p:nvPr/>
        </p:nvSpPr>
        <p:spPr>
          <a:xfrm>
            <a:off x="979514" y="1285804"/>
            <a:ext cx="10583783" cy="523220"/>
          </a:xfrm>
          <a:prstGeom prst="rect">
            <a:avLst/>
          </a:prstGeom>
          <a:noFill/>
        </p:spPr>
        <p:txBody>
          <a:bodyPr wrap="square">
            <a:spAutoFit/>
          </a:bodyPr>
          <a:lstStyle/>
          <a:p>
            <a:r>
              <a:rPr lang="en-US" sz="1400" i="1" dirty="0">
                <a:solidFill>
                  <a:schemeClr val="tx2">
                    <a:lumMod val="60000"/>
                    <a:lumOff val="40000"/>
                  </a:schemeClr>
                </a:solidFill>
              </a:rPr>
              <a:t>Select the tabs to know about red flags, decision-making principles, and investigations of money laundering cases.  .</a:t>
            </a:r>
            <a:endParaRPr lang="en-UG" sz="1400" i="1" dirty="0">
              <a:solidFill>
                <a:schemeClr val="tx2">
                  <a:lumMod val="60000"/>
                  <a:lumOff val="40000"/>
                </a:schemeClr>
              </a:solidFill>
            </a:endParaRPr>
          </a:p>
        </p:txBody>
      </p:sp>
      <p:sp>
        <p:nvSpPr>
          <p:cNvPr id="14" name="Text Placeholder 8">
            <a:extLst>
              <a:ext uri="{FF2B5EF4-FFF2-40B4-BE49-F238E27FC236}">
                <a16:creationId xmlns:a16="http://schemas.microsoft.com/office/drawing/2014/main" id="{37503E85-D3AF-1318-7B86-A9632B9DD10A}"/>
              </a:ext>
            </a:extLst>
          </p:cNvPr>
          <p:cNvSpPr txBox="1">
            <a:spLocks/>
          </p:cNvSpPr>
          <p:nvPr/>
        </p:nvSpPr>
        <p:spPr>
          <a:xfrm>
            <a:off x="1036042" y="650626"/>
            <a:ext cx="6479183" cy="507130"/>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solidFill>
                  <a:schemeClr val="accent2"/>
                </a:solidFill>
              </a:rPr>
              <a:t>Scenario Debrief &amp; Learning Reinforcement</a:t>
            </a:r>
          </a:p>
        </p:txBody>
      </p:sp>
      <p:sp>
        <p:nvSpPr>
          <p:cNvPr id="24" name="Rectangle 23">
            <a:extLst>
              <a:ext uri="{FF2B5EF4-FFF2-40B4-BE49-F238E27FC236}">
                <a16:creationId xmlns:a16="http://schemas.microsoft.com/office/drawing/2014/main" id="{FB4EAF8D-47BD-32F3-BF10-1A3E3D027551}"/>
              </a:ext>
            </a:extLst>
          </p:cNvPr>
          <p:cNvSpPr/>
          <p:nvPr/>
        </p:nvSpPr>
        <p:spPr>
          <a:xfrm>
            <a:off x="636014" y="1946086"/>
            <a:ext cx="3524028" cy="724587"/>
          </a:xfrm>
          <a:prstGeom prst="rect">
            <a:avLst/>
          </a:prstGeom>
          <a:solidFill>
            <a:srgbClr val="F5F5F5"/>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6BE96A8A-7A53-4EBB-D667-A6F204AAC876}"/>
              </a:ext>
            </a:extLst>
          </p:cNvPr>
          <p:cNvSpPr/>
          <p:nvPr/>
        </p:nvSpPr>
        <p:spPr>
          <a:xfrm>
            <a:off x="4151232" y="1937072"/>
            <a:ext cx="3524028" cy="724587"/>
          </a:xfrm>
          <a:prstGeom prst="rect">
            <a:avLst/>
          </a:prstGeom>
          <a:solidFill>
            <a:srgbClr val="F5F5F5"/>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8">
            <a:extLst>
              <a:ext uri="{FF2B5EF4-FFF2-40B4-BE49-F238E27FC236}">
                <a16:creationId xmlns:a16="http://schemas.microsoft.com/office/drawing/2014/main" id="{C2376796-EB44-81B7-74C2-8BAF877C69EF}"/>
              </a:ext>
            </a:extLst>
          </p:cNvPr>
          <p:cNvSpPr txBox="1">
            <a:spLocks/>
          </p:cNvSpPr>
          <p:nvPr/>
        </p:nvSpPr>
        <p:spPr>
          <a:xfrm>
            <a:off x="8504011" y="2170394"/>
            <a:ext cx="1922587" cy="423862"/>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400" b="1" dirty="0">
                <a:latin typeface="+mj-lt"/>
                <a:cs typeface="Arial" panose="020B0604020202020204" pitchFamily="34" charset="0"/>
              </a:rPr>
              <a:t>Investigations</a:t>
            </a:r>
            <a:endParaRPr lang="en-US" sz="1400" b="1" dirty="0">
              <a:latin typeface="+mj-lt"/>
            </a:endParaRPr>
          </a:p>
        </p:txBody>
      </p:sp>
      <p:sp>
        <p:nvSpPr>
          <p:cNvPr id="11" name="Text Placeholder 8">
            <a:extLst>
              <a:ext uri="{FF2B5EF4-FFF2-40B4-BE49-F238E27FC236}">
                <a16:creationId xmlns:a16="http://schemas.microsoft.com/office/drawing/2014/main" id="{500E2EDE-2088-378D-6F7F-3218F9F4DB3D}"/>
              </a:ext>
            </a:extLst>
          </p:cNvPr>
          <p:cNvSpPr txBox="1">
            <a:spLocks/>
          </p:cNvSpPr>
          <p:nvPr/>
        </p:nvSpPr>
        <p:spPr>
          <a:xfrm>
            <a:off x="4385926" y="2190235"/>
            <a:ext cx="3009953" cy="507004"/>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400" b="1" dirty="0">
                <a:latin typeface="+mj-lt"/>
                <a:cs typeface="Arial" panose="020B0604020202020204" pitchFamily="34" charset="0"/>
              </a:rPr>
              <a:t>Decision-Making Principle</a:t>
            </a:r>
            <a:endParaRPr lang="en-US" sz="1400" b="1" dirty="0">
              <a:latin typeface="+mj-lt"/>
            </a:endParaRPr>
          </a:p>
        </p:txBody>
      </p:sp>
      <p:sp>
        <p:nvSpPr>
          <p:cNvPr id="9" name="Text Placeholder 8">
            <a:extLst>
              <a:ext uri="{FF2B5EF4-FFF2-40B4-BE49-F238E27FC236}">
                <a16:creationId xmlns:a16="http://schemas.microsoft.com/office/drawing/2014/main" id="{EF5CE36A-8D81-AADC-18EC-16EA858341B7}"/>
              </a:ext>
            </a:extLst>
          </p:cNvPr>
          <p:cNvSpPr txBox="1">
            <a:spLocks/>
          </p:cNvSpPr>
          <p:nvPr/>
        </p:nvSpPr>
        <p:spPr>
          <a:xfrm>
            <a:off x="1276161" y="2238850"/>
            <a:ext cx="1922587" cy="423862"/>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400" b="1" dirty="0">
                <a:latin typeface="+mj-lt"/>
                <a:cs typeface="Arial" panose="020B0604020202020204" pitchFamily="34" charset="0"/>
              </a:rPr>
              <a:t>Red Flags</a:t>
            </a:r>
            <a:endParaRPr lang="en-US" sz="1400" b="1" dirty="0">
              <a:latin typeface="+mj-lt"/>
            </a:endParaRPr>
          </a:p>
        </p:txBody>
      </p:sp>
      <p:sp>
        <p:nvSpPr>
          <p:cNvPr id="3" name="TextBox 2">
            <a:extLst>
              <a:ext uri="{FF2B5EF4-FFF2-40B4-BE49-F238E27FC236}">
                <a16:creationId xmlns:a16="http://schemas.microsoft.com/office/drawing/2014/main" id="{61C9CE02-97E4-44D3-17DC-D83ECCB6DB5C}"/>
              </a:ext>
            </a:extLst>
          </p:cNvPr>
          <p:cNvSpPr txBox="1"/>
          <p:nvPr/>
        </p:nvSpPr>
        <p:spPr>
          <a:xfrm>
            <a:off x="901934" y="3187616"/>
            <a:ext cx="9977938" cy="369332"/>
          </a:xfrm>
          <a:prstGeom prst="rect">
            <a:avLst/>
          </a:prstGeom>
          <a:noFill/>
        </p:spPr>
        <p:txBody>
          <a:bodyPr wrap="square">
            <a:spAutoFit/>
          </a:bodyPr>
          <a:lstStyle/>
          <a:p>
            <a:r>
              <a:rPr lang="en-US" dirty="0"/>
              <a:t>In investigations of laundering cases:</a:t>
            </a:r>
            <a:endParaRPr lang="en-UG" dirty="0"/>
          </a:p>
        </p:txBody>
      </p:sp>
      <p:sp>
        <p:nvSpPr>
          <p:cNvPr id="5" name="TextBox 4">
            <a:extLst>
              <a:ext uri="{FF2B5EF4-FFF2-40B4-BE49-F238E27FC236}">
                <a16:creationId xmlns:a16="http://schemas.microsoft.com/office/drawing/2014/main" id="{F43AB57D-AB54-4940-EC13-60A068C01620}"/>
              </a:ext>
            </a:extLst>
          </p:cNvPr>
          <p:cNvSpPr txBox="1"/>
          <p:nvPr/>
        </p:nvSpPr>
        <p:spPr>
          <a:xfrm>
            <a:off x="1479783" y="3903189"/>
            <a:ext cx="10083514" cy="369332"/>
          </a:xfrm>
          <a:prstGeom prst="rect">
            <a:avLst/>
          </a:prstGeom>
          <a:noFill/>
        </p:spPr>
        <p:txBody>
          <a:bodyPr wrap="square">
            <a:spAutoFit/>
          </a:bodyPr>
          <a:lstStyle/>
          <a:p>
            <a:r>
              <a:rPr lang="en-US" dirty="0"/>
              <a:t>68% of perpetrators used established accounts</a:t>
            </a:r>
          </a:p>
        </p:txBody>
      </p:sp>
      <p:sp>
        <p:nvSpPr>
          <p:cNvPr id="6" name="Oval 5">
            <a:extLst>
              <a:ext uri="{FF2B5EF4-FFF2-40B4-BE49-F238E27FC236}">
                <a16:creationId xmlns:a16="http://schemas.microsoft.com/office/drawing/2014/main" id="{A271D24D-0A76-3F8B-6409-12EE37637669}"/>
              </a:ext>
            </a:extLst>
          </p:cNvPr>
          <p:cNvSpPr/>
          <p:nvPr/>
        </p:nvSpPr>
        <p:spPr>
          <a:xfrm>
            <a:off x="904426" y="3852039"/>
            <a:ext cx="369332" cy="369332"/>
          </a:xfrm>
          <a:prstGeom prst="ellipse">
            <a:avLst/>
          </a:prstGeom>
          <a:solidFill>
            <a:srgbClr val="01AF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endParaRPr lang="en-UG" dirty="0"/>
          </a:p>
        </p:txBody>
      </p:sp>
      <p:sp>
        <p:nvSpPr>
          <p:cNvPr id="7" name="Oval 6">
            <a:extLst>
              <a:ext uri="{FF2B5EF4-FFF2-40B4-BE49-F238E27FC236}">
                <a16:creationId xmlns:a16="http://schemas.microsoft.com/office/drawing/2014/main" id="{E85909F0-BB51-FEAA-486F-71DFDFC3C9D0}"/>
              </a:ext>
            </a:extLst>
          </p:cNvPr>
          <p:cNvSpPr/>
          <p:nvPr/>
        </p:nvSpPr>
        <p:spPr>
          <a:xfrm>
            <a:off x="904426" y="4485538"/>
            <a:ext cx="369332" cy="369332"/>
          </a:xfrm>
          <a:prstGeom prst="ellipse">
            <a:avLst/>
          </a:prstGeom>
          <a:solidFill>
            <a:srgbClr val="01AF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endParaRPr lang="en-UG" dirty="0"/>
          </a:p>
        </p:txBody>
      </p:sp>
      <p:sp>
        <p:nvSpPr>
          <p:cNvPr id="8" name="Oval 7">
            <a:extLst>
              <a:ext uri="{FF2B5EF4-FFF2-40B4-BE49-F238E27FC236}">
                <a16:creationId xmlns:a16="http://schemas.microsoft.com/office/drawing/2014/main" id="{4EB2A0DF-2C98-85CA-BC17-901B709027D0}"/>
              </a:ext>
            </a:extLst>
          </p:cNvPr>
          <p:cNvSpPr/>
          <p:nvPr/>
        </p:nvSpPr>
        <p:spPr>
          <a:xfrm>
            <a:off x="901934" y="5119037"/>
            <a:ext cx="369332" cy="369332"/>
          </a:xfrm>
          <a:prstGeom prst="ellipse">
            <a:avLst/>
          </a:prstGeom>
          <a:solidFill>
            <a:srgbClr val="01AF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endParaRPr lang="en-UG" dirty="0"/>
          </a:p>
        </p:txBody>
      </p:sp>
      <p:sp>
        <p:nvSpPr>
          <p:cNvPr id="12" name="TextBox 11">
            <a:extLst>
              <a:ext uri="{FF2B5EF4-FFF2-40B4-BE49-F238E27FC236}">
                <a16:creationId xmlns:a16="http://schemas.microsoft.com/office/drawing/2014/main" id="{53D3A930-E3BD-057C-03B4-FF9A8B57CAF9}"/>
              </a:ext>
            </a:extLst>
          </p:cNvPr>
          <p:cNvSpPr txBox="1"/>
          <p:nvPr/>
        </p:nvSpPr>
        <p:spPr>
          <a:xfrm>
            <a:off x="1479783" y="4511991"/>
            <a:ext cx="9593030" cy="369332"/>
          </a:xfrm>
          <a:prstGeom prst="rect">
            <a:avLst/>
          </a:prstGeom>
          <a:noFill/>
        </p:spPr>
        <p:txBody>
          <a:bodyPr wrap="square">
            <a:spAutoFit/>
          </a:bodyPr>
          <a:lstStyle/>
          <a:p>
            <a:r>
              <a:rPr lang="en-US" dirty="0"/>
              <a:t>43% used seemingly legitimate "money mules"</a:t>
            </a:r>
          </a:p>
        </p:txBody>
      </p:sp>
      <p:sp>
        <p:nvSpPr>
          <p:cNvPr id="13" name="TextBox 12">
            <a:extLst>
              <a:ext uri="{FF2B5EF4-FFF2-40B4-BE49-F238E27FC236}">
                <a16:creationId xmlns:a16="http://schemas.microsoft.com/office/drawing/2014/main" id="{54330485-7F5F-C767-C0FF-DEFD50466A5C}"/>
              </a:ext>
            </a:extLst>
          </p:cNvPr>
          <p:cNvSpPr txBox="1"/>
          <p:nvPr/>
        </p:nvSpPr>
        <p:spPr>
          <a:xfrm>
            <a:off x="1479783" y="5119037"/>
            <a:ext cx="10083514" cy="369332"/>
          </a:xfrm>
          <a:prstGeom prst="rect">
            <a:avLst/>
          </a:prstGeom>
          <a:noFill/>
        </p:spPr>
        <p:txBody>
          <a:bodyPr wrap="square">
            <a:spAutoFit/>
          </a:bodyPr>
          <a:lstStyle/>
          <a:p>
            <a:r>
              <a:rPr lang="en-US" dirty="0"/>
              <a:t>Average time from first red flag to discovery: 8 months</a:t>
            </a:r>
          </a:p>
        </p:txBody>
      </p:sp>
      <p:sp>
        <p:nvSpPr>
          <p:cNvPr id="15" name="TextBox 14">
            <a:extLst>
              <a:ext uri="{FF2B5EF4-FFF2-40B4-BE49-F238E27FC236}">
                <a16:creationId xmlns:a16="http://schemas.microsoft.com/office/drawing/2014/main" id="{C9CC7DA5-0E26-0D5E-E5D8-75D2E5B8437B}"/>
              </a:ext>
            </a:extLst>
          </p:cNvPr>
          <p:cNvSpPr txBox="1"/>
          <p:nvPr/>
        </p:nvSpPr>
        <p:spPr>
          <a:xfrm>
            <a:off x="901934" y="5701386"/>
            <a:ext cx="6093618" cy="369332"/>
          </a:xfrm>
          <a:prstGeom prst="rect">
            <a:avLst/>
          </a:prstGeom>
          <a:noFill/>
        </p:spPr>
        <p:txBody>
          <a:bodyPr wrap="square">
            <a:spAutoFit/>
          </a:bodyPr>
          <a:lstStyle/>
          <a:p>
            <a:r>
              <a:rPr lang="en-US" b="1" i="0" dirty="0">
                <a:effectLst/>
                <a:latin typeface="+mj-lt"/>
              </a:rPr>
              <a:t>Your vigilance collapses that timeline.</a:t>
            </a:r>
            <a:endParaRPr lang="en-UG" b="1" dirty="0">
              <a:latin typeface="+mj-lt"/>
            </a:endParaRPr>
          </a:p>
        </p:txBody>
      </p:sp>
    </p:spTree>
    <p:extLst>
      <p:ext uri="{BB962C8B-B14F-4D97-AF65-F5344CB8AC3E}">
        <p14:creationId xmlns:p14="http://schemas.microsoft.com/office/powerpoint/2010/main" val="32889652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66599-6528-D8DA-4BCE-6C55037D304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65F16C5-FF83-76DB-E9F0-E1EE7A3B2827}"/>
              </a:ext>
            </a:extLst>
          </p:cNvPr>
          <p:cNvSpPr/>
          <p:nvPr/>
        </p:nvSpPr>
        <p:spPr>
          <a:xfrm>
            <a:off x="1200150" y="2085975"/>
            <a:ext cx="9515475" cy="2057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G"/>
          </a:p>
        </p:txBody>
      </p:sp>
      <p:sp>
        <p:nvSpPr>
          <p:cNvPr id="6" name="Text Placeholder 8">
            <a:extLst>
              <a:ext uri="{FF2B5EF4-FFF2-40B4-BE49-F238E27FC236}">
                <a16:creationId xmlns:a16="http://schemas.microsoft.com/office/drawing/2014/main" id="{A9109D52-D039-9C6E-60E7-48B3107F5D30}"/>
              </a:ext>
            </a:extLst>
          </p:cNvPr>
          <p:cNvSpPr txBox="1">
            <a:spLocks/>
          </p:cNvSpPr>
          <p:nvPr/>
        </p:nvSpPr>
        <p:spPr>
          <a:xfrm>
            <a:off x="1036042" y="650626"/>
            <a:ext cx="5536208" cy="369332"/>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solidFill>
                  <a:schemeClr val="accent2"/>
                </a:solidFill>
              </a:rPr>
              <a:t>Reflection Question</a:t>
            </a:r>
          </a:p>
        </p:txBody>
      </p:sp>
      <p:sp>
        <p:nvSpPr>
          <p:cNvPr id="8" name="TextBox 7">
            <a:extLst>
              <a:ext uri="{FF2B5EF4-FFF2-40B4-BE49-F238E27FC236}">
                <a16:creationId xmlns:a16="http://schemas.microsoft.com/office/drawing/2014/main" id="{BACFF3DF-56C8-F2DF-CE85-4F717C2345F2}"/>
              </a:ext>
            </a:extLst>
          </p:cNvPr>
          <p:cNvSpPr txBox="1"/>
          <p:nvPr/>
        </p:nvSpPr>
        <p:spPr>
          <a:xfrm>
            <a:off x="1036042" y="1173611"/>
            <a:ext cx="9977938" cy="646331"/>
          </a:xfrm>
          <a:prstGeom prst="rect">
            <a:avLst/>
          </a:prstGeom>
          <a:noFill/>
        </p:spPr>
        <p:txBody>
          <a:bodyPr wrap="square">
            <a:spAutoFit/>
          </a:bodyPr>
          <a:lstStyle/>
          <a:p>
            <a:r>
              <a:rPr lang="en-US" dirty="0"/>
              <a:t>Think about your own customer interactions. What's one pattern or behavior you'll be more alert to after this scenario?</a:t>
            </a:r>
            <a:endParaRPr lang="en-UG" dirty="0"/>
          </a:p>
        </p:txBody>
      </p:sp>
      <p:sp>
        <p:nvSpPr>
          <p:cNvPr id="22" name="TextBox 21">
            <a:extLst>
              <a:ext uri="{FF2B5EF4-FFF2-40B4-BE49-F238E27FC236}">
                <a16:creationId xmlns:a16="http://schemas.microsoft.com/office/drawing/2014/main" id="{063C4D48-B4B0-6BE9-5B0A-8D1DE96FC3F2}"/>
              </a:ext>
            </a:extLst>
          </p:cNvPr>
          <p:cNvSpPr txBox="1"/>
          <p:nvPr/>
        </p:nvSpPr>
        <p:spPr>
          <a:xfrm>
            <a:off x="1321292" y="2174916"/>
            <a:ext cx="7737080" cy="369332"/>
          </a:xfrm>
          <a:prstGeom prst="rect">
            <a:avLst/>
          </a:prstGeom>
          <a:noFill/>
        </p:spPr>
        <p:txBody>
          <a:bodyPr wrap="square">
            <a:spAutoFit/>
          </a:bodyPr>
          <a:lstStyle/>
          <a:p>
            <a:r>
              <a:rPr lang="en-US" dirty="0">
                <a:solidFill>
                  <a:schemeClr val="bg1">
                    <a:lumMod val="50000"/>
                  </a:schemeClr>
                </a:solidFill>
              </a:rPr>
              <a:t>Enter your thoughts here…</a:t>
            </a:r>
          </a:p>
        </p:txBody>
      </p:sp>
      <p:sp>
        <p:nvSpPr>
          <p:cNvPr id="3" name="TextBox 2">
            <a:extLst>
              <a:ext uri="{FF2B5EF4-FFF2-40B4-BE49-F238E27FC236}">
                <a16:creationId xmlns:a16="http://schemas.microsoft.com/office/drawing/2014/main" id="{9F506289-FAFA-AEDD-6C6A-CEDF8A9FF275}"/>
              </a:ext>
            </a:extLst>
          </p:cNvPr>
          <p:cNvSpPr txBox="1"/>
          <p:nvPr/>
        </p:nvSpPr>
        <p:spPr>
          <a:xfrm>
            <a:off x="1200150" y="4484061"/>
            <a:ext cx="8150821" cy="369332"/>
          </a:xfrm>
          <a:prstGeom prst="rect">
            <a:avLst/>
          </a:prstGeom>
          <a:noFill/>
        </p:spPr>
        <p:txBody>
          <a:bodyPr wrap="square">
            <a:spAutoFit/>
          </a:bodyPr>
          <a:lstStyle/>
          <a:p>
            <a:r>
              <a:rPr lang="en-US" dirty="0"/>
              <a:t>Your response will be saved for discussion with your manager.</a:t>
            </a:r>
            <a:endParaRPr lang="en-UG" b="1" dirty="0">
              <a:latin typeface="+mj-lt"/>
            </a:endParaRPr>
          </a:p>
        </p:txBody>
      </p:sp>
      <p:sp>
        <p:nvSpPr>
          <p:cNvPr id="4" name="Rectangle: Rounded Corners 3">
            <a:extLst>
              <a:ext uri="{FF2B5EF4-FFF2-40B4-BE49-F238E27FC236}">
                <a16:creationId xmlns:a16="http://schemas.microsoft.com/office/drawing/2014/main" id="{A98BEF63-08C4-60A0-30FE-F6265C764F11}"/>
              </a:ext>
            </a:extLst>
          </p:cNvPr>
          <p:cNvSpPr/>
          <p:nvPr/>
        </p:nvSpPr>
        <p:spPr>
          <a:xfrm>
            <a:off x="1321292" y="5334803"/>
            <a:ext cx="3519030" cy="699171"/>
          </a:xfrm>
          <a:prstGeom prst="roundRect">
            <a:avLst>
              <a:gd name="adj" fmla="val 40738"/>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Start Over</a:t>
            </a:r>
          </a:p>
        </p:txBody>
      </p:sp>
      <p:sp>
        <p:nvSpPr>
          <p:cNvPr id="7" name="Rectangle: Rounded Corners 6">
            <a:extLst>
              <a:ext uri="{FF2B5EF4-FFF2-40B4-BE49-F238E27FC236}">
                <a16:creationId xmlns:a16="http://schemas.microsoft.com/office/drawing/2014/main" id="{A4A74AF8-B949-640C-5A24-C811BB66CC9C}"/>
              </a:ext>
            </a:extLst>
          </p:cNvPr>
          <p:cNvSpPr/>
          <p:nvPr/>
        </p:nvSpPr>
        <p:spPr>
          <a:xfrm>
            <a:off x="5275560" y="5334802"/>
            <a:ext cx="3519030" cy="699171"/>
          </a:xfrm>
          <a:prstGeom prst="roundRect">
            <a:avLst>
              <a:gd name="adj" fmla="val 40738"/>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Complete Scenario</a:t>
            </a:r>
          </a:p>
        </p:txBody>
      </p:sp>
    </p:spTree>
    <p:extLst>
      <p:ext uri="{BB962C8B-B14F-4D97-AF65-F5344CB8AC3E}">
        <p14:creationId xmlns:p14="http://schemas.microsoft.com/office/powerpoint/2010/main" val="2951831771"/>
      </p:ext>
    </p:extLst>
  </p:cSld>
  <p:clrMapOvr>
    <a:masterClrMapping/>
  </p:clrMapOvr>
</p:sld>
</file>

<file path=ppt/theme/theme1.xml><?xml version="1.0" encoding="utf-8"?>
<a:theme xmlns:a="http://schemas.openxmlformats.org/drawingml/2006/main" name="Office Theme">
  <a:themeElements>
    <a:clrScheme name="Gainsight">
      <a:dk1>
        <a:srgbClr val="000000"/>
      </a:dk1>
      <a:lt1>
        <a:srgbClr val="FFFFFF"/>
      </a:lt1>
      <a:dk2>
        <a:srgbClr val="2D3847"/>
      </a:dk2>
      <a:lt2>
        <a:srgbClr val="E7E6E6"/>
      </a:lt2>
      <a:accent1>
        <a:srgbClr val="193B59"/>
      </a:accent1>
      <a:accent2>
        <a:srgbClr val="14A1D9"/>
      </a:accent2>
      <a:accent3>
        <a:srgbClr val="29CDF2"/>
      </a:accent3>
      <a:accent4>
        <a:srgbClr val="F2F2F2"/>
      </a:accent4>
      <a:accent5>
        <a:srgbClr val="262626"/>
      </a:accent5>
      <a:accent6>
        <a:srgbClr val="7642B9"/>
      </a:accent6>
      <a:hlink>
        <a:srgbClr val="0563C1"/>
      </a:hlink>
      <a:folHlink>
        <a:srgbClr val="954F72"/>
      </a:folHlink>
    </a:clrScheme>
    <a:fontScheme name="Custom 1">
      <a:majorFont>
        <a:latin typeface="Montserrat"/>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1613</TotalTime>
  <Words>3914</Words>
  <Application>Microsoft Office PowerPoint</Application>
  <PresentationFormat>Widescreen</PresentationFormat>
  <Paragraphs>783</Paragraphs>
  <Slides>32</Slides>
  <Notes>32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32</vt:i4>
      </vt:variant>
    </vt:vector>
  </HeadingPairs>
  <TitlesOfParts>
    <vt:vector size="42" baseType="lpstr">
      <vt:lpstr>adobe-clean</vt:lpstr>
      <vt:lpstr>Aptos</vt:lpstr>
      <vt:lpstr>Arial</vt:lpstr>
      <vt:lpstr>Calibri</vt:lpstr>
      <vt:lpstr>Montserrat</vt:lpstr>
      <vt:lpstr>Proxima Nova</vt:lpstr>
      <vt:lpstr>Proxima Nova Lt</vt:lpstr>
      <vt:lpstr>Proxima Nova Medium</vt:lpstr>
      <vt:lpstr>Proxima Nova Rg</vt:lpstr>
      <vt:lpstr>Office Theme</vt:lpstr>
      <vt:lpstr>Notes to the Reviewers</vt:lpstr>
      <vt:lpstr>Notes to the Reviewers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Budogol</dc:creator>
  <cp:lastModifiedBy>Ankita Mangtani</cp:lastModifiedBy>
  <cp:revision>350</cp:revision>
  <dcterms:created xsi:type="dcterms:W3CDTF">2023-12-11T21:37:02Z</dcterms:created>
  <dcterms:modified xsi:type="dcterms:W3CDTF">2025-09-30T09:15:38Z</dcterms:modified>
</cp:coreProperties>
</file>